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Solace là một không gian ẩn danh để chia sẻ cảm xúc, xây dựng riêng cho Gen Z Việt Nam. Tên gọi và toàn bộ ngôn ngữ thiết kế xoay quanh một ý tưởng: nỗi lòng cần một nơi để được cất giữ, không phán xét.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sản phẩm trong một câu, 3 con số nhanh, và 3 trụ cột khái niệm sẽ được đào sâu ở các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pain point cốt lõi — đây là cơ sở để sau này map từng pain point sang tính năng cụ thể (slide Pain point → Tính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minh hoạ giúp team hình dung cụ thể — không phải số liệu khô khan.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6 nguyên tắc không thương lượng — mọi tính năng mới đều được kiểm tra ngược lại các nguyên tắc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lý do đổi tên và cách chọn tagline — nhấn mạnh rằng mọi lựa chọn ngôn từ đều có chủ đích, không ngẫu nhiên.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quan trọng nhất để giải thích “tại sao” — hai ẩn dụ không phải để đẹp mà phản ánh hai cơ chế tâm lý học khác nhau: externalization (đưa cảm xúc ra ngoài) và letting-go/buông bỏ. Người dùng chọn không gian phù hợp với nhu cầu lúc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cử chỉ (gesture) được chọn thay vì nút bấm thông thường — đây là chi tiết nhỏ nhưng chủ đích, phản ánh triết lý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câu chữ thật lấy từ sản phẩm — cho team thấy văn phong nhất quán trong toàn bộ trải nghiệm, kể cả copy nhỏ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chỉ áp dụng cho hành động “đăng thật sự” (Release), để có thể gửi thông báo khi có người tương tác — không áp cho đọc/viết/phản hồi.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flow ĐÃ CẬP NHẬT trong quá trình phát triển — khác với tài liệu gốc ban đầu. Login chỉ chặn ở bước Release (bước 4), có giải thích rõ trong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chi tiết nhỏ nhưng tạo cảm giác “có sự sống” — tất cả đều là mô phỏng dựa trên luật (rule-based), không phải AI/tracking thật, và luôn công khai điều đó với người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Đường dây nóng thật (đã xác minh qua nguồn chính thống); các phần “thông minh” khác được gắn nhãn rõ là mô phỏng — không đánh lừa người dùng về khả năng thật của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cầu nối trực tiếp giữa vấn đề (slide 3) và tính năng cụ thể — trả lời câu hỏi “tính năng này để làm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phân lớp rõ ràng; Supabase RLS đảm bảo dữ liệu ẩn danh được cách ly đúng quyền truy cập theo thiết kế, không chỉ theo quy ước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trạng thái tổng thể theo tài liệu dự án gốc, đã cập nhật theo tiến độ thực tế đến thời điểm hiện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đánh giá trung thực — quan trọng để team ưu tiên đúng việc ở giai đoạn tiếp theo, thay vì chỉ nhìn thấy phần đã hoàn thiện.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chia theo 3 mốc thời gian — ưu tiên an toàn &amp; xác thực trước, mở rộng tính năng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lời hứa cốt lõi của sản phẩm và 3 việc cần ưu tiên ngay — mở ra thảo luận với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1407836" y="1673196"/>
            <a:ext cx="36236" cy="36236"/>
          </a:xfrm>
          <a:prstGeom prst="ellipse">
            <a:avLst/>
          </a:prstGeom>
          <a:solidFill>
            <a:srgbClr val="AAB2D4">
              <a:alpha val="63000"/>
            </a:srgbClr>
          </a:solidFill>
          <a:ln/>
        </p:spPr>
      </p:sp>
      <p:sp>
        <p:nvSpPr>
          <p:cNvPr id="3" name="Shape 1"/>
          <p:cNvSpPr/>
          <p:nvPr/>
        </p:nvSpPr>
        <p:spPr>
          <a:xfrm>
            <a:off x="10714926" y="4042245"/>
            <a:ext cx="20802" cy="20802"/>
          </a:xfrm>
          <a:prstGeom prst="ellipse">
            <a:avLst/>
          </a:prstGeom>
          <a:solidFill>
            <a:srgbClr val="AAB2D4">
              <a:alpha val="64000"/>
            </a:srgbClr>
          </a:solidFill>
          <a:ln/>
        </p:spPr>
      </p:sp>
      <p:sp>
        <p:nvSpPr>
          <p:cNvPr id="4" name="Shape 2"/>
          <p:cNvSpPr/>
          <p:nvPr/>
        </p:nvSpPr>
        <p:spPr>
          <a:xfrm>
            <a:off x="8015329" y="525198"/>
            <a:ext cx="43291" cy="43291"/>
          </a:xfrm>
          <a:prstGeom prst="ellipse">
            <a:avLst/>
          </a:prstGeom>
          <a:solidFill>
            <a:srgbClr val="4FD1C5">
              <a:alpha val="61000"/>
            </a:srgbClr>
          </a:solidFill>
          <a:ln/>
        </p:spPr>
      </p:sp>
      <p:sp>
        <p:nvSpPr>
          <p:cNvPr id="5" name="Shape 3"/>
          <p:cNvSpPr/>
          <p:nvPr/>
        </p:nvSpPr>
        <p:spPr>
          <a:xfrm>
            <a:off x="1926014" y="3843220"/>
            <a:ext cx="39794" cy="39794"/>
          </a:xfrm>
          <a:prstGeom prst="ellipse">
            <a:avLst/>
          </a:prstGeom>
          <a:solidFill>
            <a:srgbClr val="4FD1C5">
              <a:alpha val="61000"/>
            </a:srgbClr>
          </a:solidFill>
          <a:ln/>
        </p:spPr>
      </p:sp>
      <p:sp>
        <p:nvSpPr>
          <p:cNvPr id="6" name="Shape 4"/>
          <p:cNvSpPr/>
          <p:nvPr/>
        </p:nvSpPr>
        <p:spPr>
          <a:xfrm>
            <a:off x="11449469" y="6651478"/>
            <a:ext cx="19891" cy="19891"/>
          </a:xfrm>
          <a:prstGeom prst="ellipse">
            <a:avLst/>
          </a:prstGeom>
          <a:solidFill>
            <a:srgbClr val="4FD1C5">
              <a:alpha val="76000"/>
            </a:srgbClr>
          </a:solidFill>
          <a:ln/>
        </p:spPr>
      </p:sp>
      <p:sp>
        <p:nvSpPr>
          <p:cNvPr id="7" name="Shape 5"/>
          <p:cNvSpPr/>
          <p:nvPr/>
        </p:nvSpPr>
        <p:spPr>
          <a:xfrm>
            <a:off x="2305959" y="2875139"/>
            <a:ext cx="48874" cy="48874"/>
          </a:xfrm>
          <a:prstGeom prst="ellipse">
            <a:avLst/>
          </a:prstGeom>
          <a:solidFill>
            <a:srgbClr val="AAB2D4">
              <a:alpha val="58000"/>
            </a:srgbClr>
          </a:solidFill>
          <a:ln/>
        </p:spPr>
      </p:sp>
      <p:sp>
        <p:nvSpPr>
          <p:cNvPr id="8" name="Shape 6"/>
          <p:cNvSpPr/>
          <p:nvPr/>
        </p:nvSpPr>
        <p:spPr>
          <a:xfrm>
            <a:off x="2077313" y="6759369"/>
            <a:ext cx="27276" cy="27276"/>
          </a:xfrm>
          <a:prstGeom prst="ellipse">
            <a:avLst/>
          </a:prstGeom>
          <a:solidFill>
            <a:srgbClr val="AAB2D4">
              <a:alpha val="63000"/>
            </a:srgbClr>
          </a:solidFill>
          <a:ln/>
        </p:spPr>
      </p:sp>
      <p:sp>
        <p:nvSpPr>
          <p:cNvPr id="9" name="Shape 7"/>
          <p:cNvSpPr/>
          <p:nvPr/>
        </p:nvSpPr>
        <p:spPr>
          <a:xfrm>
            <a:off x="4027994" y="1053336"/>
            <a:ext cx="35796" cy="35796"/>
          </a:xfrm>
          <a:prstGeom prst="ellipse">
            <a:avLst/>
          </a:prstGeom>
          <a:solidFill>
            <a:srgbClr val="4FD1C5">
              <a:alpha val="50000"/>
            </a:srgbClr>
          </a:solidFill>
          <a:ln/>
        </p:spPr>
      </p:sp>
      <p:sp>
        <p:nvSpPr>
          <p:cNvPr id="10" name="Shape 8"/>
          <p:cNvSpPr/>
          <p:nvPr/>
        </p:nvSpPr>
        <p:spPr>
          <a:xfrm>
            <a:off x="970925" y="6352205"/>
            <a:ext cx="29491" cy="29491"/>
          </a:xfrm>
          <a:prstGeom prst="ellipse">
            <a:avLst/>
          </a:prstGeom>
          <a:solidFill>
            <a:srgbClr val="AAB2D4">
              <a:alpha val="71000"/>
            </a:srgbClr>
          </a:solidFill>
          <a:ln/>
        </p:spPr>
      </p:sp>
      <p:sp>
        <p:nvSpPr>
          <p:cNvPr id="11" name="Shape 9"/>
          <p:cNvSpPr/>
          <p:nvPr/>
        </p:nvSpPr>
        <p:spPr>
          <a:xfrm>
            <a:off x="2877706" y="4135144"/>
            <a:ext cx="33352" cy="33352"/>
          </a:xfrm>
          <a:prstGeom prst="ellipse">
            <a:avLst/>
          </a:prstGeom>
          <a:solidFill>
            <a:srgbClr val="AAB2D4">
              <a:alpha val="64000"/>
            </a:srgbClr>
          </a:solidFill>
          <a:ln/>
        </p:spPr>
      </p:sp>
      <p:sp>
        <p:nvSpPr>
          <p:cNvPr id="12" name="Shape 10"/>
          <p:cNvSpPr/>
          <p:nvPr/>
        </p:nvSpPr>
        <p:spPr>
          <a:xfrm>
            <a:off x="1658171" y="1535318"/>
            <a:ext cx="39181" cy="39181"/>
          </a:xfrm>
          <a:prstGeom prst="ellipse">
            <a:avLst/>
          </a:prstGeom>
          <a:solidFill>
            <a:srgbClr val="AAB2D4">
              <a:alpha val="62000"/>
            </a:srgbClr>
          </a:solidFill>
          <a:ln/>
        </p:spPr>
      </p:sp>
      <p:sp>
        <p:nvSpPr>
          <p:cNvPr id="13" name="Shape 11"/>
          <p:cNvSpPr/>
          <p:nvPr/>
        </p:nvSpPr>
        <p:spPr>
          <a:xfrm>
            <a:off x="5026200" y="4669896"/>
            <a:ext cx="19813" cy="19813"/>
          </a:xfrm>
          <a:prstGeom prst="ellipse">
            <a:avLst/>
          </a:prstGeom>
          <a:solidFill>
            <a:srgbClr val="F5D67D">
              <a:alpha val="55000"/>
            </a:srgbClr>
          </a:solidFill>
          <a:ln/>
        </p:spPr>
      </p:sp>
      <p:sp>
        <p:nvSpPr>
          <p:cNvPr id="14" name="Shape 12"/>
          <p:cNvSpPr/>
          <p:nvPr/>
        </p:nvSpPr>
        <p:spPr>
          <a:xfrm>
            <a:off x="5343169" y="3400043"/>
            <a:ext cx="28687" cy="28687"/>
          </a:xfrm>
          <a:prstGeom prst="ellipse">
            <a:avLst/>
          </a:prstGeom>
          <a:solidFill>
            <a:srgbClr val="AAB2D4">
              <a:alpha val="63000"/>
            </a:srgbClr>
          </a:solidFill>
          <a:ln/>
        </p:spPr>
      </p:sp>
      <p:sp>
        <p:nvSpPr>
          <p:cNvPr id="15" name="Shape 13"/>
          <p:cNvSpPr/>
          <p:nvPr/>
        </p:nvSpPr>
        <p:spPr>
          <a:xfrm>
            <a:off x="5355974" y="1810926"/>
            <a:ext cx="32713" cy="32713"/>
          </a:xfrm>
          <a:prstGeom prst="ellipse">
            <a:avLst/>
          </a:prstGeom>
          <a:solidFill>
            <a:srgbClr val="AAB2D4">
              <a:alpha val="71000"/>
            </a:srgbClr>
          </a:solidFill>
          <a:ln/>
        </p:spPr>
      </p:sp>
      <p:sp>
        <p:nvSpPr>
          <p:cNvPr id="16" name="Shape 14"/>
          <p:cNvSpPr/>
          <p:nvPr/>
        </p:nvSpPr>
        <p:spPr>
          <a:xfrm>
            <a:off x="3296064" y="5257712"/>
            <a:ext cx="22507" cy="22507"/>
          </a:xfrm>
          <a:prstGeom prst="ellipse">
            <a:avLst/>
          </a:prstGeom>
          <a:solidFill>
            <a:srgbClr val="AAB2D4">
              <a:alpha val="46000"/>
            </a:srgbClr>
          </a:solidFill>
          <a:ln/>
        </p:spPr>
      </p:sp>
      <p:sp>
        <p:nvSpPr>
          <p:cNvPr id="17" name="Shape 15"/>
          <p:cNvSpPr/>
          <p:nvPr/>
        </p:nvSpPr>
        <p:spPr>
          <a:xfrm>
            <a:off x="10489676" y="5125567"/>
            <a:ext cx="47951" cy="47951"/>
          </a:xfrm>
          <a:prstGeom prst="ellipse">
            <a:avLst/>
          </a:prstGeom>
          <a:solidFill>
            <a:srgbClr val="AAB2D4">
              <a:alpha val="55000"/>
            </a:srgbClr>
          </a:solidFill>
          <a:ln/>
        </p:spPr>
      </p:sp>
      <p:sp>
        <p:nvSpPr>
          <p:cNvPr id="18" name="Shape 16"/>
          <p:cNvSpPr/>
          <p:nvPr/>
        </p:nvSpPr>
        <p:spPr>
          <a:xfrm>
            <a:off x="3945682" y="2451659"/>
            <a:ext cx="19059" cy="19059"/>
          </a:xfrm>
          <a:prstGeom prst="ellipse">
            <a:avLst/>
          </a:prstGeom>
          <a:solidFill>
            <a:srgbClr val="AAB2D4">
              <a:alpha val="72000"/>
            </a:srgbClr>
          </a:solidFill>
          <a:ln/>
        </p:spPr>
      </p:sp>
      <p:sp>
        <p:nvSpPr>
          <p:cNvPr id="19" name="Shape 17"/>
          <p:cNvSpPr/>
          <p:nvPr/>
        </p:nvSpPr>
        <p:spPr>
          <a:xfrm>
            <a:off x="8988187" y="1829153"/>
            <a:ext cx="40239" cy="40239"/>
          </a:xfrm>
          <a:prstGeom prst="ellipse">
            <a:avLst/>
          </a:prstGeom>
          <a:solidFill>
            <a:srgbClr val="AAB2D4">
              <a:alpha val="42000"/>
            </a:srgbClr>
          </a:solidFill>
          <a:ln/>
        </p:spPr>
      </p:sp>
      <p:sp>
        <p:nvSpPr>
          <p:cNvPr id="20" name="Shape 18"/>
          <p:cNvSpPr/>
          <p:nvPr/>
        </p:nvSpPr>
        <p:spPr>
          <a:xfrm>
            <a:off x="7141507" y="3025216"/>
            <a:ext cx="29803" cy="29803"/>
          </a:xfrm>
          <a:prstGeom prst="ellipse">
            <a:avLst/>
          </a:prstGeom>
          <a:solidFill>
            <a:srgbClr val="F5D67D">
              <a:alpha val="77000"/>
            </a:srgbClr>
          </a:solidFill>
          <a:ln/>
        </p:spPr>
      </p:sp>
      <p:sp>
        <p:nvSpPr>
          <p:cNvPr id="21" name="Shape 19"/>
          <p:cNvSpPr/>
          <p:nvPr/>
        </p:nvSpPr>
        <p:spPr>
          <a:xfrm>
            <a:off x="10634965" y="4029016"/>
            <a:ext cx="32890" cy="32890"/>
          </a:xfrm>
          <a:prstGeom prst="ellipse">
            <a:avLst/>
          </a:prstGeom>
          <a:solidFill>
            <a:srgbClr val="AAB2D4">
              <a:alpha val="62000"/>
            </a:srgbClr>
          </a:solidFill>
          <a:ln/>
        </p:spPr>
      </p:sp>
      <p:sp>
        <p:nvSpPr>
          <p:cNvPr id="22" name="Shape 20"/>
          <p:cNvSpPr/>
          <p:nvPr/>
        </p:nvSpPr>
        <p:spPr>
          <a:xfrm>
            <a:off x="10926849" y="1813719"/>
            <a:ext cx="43674" cy="43674"/>
          </a:xfrm>
          <a:prstGeom prst="ellipse">
            <a:avLst/>
          </a:prstGeom>
          <a:solidFill>
            <a:srgbClr val="F5D67D">
              <a:alpha val="80000"/>
            </a:srgbClr>
          </a:solidFill>
          <a:ln/>
        </p:spPr>
      </p:sp>
      <p:sp>
        <p:nvSpPr>
          <p:cNvPr id="23" name="Shape 21"/>
          <p:cNvSpPr/>
          <p:nvPr/>
        </p:nvSpPr>
        <p:spPr>
          <a:xfrm>
            <a:off x="8506331" y="4528491"/>
            <a:ext cx="40917" cy="40917"/>
          </a:xfrm>
          <a:prstGeom prst="ellipse">
            <a:avLst/>
          </a:prstGeom>
          <a:solidFill>
            <a:srgbClr val="4FD1C5">
              <a:alpha val="46000"/>
            </a:srgbClr>
          </a:solidFill>
          <a:ln/>
        </p:spPr>
      </p:sp>
      <p:sp>
        <p:nvSpPr>
          <p:cNvPr id="24" name="Shape 22"/>
          <p:cNvSpPr/>
          <p:nvPr/>
        </p:nvSpPr>
        <p:spPr>
          <a:xfrm>
            <a:off x="2056408" y="256499"/>
            <a:ext cx="44869" cy="44869"/>
          </a:xfrm>
          <a:prstGeom prst="ellipse">
            <a:avLst/>
          </a:prstGeom>
          <a:solidFill>
            <a:srgbClr val="4FD1C5">
              <a:alpha val="77000"/>
            </a:srgbClr>
          </a:solidFill>
          <a:ln/>
        </p:spPr>
      </p:sp>
      <p:sp>
        <p:nvSpPr>
          <p:cNvPr id="25" name="Shape 23"/>
          <p:cNvSpPr/>
          <p:nvPr/>
        </p:nvSpPr>
        <p:spPr>
          <a:xfrm>
            <a:off x="10128023" y="5782910"/>
            <a:ext cx="35478" cy="35478"/>
          </a:xfrm>
          <a:prstGeom prst="ellipse">
            <a:avLst/>
          </a:prstGeom>
          <a:solidFill>
            <a:srgbClr val="F5D67D">
              <a:alpha val="75000"/>
            </a:srgbClr>
          </a:solidFill>
          <a:ln/>
        </p:spPr>
      </p:sp>
      <p:sp>
        <p:nvSpPr>
          <p:cNvPr id="26" name="Shape 24"/>
          <p:cNvSpPr/>
          <p:nvPr/>
        </p:nvSpPr>
        <p:spPr>
          <a:xfrm>
            <a:off x="3408428" y="3348890"/>
            <a:ext cx="19954" cy="19954"/>
          </a:xfrm>
          <a:prstGeom prst="ellipse">
            <a:avLst/>
          </a:prstGeom>
          <a:solidFill>
            <a:srgbClr val="AAB2D4">
              <a:alpha val="78000"/>
            </a:srgbClr>
          </a:solidFill>
          <a:ln/>
        </p:spPr>
      </p:sp>
      <p:sp>
        <p:nvSpPr>
          <p:cNvPr id="27" name="Shape 25"/>
          <p:cNvSpPr/>
          <p:nvPr/>
        </p:nvSpPr>
        <p:spPr>
          <a:xfrm>
            <a:off x="3609375" y="5421606"/>
            <a:ext cx="25659" cy="25659"/>
          </a:xfrm>
          <a:prstGeom prst="ellipse">
            <a:avLst/>
          </a:prstGeom>
          <a:solidFill>
            <a:srgbClr val="AAB2D4">
              <a:alpha val="75000"/>
            </a:srgbClr>
          </a:solidFill>
          <a:ln/>
        </p:spPr>
      </p:sp>
      <p:sp>
        <p:nvSpPr>
          <p:cNvPr id="28" name="Shape 26"/>
          <p:cNvSpPr/>
          <p:nvPr/>
        </p:nvSpPr>
        <p:spPr>
          <a:xfrm>
            <a:off x="7607685" y="592226"/>
            <a:ext cx="18317" cy="18317"/>
          </a:xfrm>
          <a:prstGeom prst="ellipse">
            <a:avLst/>
          </a:prstGeom>
          <a:solidFill>
            <a:srgbClr val="4FD1C5">
              <a:alpha val="64000"/>
            </a:srgbClr>
          </a:solidFill>
          <a:ln/>
        </p:spPr>
      </p:sp>
      <p:sp>
        <p:nvSpPr>
          <p:cNvPr id="29" name="Shape 27"/>
          <p:cNvSpPr/>
          <p:nvPr/>
        </p:nvSpPr>
        <p:spPr>
          <a:xfrm>
            <a:off x="5055467" y="57914"/>
            <a:ext cx="33587" cy="33587"/>
          </a:xfrm>
          <a:prstGeom prst="ellipse">
            <a:avLst/>
          </a:prstGeom>
          <a:solidFill>
            <a:srgbClr val="F5D67D">
              <a:alpha val="50000"/>
            </a:srgbClr>
          </a:solidFill>
          <a:ln/>
        </p:spPr>
      </p:sp>
      <p:sp>
        <p:nvSpPr>
          <p:cNvPr id="30" name="Shape 28"/>
          <p:cNvSpPr/>
          <p:nvPr/>
        </p:nvSpPr>
        <p:spPr>
          <a:xfrm>
            <a:off x="4118146" y="6379839"/>
            <a:ext cx="41934" cy="41934"/>
          </a:xfrm>
          <a:prstGeom prst="ellipse">
            <a:avLst/>
          </a:prstGeom>
          <a:solidFill>
            <a:srgbClr val="AAB2D4">
              <a:alpha val="52000"/>
            </a:srgbClr>
          </a:solidFill>
          <a:ln/>
        </p:spPr>
      </p:sp>
      <p:sp>
        <p:nvSpPr>
          <p:cNvPr id="31" name="Shape 29"/>
          <p:cNvSpPr/>
          <p:nvPr/>
        </p:nvSpPr>
        <p:spPr>
          <a:xfrm>
            <a:off x="4381809" y="529167"/>
            <a:ext cx="26863" cy="26863"/>
          </a:xfrm>
          <a:prstGeom prst="ellipse">
            <a:avLst/>
          </a:prstGeom>
          <a:solidFill>
            <a:srgbClr val="AAB2D4">
              <a:alpha val="45000"/>
            </a:srgbClr>
          </a:solidFill>
          <a:ln/>
        </p:spPr>
      </p:sp>
      <p:sp>
        <p:nvSpPr>
          <p:cNvPr id="32" name="Shape 30"/>
          <p:cNvSpPr/>
          <p:nvPr/>
        </p:nvSpPr>
        <p:spPr>
          <a:xfrm>
            <a:off x="2271728" y="2085064"/>
            <a:ext cx="20476" cy="20476"/>
          </a:xfrm>
          <a:prstGeom prst="ellipse">
            <a:avLst/>
          </a:prstGeom>
          <a:solidFill>
            <a:srgbClr val="F5D67D">
              <a:alpha val="79000"/>
            </a:srgbClr>
          </a:solidFill>
          <a:ln/>
        </p:spPr>
      </p:sp>
      <p:sp>
        <p:nvSpPr>
          <p:cNvPr id="33" name="Shape 31"/>
          <p:cNvSpPr/>
          <p:nvPr/>
        </p:nvSpPr>
        <p:spPr>
          <a:xfrm>
            <a:off x="4598696" y="3702697"/>
            <a:ext cx="32355" cy="32355"/>
          </a:xfrm>
          <a:prstGeom prst="ellipse">
            <a:avLst/>
          </a:prstGeom>
          <a:solidFill>
            <a:srgbClr val="AAB2D4">
              <a:alpha val="44000"/>
            </a:srgbClr>
          </a:solidFill>
          <a:ln/>
        </p:spPr>
      </p:sp>
      <p:sp>
        <p:nvSpPr>
          <p:cNvPr id="34" name="Shape 32"/>
          <p:cNvSpPr/>
          <p:nvPr/>
        </p:nvSpPr>
        <p:spPr>
          <a:xfrm>
            <a:off x="1466369" y="6165233"/>
            <a:ext cx="31780" cy="31780"/>
          </a:xfrm>
          <a:prstGeom prst="ellipse">
            <a:avLst/>
          </a:prstGeom>
          <a:solidFill>
            <a:srgbClr val="AAB2D4">
              <a:alpha val="54000"/>
            </a:srgbClr>
          </a:solidFill>
          <a:ln/>
        </p:spPr>
      </p:sp>
      <p:sp>
        <p:nvSpPr>
          <p:cNvPr id="35" name="Shape 33"/>
          <p:cNvSpPr/>
          <p:nvPr/>
        </p:nvSpPr>
        <p:spPr>
          <a:xfrm>
            <a:off x="8264880" y="3143838"/>
            <a:ext cx="47297" cy="47297"/>
          </a:xfrm>
          <a:prstGeom prst="ellipse">
            <a:avLst/>
          </a:prstGeom>
          <a:solidFill>
            <a:srgbClr val="AAB2D4">
              <a:alpha val="42000"/>
            </a:srgbClr>
          </a:solidFill>
          <a:ln/>
        </p:spPr>
      </p:sp>
      <p:sp>
        <p:nvSpPr>
          <p:cNvPr id="36" name="Shape 34"/>
          <p:cNvSpPr/>
          <p:nvPr/>
        </p:nvSpPr>
        <p:spPr>
          <a:xfrm>
            <a:off x="6066999" y="4819679"/>
            <a:ext cx="31592" cy="31592"/>
          </a:xfrm>
          <a:prstGeom prst="ellipse">
            <a:avLst/>
          </a:prstGeom>
          <a:solidFill>
            <a:srgbClr val="AAB2D4">
              <a:alpha val="49000"/>
            </a:srgbClr>
          </a:solidFill>
          <a:ln/>
        </p:spPr>
      </p:sp>
      <p:sp>
        <p:nvSpPr>
          <p:cNvPr id="37" name="Shape 35"/>
          <p:cNvSpPr/>
          <p:nvPr/>
        </p:nvSpPr>
        <p:spPr>
          <a:xfrm>
            <a:off x="12069036" y="4355924"/>
            <a:ext cx="35733" cy="35733"/>
          </a:xfrm>
          <a:prstGeom prst="ellipse">
            <a:avLst/>
          </a:prstGeom>
          <a:solidFill>
            <a:srgbClr val="AAB2D4">
              <a:alpha val="47000"/>
            </a:srgbClr>
          </a:solidFill>
          <a:ln/>
        </p:spPr>
      </p:sp>
      <p:sp>
        <p:nvSpPr>
          <p:cNvPr id="38" name="Shape 36"/>
          <p:cNvSpPr/>
          <p:nvPr/>
        </p:nvSpPr>
        <p:spPr>
          <a:xfrm>
            <a:off x="11859204" y="3805737"/>
            <a:ext cx="20703" cy="20703"/>
          </a:xfrm>
          <a:prstGeom prst="ellipse">
            <a:avLst/>
          </a:prstGeom>
          <a:solidFill>
            <a:srgbClr val="AAB2D4">
              <a:alpha val="54000"/>
            </a:srgbClr>
          </a:solidFill>
          <a:ln/>
        </p:spPr>
      </p:sp>
      <p:sp>
        <p:nvSpPr>
          <p:cNvPr id="39" name="Shape 37"/>
          <p:cNvSpPr/>
          <p:nvPr/>
        </p:nvSpPr>
        <p:spPr>
          <a:xfrm>
            <a:off x="9539029" y="3444287"/>
            <a:ext cx="42311" cy="42311"/>
          </a:xfrm>
          <a:prstGeom prst="ellipse">
            <a:avLst/>
          </a:prstGeom>
          <a:solidFill>
            <a:srgbClr val="AAB2D4">
              <a:alpha val="63000"/>
            </a:srgbClr>
          </a:solidFill>
          <a:ln/>
        </p:spPr>
      </p:sp>
      <p:sp>
        <p:nvSpPr>
          <p:cNvPr id="40" name="Shape 38"/>
          <p:cNvSpPr/>
          <p:nvPr/>
        </p:nvSpPr>
        <p:spPr>
          <a:xfrm>
            <a:off x="630699" y="2530740"/>
            <a:ext cx="41390" cy="41390"/>
          </a:xfrm>
          <a:prstGeom prst="ellipse">
            <a:avLst/>
          </a:prstGeom>
          <a:solidFill>
            <a:srgbClr val="AAB2D4">
              <a:alpha val="62000"/>
            </a:srgbClr>
          </a:solidFill>
          <a:ln/>
        </p:spPr>
      </p:sp>
      <p:sp>
        <p:nvSpPr>
          <p:cNvPr id="41" name="Shape 39"/>
          <p:cNvSpPr/>
          <p:nvPr/>
        </p:nvSpPr>
        <p:spPr>
          <a:xfrm>
            <a:off x="1878978" y="4642262"/>
            <a:ext cx="39374" cy="39374"/>
          </a:xfrm>
          <a:prstGeom prst="ellipse">
            <a:avLst/>
          </a:prstGeom>
          <a:solidFill>
            <a:srgbClr val="AAB2D4">
              <a:alpha val="74000"/>
            </a:srgbClr>
          </a:solidFill>
          <a:ln/>
        </p:spPr>
      </p:sp>
      <p:sp>
        <p:nvSpPr>
          <p:cNvPr id="42" name="Shape 40"/>
          <p:cNvSpPr/>
          <p:nvPr/>
        </p:nvSpPr>
        <p:spPr>
          <a:xfrm>
            <a:off x="3839067" y="148020"/>
            <a:ext cx="35176" cy="35176"/>
          </a:xfrm>
          <a:prstGeom prst="ellipse">
            <a:avLst/>
          </a:prstGeom>
          <a:solidFill>
            <a:srgbClr val="4FD1C5">
              <a:alpha val="42000"/>
            </a:srgbClr>
          </a:solidFill>
          <a:ln/>
        </p:spPr>
      </p:sp>
      <p:sp>
        <p:nvSpPr>
          <p:cNvPr id="43" name="Shape 41"/>
          <p:cNvSpPr/>
          <p:nvPr/>
        </p:nvSpPr>
        <p:spPr>
          <a:xfrm>
            <a:off x="4742417" y="1261181"/>
            <a:ext cx="19414" cy="19414"/>
          </a:xfrm>
          <a:prstGeom prst="ellipse">
            <a:avLst/>
          </a:prstGeom>
          <a:solidFill>
            <a:srgbClr val="AAB2D4">
              <a:alpha val="54000"/>
            </a:srgbClr>
          </a:solidFill>
          <a:ln/>
        </p:spPr>
      </p:sp>
      <p:sp>
        <p:nvSpPr>
          <p:cNvPr id="44" name="Shape 42"/>
          <p:cNvSpPr/>
          <p:nvPr/>
        </p:nvSpPr>
        <p:spPr>
          <a:xfrm>
            <a:off x="3723568" y="6224911"/>
            <a:ext cx="41969" cy="41969"/>
          </a:xfrm>
          <a:prstGeom prst="ellipse">
            <a:avLst/>
          </a:prstGeom>
          <a:solidFill>
            <a:srgbClr val="4FD1C5">
              <a:alpha val="57000"/>
            </a:srgbClr>
          </a:solidFill>
          <a:ln/>
        </p:spPr>
      </p:sp>
      <p:sp>
        <p:nvSpPr>
          <p:cNvPr id="45" name="Shape 43"/>
          <p:cNvSpPr/>
          <p:nvPr/>
        </p:nvSpPr>
        <p:spPr>
          <a:xfrm>
            <a:off x="2174781" y="2360377"/>
            <a:ext cx="44859" cy="44859"/>
          </a:xfrm>
          <a:prstGeom prst="ellipse">
            <a:avLst/>
          </a:prstGeom>
          <a:solidFill>
            <a:srgbClr val="AAB2D4">
              <a:alpha val="64000"/>
            </a:srgbClr>
          </a:solidFill>
          <a:ln/>
        </p:spPr>
      </p:sp>
      <p:sp>
        <p:nvSpPr>
          <p:cNvPr id="46" name="Shape 44"/>
          <p:cNvSpPr/>
          <p:nvPr/>
        </p:nvSpPr>
        <p:spPr>
          <a:xfrm>
            <a:off x="1036775" y="1118747"/>
            <a:ext cx="36480" cy="36480"/>
          </a:xfrm>
          <a:prstGeom prst="ellipse">
            <a:avLst/>
          </a:prstGeom>
          <a:solidFill>
            <a:srgbClr val="AAB2D4">
              <a:alpha val="61000"/>
            </a:srgbClr>
          </a:solidFill>
          <a:ln/>
        </p:spPr>
      </p:sp>
      <p:sp>
        <p:nvSpPr>
          <p:cNvPr id="47" name="Shape 45"/>
          <p:cNvSpPr/>
          <p:nvPr/>
        </p:nvSpPr>
        <p:spPr>
          <a:xfrm>
            <a:off x="6217252" y="2267185"/>
            <a:ext cx="31155" cy="31155"/>
          </a:xfrm>
          <a:prstGeom prst="ellipse">
            <a:avLst/>
          </a:prstGeom>
          <a:solidFill>
            <a:srgbClr val="4FD1C5">
              <a:alpha val="79000"/>
            </a:srgbClr>
          </a:solidFill>
          <a:ln/>
        </p:spPr>
      </p:sp>
      <p:sp>
        <p:nvSpPr>
          <p:cNvPr id="48" name="Shape 46"/>
          <p:cNvSpPr/>
          <p:nvPr/>
        </p:nvSpPr>
        <p:spPr>
          <a:xfrm>
            <a:off x="3566160" y="914400"/>
            <a:ext cx="5120640" cy="5120640"/>
          </a:xfrm>
          <a:prstGeom prst="ellipse">
            <a:avLst/>
          </a:prstGeom>
          <a:solidFill>
            <a:srgbClr val="B389F5">
              <a:alpha val="8000"/>
            </a:srgbClr>
          </a:solidFill>
          <a:ln/>
        </p:spPr>
      </p:sp>
      <p:sp>
        <p:nvSpPr>
          <p:cNvPr id="49" name="Shape 47"/>
          <p:cNvSpPr/>
          <p:nvPr/>
        </p:nvSpPr>
        <p:spPr>
          <a:xfrm>
            <a:off x="4572000" y="1920240"/>
            <a:ext cx="3108960" cy="3108960"/>
          </a:xfrm>
          <a:prstGeom prst="ellipse">
            <a:avLst/>
          </a:prstGeom>
          <a:solidFill>
            <a:srgbClr val="F5D67D">
              <a:alpha val="10000"/>
            </a:srgbClr>
          </a:solidFill>
          <a:ln/>
        </p:spPr>
      </p:sp>
      <p:sp>
        <p:nvSpPr>
          <p:cNvPr id="50" name="Text 48"/>
          <p:cNvSpPr/>
          <p:nvPr/>
        </p:nvSpPr>
        <p:spPr>
          <a:xfrm>
            <a:off x="0" y="2331720"/>
            <a:ext cx="12191695" cy="1188720"/>
          </a:xfrm>
          <a:prstGeom prst="rect">
            <a:avLst/>
          </a:prstGeom>
          <a:noFill/>
          <a:ln/>
        </p:spPr>
        <p:txBody>
          <a:bodyPr wrap="square" lIns="0" tIns="0" rIns="0" bIns="0" rtlCol="0" anchor="ctr"/>
          <a:lstStyle/>
          <a:p>
            <a:pPr algn="ctr" indent="0" marL="0">
              <a:buNone/>
            </a:pPr>
            <a:r>
              <a:rPr lang="en-US" sz="6400" b="1" spc="600" kern="0" dirty="0">
                <a:solidFill>
                  <a:srgbClr val="F5F6FA"/>
                </a:solidFill>
                <a:latin typeface="Arial" pitchFamily="34" charset="0"/>
                <a:ea typeface="Arial" pitchFamily="34" charset="-122"/>
                <a:cs typeface="Arial" pitchFamily="34" charset="-120"/>
              </a:rPr>
              <a:t>SOLACE</a:t>
            </a:r>
            <a:endParaRPr lang="en-US" sz="6400" dirty="0"/>
          </a:p>
        </p:txBody>
      </p:sp>
      <p:sp>
        <p:nvSpPr>
          <p:cNvPr id="51" name="Text 49"/>
          <p:cNvSpPr/>
          <p:nvPr/>
        </p:nvSpPr>
        <p:spPr>
          <a:xfrm>
            <a:off x="0" y="3429000"/>
            <a:ext cx="12191695" cy="502920"/>
          </a:xfrm>
          <a:prstGeom prst="rect">
            <a:avLst/>
          </a:prstGeom>
          <a:noFill/>
          <a:ln/>
        </p:spPr>
        <p:txBody>
          <a:bodyPr wrap="square" lIns="0" tIns="0" rIns="0" bIns="0" rtlCol="0" anchor="ctr"/>
          <a:lstStyle/>
          <a:p>
            <a:pPr algn="ctr" indent="0" marL="0">
              <a:buNone/>
            </a:pPr>
            <a:r>
              <a:rPr lang="en-US" sz="1900" i="1" dirty="0">
                <a:solidFill>
                  <a:srgbClr val="F5D67D"/>
                </a:solidFill>
                <a:latin typeface="Calibri" pitchFamily="34" charset="0"/>
                <a:ea typeface="Calibri" pitchFamily="34" charset="-122"/>
                <a:cs typeface="Calibri" pitchFamily="34" charset="-120"/>
              </a:rPr>
              <a:t>Nơi nỗi lòng được cất giữ</a:t>
            </a:r>
            <a:endParaRPr lang="en-US" sz="1900" dirty="0"/>
          </a:p>
        </p:txBody>
      </p:sp>
      <p:sp>
        <p:nvSpPr>
          <p:cNvPr id="52" name="Text 50"/>
          <p:cNvSpPr/>
          <p:nvPr/>
        </p:nvSpPr>
        <p:spPr>
          <a:xfrm>
            <a:off x="1645920" y="3977640"/>
            <a:ext cx="8899855" cy="457200"/>
          </a:xfrm>
          <a:prstGeom prst="rect">
            <a:avLst/>
          </a:prstGeom>
          <a:noFill/>
          <a:ln/>
        </p:spPr>
        <p:txBody>
          <a:bodyPr wrap="square" lIns="0" tIns="0" rIns="0" bIns="0" rtlCol="0" anchor="ctr"/>
          <a:lstStyle/>
          <a:p>
            <a:pPr algn="ctr" indent="0" marL="0">
              <a:buNone/>
            </a:pPr>
            <a:r>
              <a:rPr lang="en-US" sz="1350" dirty="0">
                <a:solidFill>
                  <a:srgbClr val="AAB2D4"/>
                </a:solidFill>
                <a:latin typeface="Calibri" pitchFamily="34" charset="0"/>
                <a:ea typeface="Calibri" pitchFamily="34" charset="-122"/>
                <a:cs typeface="Calibri" pitchFamily="34" charset="-120"/>
              </a:rPr>
              <a:t>Không gian ẩn danh để Gen Z Việt Nam giãi bày, được lắng nghe và chữa lành</a:t>
            </a:r>
            <a:endParaRPr lang="en-US" sz="1350" dirty="0"/>
          </a:p>
        </p:txBody>
      </p:sp>
      <p:sp>
        <p:nvSpPr>
          <p:cNvPr id="53" name="Shape 51"/>
          <p:cNvSpPr/>
          <p:nvPr/>
        </p:nvSpPr>
        <p:spPr>
          <a:xfrm>
            <a:off x="4539539" y="4661611"/>
            <a:ext cx="1009498" cy="1009498"/>
          </a:xfrm>
          <a:prstGeom prst="ellipse">
            <a:avLst/>
          </a:prstGeom>
          <a:solidFill>
            <a:srgbClr val="F5D67D">
              <a:alpha val="10000"/>
            </a:srgbClr>
          </a:solidFill>
          <a:ln/>
        </p:spPr>
      </p:sp>
      <p:sp>
        <p:nvSpPr>
          <p:cNvPr id="54" name="Shape 52"/>
          <p:cNvSpPr/>
          <p:nvPr/>
        </p:nvSpPr>
        <p:spPr>
          <a:xfrm>
            <a:off x="4671212" y="4793285"/>
            <a:ext cx="746150" cy="746150"/>
          </a:xfrm>
          <a:prstGeom prst="ellipse">
            <a:avLst/>
          </a:prstGeom>
          <a:solidFill>
            <a:srgbClr val="F5D67D">
              <a:alpha val="20000"/>
            </a:srgbClr>
          </a:solidFill>
          <a:ln/>
        </p:spPr>
      </p:sp>
      <p:sp>
        <p:nvSpPr>
          <p:cNvPr id="55" name="Shape 53"/>
          <p:cNvSpPr/>
          <p:nvPr/>
        </p:nvSpPr>
        <p:spPr>
          <a:xfrm>
            <a:off x="4769968" y="4892040"/>
            <a:ext cx="548640" cy="548640"/>
          </a:xfrm>
          <a:prstGeom prst="ellipse">
            <a:avLst/>
          </a:prstGeom>
          <a:solidFill>
            <a:srgbClr val="161D34"/>
          </a:solidFill>
          <a:ln w="15875">
            <a:solidFill>
              <a:srgbClr val="F5D67D">
                <a:alpha val="75000"/>
              </a:srgbClr>
            </a:solidFill>
            <a:prstDash val="solid"/>
          </a:ln>
        </p:spPr>
      </p:sp>
      <p:pic>
        <p:nvPicPr>
          <p:cNvPr id="56" name="Image 0" descr="preencoded.png">    </p:cNvPr>
          <p:cNvPicPr>
            <a:picLocks noChangeAspect="1"/>
          </p:cNvPicPr>
          <p:nvPr/>
        </p:nvPicPr>
        <p:blipFill>
          <a:blip r:embed="rId1"/>
          <a:stretch>
            <a:fillRect/>
          </a:stretch>
        </p:blipFill>
        <p:spPr>
          <a:xfrm>
            <a:off x="4918100" y="5040173"/>
            <a:ext cx="252374" cy="252374"/>
          </a:xfrm>
          <a:prstGeom prst="rect">
            <a:avLst/>
          </a:prstGeom>
        </p:spPr>
      </p:pic>
      <p:sp>
        <p:nvSpPr>
          <p:cNvPr id="57" name="Shape 54"/>
          <p:cNvSpPr/>
          <p:nvPr/>
        </p:nvSpPr>
        <p:spPr>
          <a:xfrm>
            <a:off x="5591099" y="4661611"/>
            <a:ext cx="1009498" cy="1009498"/>
          </a:xfrm>
          <a:prstGeom prst="ellipse">
            <a:avLst/>
          </a:prstGeom>
          <a:solidFill>
            <a:srgbClr val="4FD1C5">
              <a:alpha val="10000"/>
            </a:srgbClr>
          </a:solidFill>
          <a:ln/>
        </p:spPr>
      </p:sp>
      <p:sp>
        <p:nvSpPr>
          <p:cNvPr id="58" name="Shape 55"/>
          <p:cNvSpPr/>
          <p:nvPr/>
        </p:nvSpPr>
        <p:spPr>
          <a:xfrm>
            <a:off x="5722772" y="4793285"/>
            <a:ext cx="746150" cy="746150"/>
          </a:xfrm>
          <a:prstGeom prst="ellipse">
            <a:avLst/>
          </a:prstGeom>
          <a:solidFill>
            <a:srgbClr val="4FD1C5">
              <a:alpha val="20000"/>
            </a:srgbClr>
          </a:solidFill>
          <a:ln/>
        </p:spPr>
      </p:sp>
      <p:sp>
        <p:nvSpPr>
          <p:cNvPr id="59" name="Shape 56"/>
          <p:cNvSpPr/>
          <p:nvPr/>
        </p:nvSpPr>
        <p:spPr>
          <a:xfrm>
            <a:off x="5821528" y="4892040"/>
            <a:ext cx="548640" cy="548640"/>
          </a:xfrm>
          <a:prstGeom prst="ellipse">
            <a:avLst/>
          </a:prstGeom>
          <a:solidFill>
            <a:srgbClr val="161D34"/>
          </a:solidFill>
          <a:ln w="15875">
            <a:solidFill>
              <a:srgbClr val="4FD1C5">
                <a:alpha val="75000"/>
              </a:srgbClr>
            </a:solidFill>
            <a:prstDash val="solid"/>
          </a:ln>
        </p:spPr>
      </p:sp>
      <p:pic>
        <p:nvPicPr>
          <p:cNvPr id="60" name="Image 1" descr="preencoded.png">    </p:cNvPr>
          <p:cNvPicPr>
            <a:picLocks noChangeAspect="1"/>
          </p:cNvPicPr>
          <p:nvPr/>
        </p:nvPicPr>
        <p:blipFill>
          <a:blip r:embed="rId2"/>
          <a:stretch>
            <a:fillRect/>
          </a:stretch>
        </p:blipFill>
        <p:spPr>
          <a:xfrm>
            <a:off x="5969660" y="5040173"/>
            <a:ext cx="252374" cy="252374"/>
          </a:xfrm>
          <a:prstGeom prst="rect">
            <a:avLst/>
          </a:prstGeom>
        </p:spPr>
      </p:pic>
      <p:sp>
        <p:nvSpPr>
          <p:cNvPr id="61" name="Shape 57"/>
          <p:cNvSpPr/>
          <p:nvPr/>
        </p:nvSpPr>
        <p:spPr>
          <a:xfrm>
            <a:off x="6642659" y="4661611"/>
            <a:ext cx="1009498" cy="1009498"/>
          </a:xfrm>
          <a:prstGeom prst="ellipse">
            <a:avLst/>
          </a:prstGeom>
          <a:solidFill>
            <a:srgbClr val="B389F5">
              <a:alpha val="10000"/>
            </a:srgbClr>
          </a:solidFill>
          <a:ln/>
        </p:spPr>
      </p:sp>
      <p:sp>
        <p:nvSpPr>
          <p:cNvPr id="62" name="Shape 58"/>
          <p:cNvSpPr/>
          <p:nvPr/>
        </p:nvSpPr>
        <p:spPr>
          <a:xfrm>
            <a:off x="6774332" y="4793285"/>
            <a:ext cx="746150" cy="746150"/>
          </a:xfrm>
          <a:prstGeom prst="ellipse">
            <a:avLst/>
          </a:prstGeom>
          <a:solidFill>
            <a:srgbClr val="B389F5">
              <a:alpha val="20000"/>
            </a:srgbClr>
          </a:solidFill>
          <a:ln/>
        </p:spPr>
      </p:sp>
      <p:sp>
        <p:nvSpPr>
          <p:cNvPr id="63" name="Shape 59"/>
          <p:cNvSpPr/>
          <p:nvPr/>
        </p:nvSpPr>
        <p:spPr>
          <a:xfrm>
            <a:off x="6873088" y="4892040"/>
            <a:ext cx="548640" cy="548640"/>
          </a:xfrm>
          <a:prstGeom prst="ellipse">
            <a:avLst/>
          </a:prstGeom>
          <a:solidFill>
            <a:srgbClr val="161D34"/>
          </a:solidFill>
          <a:ln w="15875">
            <a:solidFill>
              <a:srgbClr val="B389F5">
                <a:alpha val="75000"/>
              </a:srgbClr>
            </a:solidFill>
            <a:prstDash val="solid"/>
          </a:ln>
        </p:spPr>
      </p:sp>
      <p:pic>
        <p:nvPicPr>
          <p:cNvPr id="64" name="Image 2" descr="preencoded.png">    </p:cNvPr>
          <p:cNvPicPr>
            <a:picLocks noChangeAspect="1"/>
          </p:cNvPicPr>
          <p:nvPr/>
        </p:nvPicPr>
        <p:blipFill>
          <a:blip r:embed="rId3"/>
          <a:stretch>
            <a:fillRect/>
          </a:stretch>
        </p:blipFill>
        <p:spPr>
          <a:xfrm>
            <a:off x="7021220" y="5040173"/>
            <a:ext cx="252374" cy="252374"/>
          </a:xfrm>
          <a:prstGeom prst="rect">
            <a:avLst/>
          </a:prstGeom>
        </p:spPr>
      </p:pic>
      <p:sp>
        <p:nvSpPr>
          <p:cNvPr id="65" name="Text 60"/>
          <p:cNvSpPr/>
          <p:nvPr/>
        </p:nvSpPr>
        <p:spPr>
          <a:xfrm>
            <a:off x="0" y="6309360"/>
            <a:ext cx="12191695" cy="320040"/>
          </a:xfrm>
          <a:prstGeom prst="rect">
            <a:avLst/>
          </a:prstGeom>
          <a:noFill/>
          <a:ln/>
        </p:spPr>
        <p:txBody>
          <a:bodyPr wrap="square" lIns="0" tIns="0" rIns="0" bIns="0" rtlCol="0" anchor="ctr"/>
          <a:lstStyle/>
          <a:p>
            <a:pPr algn="ctr" indent="0" marL="0">
              <a:buNone/>
            </a:pPr>
            <a:r>
              <a:rPr lang="en-US" sz="1050" dirty="0">
                <a:solidFill>
                  <a:srgbClr val="747CA3"/>
                </a:solidFill>
                <a:latin typeface="Calibri" pitchFamily="34" charset="0"/>
                <a:ea typeface="Calibri" pitchFamily="34" charset="-122"/>
                <a:cs typeface="Calibri" pitchFamily="34" charset="-120"/>
              </a:rPr>
              <a:t>Trình bày dự án nội bộ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01 · TỔNG QUAN DỰ ÁN</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Solace là gì?</a:t>
            </a:r>
            <a:endParaRPr lang="en-US" sz="3000" dirty="0"/>
          </a:p>
        </p:txBody>
      </p:sp>
      <p:sp>
        <p:nvSpPr>
          <p:cNvPr id="4" name="Text 2"/>
          <p:cNvSpPr/>
          <p:nvPr/>
        </p:nvSpPr>
        <p:spPr>
          <a:xfrm>
            <a:off x="594360" y="1600200"/>
            <a:ext cx="6583680" cy="1371600"/>
          </a:xfrm>
          <a:prstGeom prst="rect">
            <a:avLst/>
          </a:prstGeom>
          <a:noFill/>
          <a:ln/>
        </p:spPr>
        <p:txBody>
          <a:bodyPr wrap="square" lIns="0" tIns="0" rIns="0" bIns="0" rtlCol="0" anchor="ctr"/>
          <a:lstStyle/>
          <a:p>
            <a:pPr indent="0" marL="0">
              <a:lnSpc>
                <a:spcPct val="125000"/>
              </a:lnSpc>
              <a:buNone/>
            </a:pPr>
            <a:r>
              <a:rPr lang="en-US" sz="1500" dirty="0">
                <a:solidFill>
                  <a:srgbClr val="AAB2D4"/>
                </a:solidFill>
                <a:latin typeface="Calibri" pitchFamily="34" charset="0"/>
                <a:ea typeface="Calibri" pitchFamily="34" charset="-122"/>
                <a:cs typeface="Calibri" pitchFamily="34" charset="-120"/>
              </a:rPr>
              <a:t>Một ứng dụng web cho phép người dùng — đặc biệt là học sinh, sinh viên và người trẻ mới đi làm tại Việt Nam — giãi bày cảm xúc thật của mình một cách ẩn danh, dưới hình thức viết ra và “thả” đi, thay vì phải giữ trong lòng.</a:t>
            </a:r>
            <a:endParaRPr lang="en-US" sz="1500" dirty="0"/>
          </a:p>
        </p:txBody>
      </p:sp>
      <p:sp>
        <p:nvSpPr>
          <p:cNvPr id="5" name="Shape 3"/>
          <p:cNvSpPr/>
          <p:nvPr/>
        </p:nvSpPr>
        <p:spPr>
          <a:xfrm>
            <a:off x="594360" y="3200400"/>
            <a:ext cx="1950720" cy="1143000"/>
          </a:xfrm>
          <a:prstGeom prst="roundRect">
            <a:avLst>
              <a:gd name="adj" fmla="val 8000"/>
            </a:avLst>
          </a:prstGeom>
          <a:solidFill>
            <a:srgbClr val="161D34"/>
          </a:solidFill>
          <a:ln w="12700">
            <a:solidFill>
              <a:srgbClr val="2A3358"/>
            </a:solidFill>
            <a:prstDash val="solid"/>
          </a:ln>
        </p:spPr>
      </p:sp>
      <p:sp>
        <p:nvSpPr>
          <p:cNvPr id="6" name="Text 4"/>
          <p:cNvSpPr/>
          <p:nvPr/>
        </p:nvSpPr>
        <p:spPr>
          <a:xfrm>
            <a:off x="594360" y="3310128"/>
            <a:ext cx="1950720" cy="502920"/>
          </a:xfrm>
          <a:prstGeom prst="rect">
            <a:avLst/>
          </a:prstGeom>
          <a:noFill/>
          <a:ln/>
        </p:spPr>
        <p:txBody>
          <a:bodyPr wrap="square" lIns="0" tIns="0" rIns="0" bIns="0" rtlCol="0" anchor="ctr"/>
          <a:lstStyle/>
          <a:p>
            <a:pPr algn="ctr" indent="0" marL="0">
              <a:buNone/>
            </a:pPr>
            <a:r>
              <a:rPr lang="en-US" sz="2600" b="1" dirty="0">
                <a:solidFill>
                  <a:srgbClr val="F5D67D"/>
                </a:solidFill>
                <a:latin typeface="Arial" pitchFamily="34" charset="0"/>
                <a:ea typeface="Arial" pitchFamily="34" charset="-122"/>
                <a:cs typeface="Arial" pitchFamily="34" charset="-120"/>
              </a:rPr>
              <a:t>100%</a:t>
            </a:r>
            <a:endParaRPr lang="en-US" sz="2600" dirty="0"/>
          </a:p>
        </p:txBody>
      </p:sp>
      <p:sp>
        <p:nvSpPr>
          <p:cNvPr id="7" name="Text 5"/>
          <p:cNvSpPr/>
          <p:nvPr/>
        </p:nvSpPr>
        <p:spPr>
          <a:xfrm>
            <a:off x="685800" y="3840480"/>
            <a:ext cx="1767840" cy="457200"/>
          </a:xfrm>
          <a:prstGeom prst="rect">
            <a:avLst/>
          </a:prstGeom>
          <a:noFill/>
          <a:ln/>
        </p:spPr>
        <p:txBody>
          <a:bodyPr wrap="square" lIns="0" tIns="0" rIns="0" bIns="0" rtlCol="0" anchor="ctr"/>
          <a:lstStyle/>
          <a:p>
            <a:pPr algn="ctr" indent="0" marL="0">
              <a:buNone/>
            </a:pPr>
            <a:r>
              <a:rPr lang="en-US" sz="1050" dirty="0">
                <a:solidFill>
                  <a:srgbClr val="AAB2D4"/>
                </a:solidFill>
                <a:latin typeface="Calibri" pitchFamily="34" charset="0"/>
                <a:ea typeface="Calibri" pitchFamily="34" charset="-122"/>
                <a:cs typeface="Calibri" pitchFamily="34" charset="-120"/>
              </a:rPr>
              <a:t>Ẩn danh mặc định</a:t>
            </a:r>
            <a:endParaRPr lang="en-US" sz="1050" dirty="0"/>
          </a:p>
        </p:txBody>
      </p:sp>
      <p:sp>
        <p:nvSpPr>
          <p:cNvPr id="8" name="Shape 6"/>
          <p:cNvSpPr/>
          <p:nvPr/>
        </p:nvSpPr>
        <p:spPr>
          <a:xfrm>
            <a:off x="2910840" y="3200400"/>
            <a:ext cx="1950720" cy="1143000"/>
          </a:xfrm>
          <a:prstGeom prst="roundRect">
            <a:avLst>
              <a:gd name="adj" fmla="val 8000"/>
            </a:avLst>
          </a:prstGeom>
          <a:solidFill>
            <a:srgbClr val="161D34"/>
          </a:solidFill>
          <a:ln w="12700">
            <a:solidFill>
              <a:srgbClr val="2A3358"/>
            </a:solidFill>
            <a:prstDash val="solid"/>
          </a:ln>
        </p:spPr>
      </p:sp>
      <p:sp>
        <p:nvSpPr>
          <p:cNvPr id="9" name="Text 7"/>
          <p:cNvSpPr/>
          <p:nvPr/>
        </p:nvSpPr>
        <p:spPr>
          <a:xfrm>
            <a:off x="2910840" y="3310128"/>
            <a:ext cx="1950720" cy="502920"/>
          </a:xfrm>
          <a:prstGeom prst="rect">
            <a:avLst/>
          </a:prstGeom>
          <a:noFill/>
          <a:ln/>
        </p:spPr>
        <p:txBody>
          <a:bodyPr wrap="square" lIns="0" tIns="0" rIns="0" bIns="0" rtlCol="0" anchor="ctr"/>
          <a:lstStyle/>
          <a:p>
            <a:pPr algn="ctr" indent="0" marL="0">
              <a:buNone/>
            </a:pPr>
            <a:r>
              <a:rPr lang="en-US" sz="2600" b="1" dirty="0">
                <a:solidFill>
                  <a:srgbClr val="F5D67D"/>
                </a:solidFill>
                <a:latin typeface="Arial" pitchFamily="34" charset="0"/>
                <a:ea typeface="Arial" pitchFamily="34" charset="-122"/>
                <a:cs typeface="Arial" pitchFamily="34" charset="-120"/>
              </a:rPr>
              <a:t>4</a:t>
            </a:r>
            <a:endParaRPr lang="en-US" sz="2600" dirty="0"/>
          </a:p>
        </p:txBody>
      </p:sp>
      <p:sp>
        <p:nvSpPr>
          <p:cNvPr id="10" name="Text 8"/>
          <p:cNvSpPr/>
          <p:nvPr/>
        </p:nvSpPr>
        <p:spPr>
          <a:xfrm>
            <a:off x="3002280" y="3840480"/>
            <a:ext cx="1767840" cy="457200"/>
          </a:xfrm>
          <a:prstGeom prst="rect">
            <a:avLst/>
          </a:prstGeom>
          <a:noFill/>
          <a:ln/>
        </p:spPr>
        <p:txBody>
          <a:bodyPr wrap="square" lIns="0" tIns="0" rIns="0" bIns="0" rtlCol="0" anchor="ctr"/>
          <a:lstStyle/>
          <a:p>
            <a:pPr algn="ctr" indent="0" marL="0">
              <a:buNone/>
            </a:pPr>
            <a:r>
              <a:rPr lang="en-US" sz="1050" dirty="0">
                <a:solidFill>
                  <a:srgbClr val="AAB2D4"/>
                </a:solidFill>
                <a:latin typeface="Calibri" pitchFamily="34" charset="0"/>
                <a:ea typeface="Calibri" pitchFamily="34" charset="-122"/>
                <a:cs typeface="Calibri" pitchFamily="34" charset="-120"/>
              </a:rPr>
              <a:t>Vibe cảm xúc cá nhân hoá</a:t>
            </a:r>
            <a:endParaRPr lang="en-US" sz="1050" dirty="0"/>
          </a:p>
        </p:txBody>
      </p:sp>
      <p:sp>
        <p:nvSpPr>
          <p:cNvPr id="11" name="Shape 9"/>
          <p:cNvSpPr/>
          <p:nvPr/>
        </p:nvSpPr>
        <p:spPr>
          <a:xfrm>
            <a:off x="5227320" y="3200400"/>
            <a:ext cx="1950720" cy="1143000"/>
          </a:xfrm>
          <a:prstGeom prst="roundRect">
            <a:avLst>
              <a:gd name="adj" fmla="val 8000"/>
            </a:avLst>
          </a:prstGeom>
          <a:solidFill>
            <a:srgbClr val="161D34"/>
          </a:solidFill>
          <a:ln w="12700">
            <a:solidFill>
              <a:srgbClr val="2A3358"/>
            </a:solidFill>
            <a:prstDash val="solid"/>
          </a:ln>
        </p:spPr>
      </p:sp>
      <p:sp>
        <p:nvSpPr>
          <p:cNvPr id="12" name="Text 10"/>
          <p:cNvSpPr/>
          <p:nvPr/>
        </p:nvSpPr>
        <p:spPr>
          <a:xfrm>
            <a:off x="5227320" y="3310128"/>
            <a:ext cx="1950720" cy="502920"/>
          </a:xfrm>
          <a:prstGeom prst="rect">
            <a:avLst/>
          </a:prstGeom>
          <a:noFill/>
          <a:ln/>
        </p:spPr>
        <p:txBody>
          <a:bodyPr wrap="square" lIns="0" tIns="0" rIns="0" bIns="0" rtlCol="0" anchor="ctr"/>
          <a:lstStyle/>
          <a:p>
            <a:pPr algn="ctr" indent="0" marL="0">
              <a:buNone/>
            </a:pPr>
            <a:r>
              <a:rPr lang="en-US" sz="2600" b="1" dirty="0">
                <a:solidFill>
                  <a:srgbClr val="F5D67D"/>
                </a:solidFill>
                <a:latin typeface="Arial" pitchFamily="34" charset="0"/>
                <a:ea typeface="Arial" pitchFamily="34" charset="-122"/>
                <a:cs typeface="Arial" pitchFamily="34" charset="-120"/>
              </a:rPr>
              <a:t>9</a:t>
            </a:r>
            <a:endParaRPr lang="en-US" sz="2600" dirty="0"/>
          </a:p>
        </p:txBody>
      </p:sp>
      <p:sp>
        <p:nvSpPr>
          <p:cNvPr id="13" name="Text 11"/>
          <p:cNvSpPr/>
          <p:nvPr/>
        </p:nvSpPr>
        <p:spPr>
          <a:xfrm>
            <a:off x="5318760" y="3840480"/>
            <a:ext cx="1767840" cy="457200"/>
          </a:xfrm>
          <a:prstGeom prst="rect">
            <a:avLst/>
          </a:prstGeom>
          <a:noFill/>
          <a:ln/>
        </p:spPr>
        <p:txBody>
          <a:bodyPr wrap="square" lIns="0" tIns="0" rIns="0" bIns="0" rtlCol="0" anchor="ctr"/>
          <a:lstStyle/>
          <a:p>
            <a:pPr algn="ctr" indent="0" marL="0">
              <a:buNone/>
            </a:pPr>
            <a:r>
              <a:rPr lang="en-US" sz="1050" dirty="0">
                <a:solidFill>
                  <a:srgbClr val="AAB2D4"/>
                </a:solidFill>
                <a:latin typeface="Calibri" pitchFamily="34" charset="0"/>
                <a:ea typeface="Calibri" pitchFamily="34" charset="-122"/>
                <a:cs typeface="Calibri" pitchFamily="34" charset="-120"/>
              </a:rPr>
              <a:t>Module tính năng đã xây dựng</a:t>
            </a:r>
            <a:endParaRPr lang="en-US" sz="1050" dirty="0"/>
          </a:p>
        </p:txBody>
      </p:sp>
      <p:sp>
        <p:nvSpPr>
          <p:cNvPr id="14" name="Text 12"/>
          <p:cNvSpPr/>
          <p:nvPr/>
        </p:nvSpPr>
        <p:spPr>
          <a:xfrm>
            <a:off x="594360" y="4709160"/>
            <a:ext cx="6583680" cy="914400"/>
          </a:xfrm>
          <a:prstGeom prst="rect">
            <a:avLst/>
          </a:prstGeom>
          <a:noFill/>
          <a:ln/>
        </p:spPr>
        <p:txBody>
          <a:bodyPr wrap="square" lIns="0" tIns="0" rIns="0" bIns="0" rtlCol="0" anchor="ctr"/>
          <a:lstStyle/>
          <a:p>
            <a:pPr indent="0" marL="0">
              <a:lnSpc>
                <a:spcPct val="120000"/>
              </a:lnSpc>
              <a:buNone/>
            </a:pPr>
            <a:r>
              <a:rPr lang="en-US" sz="1250" i="1" dirty="0">
                <a:solidFill>
                  <a:srgbClr val="747CA3"/>
                </a:solidFill>
                <a:latin typeface="Calibri" pitchFamily="34" charset="0"/>
                <a:ea typeface="Calibri" pitchFamily="34" charset="-122"/>
                <a:cs typeface="Calibri" pitchFamily="34" charset="-120"/>
              </a:rPr>
              <a:t>Sản phẩm được xây dựng trên 3 trụ cột: bầu trời (giải phóng, hướng lên) — đại dương (buông bỏ, để trôi đi) — và cộng đồng vô danh cùng lắng nghe nhau.</a:t>
            </a:r>
            <a:endParaRPr lang="en-US" sz="1250" dirty="0"/>
          </a:p>
        </p:txBody>
      </p:sp>
      <p:sp>
        <p:nvSpPr>
          <p:cNvPr id="15" name="Shape 13"/>
          <p:cNvSpPr/>
          <p:nvPr/>
        </p:nvSpPr>
        <p:spPr>
          <a:xfrm>
            <a:off x="7534290" y="1453530"/>
            <a:ext cx="1043148" cy="1043148"/>
          </a:xfrm>
          <a:prstGeom prst="ellipse">
            <a:avLst/>
          </a:prstGeom>
          <a:solidFill>
            <a:srgbClr val="F5D67D">
              <a:alpha val="10000"/>
            </a:srgbClr>
          </a:solidFill>
          <a:ln/>
        </p:spPr>
      </p:sp>
      <p:sp>
        <p:nvSpPr>
          <p:cNvPr id="16" name="Shape 14"/>
          <p:cNvSpPr/>
          <p:nvPr/>
        </p:nvSpPr>
        <p:spPr>
          <a:xfrm>
            <a:off x="7670353" y="1589593"/>
            <a:ext cx="771022" cy="771022"/>
          </a:xfrm>
          <a:prstGeom prst="ellipse">
            <a:avLst/>
          </a:prstGeom>
          <a:solidFill>
            <a:srgbClr val="F5D67D">
              <a:alpha val="20000"/>
            </a:srgbClr>
          </a:solidFill>
          <a:ln/>
        </p:spPr>
      </p:sp>
      <p:sp>
        <p:nvSpPr>
          <p:cNvPr id="17" name="Shape 15"/>
          <p:cNvSpPr/>
          <p:nvPr/>
        </p:nvSpPr>
        <p:spPr>
          <a:xfrm>
            <a:off x="7772400" y="1691640"/>
            <a:ext cx="566928" cy="566928"/>
          </a:xfrm>
          <a:prstGeom prst="ellipse">
            <a:avLst/>
          </a:prstGeom>
          <a:solidFill>
            <a:srgbClr val="161D34"/>
          </a:solidFill>
          <a:ln w="15875">
            <a:solidFill>
              <a:srgbClr val="F5D67D">
                <a:alpha val="75000"/>
              </a:srgbClr>
            </a:solidFill>
            <a:prstDash val="solid"/>
          </a:ln>
        </p:spPr>
      </p:sp>
      <p:pic>
        <p:nvPicPr>
          <p:cNvPr id="18" name="Image 0" descr="preencoded.png">    </p:cNvPr>
          <p:cNvPicPr>
            <a:picLocks noChangeAspect="1"/>
          </p:cNvPicPr>
          <p:nvPr/>
        </p:nvPicPr>
        <p:blipFill>
          <a:blip r:embed="rId1"/>
          <a:stretch>
            <a:fillRect/>
          </a:stretch>
        </p:blipFill>
        <p:spPr>
          <a:xfrm>
            <a:off x="7925471" y="1844711"/>
            <a:ext cx="260787" cy="260787"/>
          </a:xfrm>
          <a:prstGeom prst="rect">
            <a:avLst/>
          </a:prstGeom>
        </p:spPr>
      </p:pic>
      <p:sp>
        <p:nvSpPr>
          <p:cNvPr id="19" name="Text 16"/>
          <p:cNvSpPr/>
          <p:nvPr/>
        </p:nvSpPr>
        <p:spPr>
          <a:xfrm>
            <a:off x="8549640" y="1673352"/>
            <a:ext cx="3108960" cy="320040"/>
          </a:xfrm>
          <a:prstGeom prst="rect">
            <a:avLst/>
          </a:prstGeom>
          <a:noFill/>
          <a:ln/>
        </p:spPr>
        <p:txBody>
          <a:bodyPr wrap="square" lIns="0" tIns="0" rIns="0" bIns="0" rtlCol="0" anchor="ctr"/>
          <a:lstStyle/>
          <a:p>
            <a:pPr indent="0" marL="0">
              <a:buNone/>
            </a:pPr>
            <a:r>
              <a:rPr lang="en-US" sz="1400" b="1" dirty="0">
                <a:solidFill>
                  <a:srgbClr val="F5F6FA"/>
                </a:solidFill>
                <a:latin typeface="Arial" pitchFamily="34" charset="0"/>
                <a:ea typeface="Arial" pitchFamily="34" charset="-122"/>
                <a:cs typeface="Arial" pitchFamily="34" charset="-120"/>
              </a:rPr>
              <a:t>Bầu trời</a:t>
            </a:r>
            <a:endParaRPr lang="en-US" sz="1400" dirty="0"/>
          </a:p>
        </p:txBody>
      </p:sp>
      <p:sp>
        <p:nvSpPr>
          <p:cNvPr id="20" name="Text 17"/>
          <p:cNvSpPr/>
          <p:nvPr/>
        </p:nvSpPr>
        <p:spPr>
          <a:xfrm>
            <a:off x="8549640" y="1965960"/>
            <a:ext cx="3108960" cy="365760"/>
          </a:xfrm>
          <a:prstGeom prst="rect">
            <a:avLst/>
          </a:prstGeom>
          <a:noFill/>
          <a:ln/>
        </p:spPr>
        <p:txBody>
          <a:bodyPr wrap="square" lIns="0" tIns="0" rIns="0" bIns="0" rtlCol="0" anchor="ctr"/>
          <a:lstStyle/>
          <a:p>
            <a:pPr indent="0" marL="0">
              <a:buNone/>
            </a:pPr>
            <a:r>
              <a:rPr lang="en-US" sz="1100" dirty="0">
                <a:solidFill>
                  <a:srgbClr val="AAB2D4"/>
                </a:solidFill>
                <a:latin typeface="Calibri" pitchFamily="34" charset="0"/>
                <a:ea typeface="Calibri" pitchFamily="34" charset="-122"/>
                <a:cs typeface="Calibri" pitchFamily="34" charset="-120"/>
              </a:rPr>
              <a:t>Giải phóng điều khó nói</a:t>
            </a:r>
            <a:endParaRPr lang="en-US" sz="1100" dirty="0"/>
          </a:p>
        </p:txBody>
      </p:sp>
      <p:sp>
        <p:nvSpPr>
          <p:cNvPr id="21" name="Shape 18"/>
          <p:cNvSpPr/>
          <p:nvPr/>
        </p:nvSpPr>
        <p:spPr>
          <a:xfrm>
            <a:off x="7534290" y="2413650"/>
            <a:ext cx="1043148" cy="1043148"/>
          </a:xfrm>
          <a:prstGeom prst="ellipse">
            <a:avLst/>
          </a:prstGeom>
          <a:solidFill>
            <a:srgbClr val="4FD1C5">
              <a:alpha val="10000"/>
            </a:srgbClr>
          </a:solidFill>
          <a:ln/>
        </p:spPr>
      </p:sp>
      <p:sp>
        <p:nvSpPr>
          <p:cNvPr id="22" name="Shape 19"/>
          <p:cNvSpPr/>
          <p:nvPr/>
        </p:nvSpPr>
        <p:spPr>
          <a:xfrm>
            <a:off x="7670353" y="2549713"/>
            <a:ext cx="771022" cy="771022"/>
          </a:xfrm>
          <a:prstGeom prst="ellipse">
            <a:avLst/>
          </a:prstGeom>
          <a:solidFill>
            <a:srgbClr val="4FD1C5">
              <a:alpha val="20000"/>
            </a:srgbClr>
          </a:solidFill>
          <a:ln/>
        </p:spPr>
      </p:sp>
      <p:sp>
        <p:nvSpPr>
          <p:cNvPr id="23" name="Shape 20"/>
          <p:cNvSpPr/>
          <p:nvPr/>
        </p:nvSpPr>
        <p:spPr>
          <a:xfrm>
            <a:off x="7772400" y="2651760"/>
            <a:ext cx="566928" cy="566928"/>
          </a:xfrm>
          <a:prstGeom prst="ellipse">
            <a:avLst/>
          </a:prstGeom>
          <a:solidFill>
            <a:srgbClr val="161D34"/>
          </a:solidFill>
          <a:ln w="15875">
            <a:solidFill>
              <a:srgbClr val="4FD1C5">
                <a:alpha val="75000"/>
              </a:srgbClr>
            </a:solidFill>
            <a:prstDash val="solid"/>
          </a:ln>
        </p:spPr>
      </p:sp>
      <p:pic>
        <p:nvPicPr>
          <p:cNvPr id="24" name="Image 1" descr="preencoded.png">    </p:cNvPr>
          <p:cNvPicPr>
            <a:picLocks noChangeAspect="1"/>
          </p:cNvPicPr>
          <p:nvPr/>
        </p:nvPicPr>
        <p:blipFill>
          <a:blip r:embed="rId2"/>
          <a:stretch>
            <a:fillRect/>
          </a:stretch>
        </p:blipFill>
        <p:spPr>
          <a:xfrm>
            <a:off x="7925471" y="2804831"/>
            <a:ext cx="260787" cy="260787"/>
          </a:xfrm>
          <a:prstGeom prst="rect">
            <a:avLst/>
          </a:prstGeom>
        </p:spPr>
      </p:pic>
      <p:sp>
        <p:nvSpPr>
          <p:cNvPr id="25" name="Text 21"/>
          <p:cNvSpPr/>
          <p:nvPr/>
        </p:nvSpPr>
        <p:spPr>
          <a:xfrm>
            <a:off x="8549640" y="2633472"/>
            <a:ext cx="3108960" cy="320040"/>
          </a:xfrm>
          <a:prstGeom prst="rect">
            <a:avLst/>
          </a:prstGeom>
          <a:noFill/>
          <a:ln/>
        </p:spPr>
        <p:txBody>
          <a:bodyPr wrap="square" lIns="0" tIns="0" rIns="0" bIns="0" rtlCol="0" anchor="ctr"/>
          <a:lstStyle/>
          <a:p>
            <a:pPr indent="0" marL="0">
              <a:buNone/>
            </a:pPr>
            <a:r>
              <a:rPr lang="en-US" sz="1400" b="1" dirty="0">
                <a:solidFill>
                  <a:srgbClr val="F5F6FA"/>
                </a:solidFill>
                <a:latin typeface="Arial" pitchFamily="34" charset="0"/>
                <a:ea typeface="Arial" pitchFamily="34" charset="-122"/>
                <a:cs typeface="Arial" pitchFamily="34" charset="-120"/>
              </a:rPr>
              <a:t>Đại dương</a:t>
            </a:r>
            <a:endParaRPr lang="en-US" sz="1400" dirty="0"/>
          </a:p>
        </p:txBody>
      </p:sp>
      <p:sp>
        <p:nvSpPr>
          <p:cNvPr id="26" name="Text 22"/>
          <p:cNvSpPr/>
          <p:nvPr/>
        </p:nvSpPr>
        <p:spPr>
          <a:xfrm>
            <a:off x="8549640" y="2926080"/>
            <a:ext cx="3108960" cy="365760"/>
          </a:xfrm>
          <a:prstGeom prst="rect">
            <a:avLst/>
          </a:prstGeom>
          <a:noFill/>
          <a:ln/>
        </p:spPr>
        <p:txBody>
          <a:bodyPr wrap="square" lIns="0" tIns="0" rIns="0" bIns="0" rtlCol="0" anchor="ctr"/>
          <a:lstStyle/>
          <a:p>
            <a:pPr indent="0" marL="0">
              <a:buNone/>
            </a:pPr>
            <a:r>
              <a:rPr lang="en-US" sz="1100" dirty="0">
                <a:solidFill>
                  <a:srgbClr val="AAB2D4"/>
                </a:solidFill>
                <a:latin typeface="Calibri" pitchFamily="34" charset="0"/>
                <a:ea typeface="Calibri" pitchFamily="34" charset="-122"/>
                <a:cs typeface="Calibri" pitchFamily="34" charset="-120"/>
              </a:rPr>
              <a:t>Buông bỏ nhẹ nhàng</a:t>
            </a:r>
            <a:endParaRPr lang="en-US" sz="1100" dirty="0"/>
          </a:p>
        </p:txBody>
      </p:sp>
      <p:sp>
        <p:nvSpPr>
          <p:cNvPr id="27" name="Shape 23"/>
          <p:cNvSpPr/>
          <p:nvPr/>
        </p:nvSpPr>
        <p:spPr>
          <a:xfrm>
            <a:off x="7534290" y="3373770"/>
            <a:ext cx="1043148" cy="1043148"/>
          </a:xfrm>
          <a:prstGeom prst="ellipse">
            <a:avLst/>
          </a:prstGeom>
          <a:solidFill>
            <a:srgbClr val="B389F5">
              <a:alpha val="10000"/>
            </a:srgbClr>
          </a:solidFill>
          <a:ln/>
        </p:spPr>
      </p:sp>
      <p:sp>
        <p:nvSpPr>
          <p:cNvPr id="28" name="Shape 24"/>
          <p:cNvSpPr/>
          <p:nvPr/>
        </p:nvSpPr>
        <p:spPr>
          <a:xfrm>
            <a:off x="7670353" y="3509833"/>
            <a:ext cx="771022" cy="771022"/>
          </a:xfrm>
          <a:prstGeom prst="ellipse">
            <a:avLst/>
          </a:prstGeom>
          <a:solidFill>
            <a:srgbClr val="B389F5">
              <a:alpha val="20000"/>
            </a:srgbClr>
          </a:solidFill>
          <a:ln/>
        </p:spPr>
      </p:sp>
      <p:sp>
        <p:nvSpPr>
          <p:cNvPr id="29" name="Shape 25"/>
          <p:cNvSpPr/>
          <p:nvPr/>
        </p:nvSpPr>
        <p:spPr>
          <a:xfrm>
            <a:off x="7772400" y="3611880"/>
            <a:ext cx="566928" cy="566928"/>
          </a:xfrm>
          <a:prstGeom prst="ellipse">
            <a:avLst/>
          </a:prstGeom>
          <a:solidFill>
            <a:srgbClr val="161D34"/>
          </a:solidFill>
          <a:ln w="15875">
            <a:solidFill>
              <a:srgbClr val="B389F5">
                <a:alpha val="75000"/>
              </a:srgbClr>
            </a:solidFill>
            <a:prstDash val="solid"/>
          </a:ln>
        </p:spPr>
      </p:sp>
      <p:pic>
        <p:nvPicPr>
          <p:cNvPr id="30" name="Image 2" descr="preencoded.png">    </p:cNvPr>
          <p:cNvPicPr>
            <a:picLocks noChangeAspect="1"/>
          </p:cNvPicPr>
          <p:nvPr/>
        </p:nvPicPr>
        <p:blipFill>
          <a:blip r:embed="rId3"/>
          <a:stretch>
            <a:fillRect/>
          </a:stretch>
        </p:blipFill>
        <p:spPr>
          <a:xfrm>
            <a:off x="7925471" y="3764951"/>
            <a:ext cx="260787" cy="260787"/>
          </a:xfrm>
          <a:prstGeom prst="rect">
            <a:avLst/>
          </a:prstGeom>
        </p:spPr>
      </p:pic>
      <p:sp>
        <p:nvSpPr>
          <p:cNvPr id="31" name="Text 26"/>
          <p:cNvSpPr/>
          <p:nvPr/>
        </p:nvSpPr>
        <p:spPr>
          <a:xfrm>
            <a:off x="8549640" y="3593592"/>
            <a:ext cx="3108960" cy="320040"/>
          </a:xfrm>
          <a:prstGeom prst="rect">
            <a:avLst/>
          </a:prstGeom>
          <a:noFill/>
          <a:ln/>
        </p:spPr>
        <p:txBody>
          <a:bodyPr wrap="square" lIns="0" tIns="0" rIns="0" bIns="0" rtlCol="0" anchor="ctr"/>
          <a:lstStyle/>
          <a:p>
            <a:pPr indent="0" marL="0">
              <a:buNone/>
            </a:pPr>
            <a:r>
              <a:rPr lang="en-US" sz="1400" b="1" dirty="0">
                <a:solidFill>
                  <a:srgbClr val="F5F6FA"/>
                </a:solidFill>
                <a:latin typeface="Arial" pitchFamily="34" charset="0"/>
                <a:ea typeface="Arial" pitchFamily="34" charset="-122"/>
                <a:cs typeface="Arial" pitchFamily="34" charset="-120"/>
              </a:rPr>
              <a:t>Cộng đồng ẩn danh</a:t>
            </a:r>
            <a:endParaRPr lang="en-US" sz="1400" dirty="0"/>
          </a:p>
        </p:txBody>
      </p:sp>
      <p:sp>
        <p:nvSpPr>
          <p:cNvPr id="32" name="Text 27"/>
          <p:cNvSpPr/>
          <p:nvPr/>
        </p:nvSpPr>
        <p:spPr>
          <a:xfrm>
            <a:off x="8549640" y="3886200"/>
            <a:ext cx="3108960" cy="365760"/>
          </a:xfrm>
          <a:prstGeom prst="rect">
            <a:avLst/>
          </a:prstGeom>
          <a:noFill/>
          <a:ln/>
        </p:spPr>
        <p:txBody>
          <a:bodyPr wrap="square" lIns="0" tIns="0" rIns="0" bIns="0" rtlCol="0" anchor="ctr"/>
          <a:lstStyle/>
          <a:p>
            <a:pPr indent="0" marL="0">
              <a:buNone/>
            </a:pPr>
            <a:r>
              <a:rPr lang="en-US" sz="1100" dirty="0">
                <a:solidFill>
                  <a:srgbClr val="AAB2D4"/>
                </a:solidFill>
                <a:latin typeface="Calibri" pitchFamily="34" charset="0"/>
                <a:ea typeface="Calibri" pitchFamily="34" charset="-122"/>
                <a:cs typeface="Calibri" pitchFamily="34" charset="-120"/>
              </a:rPr>
              <a:t>Không ai phán xét</a:t>
            </a:r>
            <a:endParaRPr lang="en-US" sz="1100" dirty="0"/>
          </a:p>
        </p:txBody>
      </p:sp>
      <p:sp>
        <p:nvSpPr>
          <p:cNvPr id="33" name="Text 28"/>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01 · TỔNG QUAN DỰ ÁN</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Vấn đề chúng ta đang giải quyết</a:t>
            </a:r>
            <a:endParaRPr lang="en-US" sz="3000" dirty="0"/>
          </a:p>
        </p:txBody>
      </p:sp>
      <p:sp>
        <p:nvSpPr>
          <p:cNvPr id="4" name="Shape 2"/>
          <p:cNvSpPr/>
          <p:nvPr/>
        </p:nvSpPr>
        <p:spPr>
          <a:xfrm>
            <a:off x="594360" y="1600200"/>
            <a:ext cx="5318608" cy="2011680"/>
          </a:xfrm>
          <a:prstGeom prst="roundRect">
            <a:avLst>
              <a:gd name="adj" fmla="val 3636"/>
            </a:avLst>
          </a:prstGeom>
          <a:solidFill>
            <a:srgbClr val="161D34"/>
          </a:solidFill>
          <a:ln w="12700">
            <a:solidFill>
              <a:srgbClr val="2A3358"/>
            </a:solidFill>
            <a:prstDash val="solid"/>
          </a:ln>
        </p:spPr>
      </p:sp>
      <p:sp>
        <p:nvSpPr>
          <p:cNvPr id="5" name="Shape 3"/>
          <p:cNvSpPr/>
          <p:nvPr/>
        </p:nvSpPr>
        <p:spPr>
          <a:xfrm>
            <a:off x="630570" y="1636410"/>
            <a:ext cx="1043148" cy="1043148"/>
          </a:xfrm>
          <a:prstGeom prst="ellipse">
            <a:avLst/>
          </a:prstGeom>
          <a:solidFill>
            <a:srgbClr val="F2A65A">
              <a:alpha val="10000"/>
            </a:srgbClr>
          </a:solidFill>
          <a:ln/>
        </p:spPr>
      </p:sp>
      <p:sp>
        <p:nvSpPr>
          <p:cNvPr id="6" name="Shape 4"/>
          <p:cNvSpPr/>
          <p:nvPr/>
        </p:nvSpPr>
        <p:spPr>
          <a:xfrm>
            <a:off x="766633" y="1772473"/>
            <a:ext cx="771022" cy="771022"/>
          </a:xfrm>
          <a:prstGeom prst="ellipse">
            <a:avLst/>
          </a:prstGeom>
          <a:solidFill>
            <a:srgbClr val="F2A65A">
              <a:alpha val="20000"/>
            </a:srgbClr>
          </a:solidFill>
          <a:ln/>
        </p:spPr>
      </p:sp>
      <p:sp>
        <p:nvSpPr>
          <p:cNvPr id="7" name="Shape 5"/>
          <p:cNvSpPr/>
          <p:nvPr/>
        </p:nvSpPr>
        <p:spPr>
          <a:xfrm>
            <a:off x="868680" y="1874520"/>
            <a:ext cx="566928" cy="566928"/>
          </a:xfrm>
          <a:prstGeom prst="ellipse">
            <a:avLst/>
          </a:prstGeom>
          <a:solidFill>
            <a:srgbClr val="161D34"/>
          </a:solidFill>
          <a:ln w="15875">
            <a:solidFill>
              <a:srgbClr val="F2A65A">
                <a:alpha val="75000"/>
              </a:srgbClr>
            </a:solidFill>
            <a:prstDash val="solid"/>
          </a:ln>
        </p:spPr>
      </p:sp>
      <p:pic>
        <p:nvPicPr>
          <p:cNvPr id="8" name="Image 0" descr="preencoded.png">    </p:cNvPr>
          <p:cNvPicPr>
            <a:picLocks noChangeAspect="1"/>
          </p:cNvPicPr>
          <p:nvPr/>
        </p:nvPicPr>
        <p:blipFill>
          <a:blip r:embed="rId1"/>
          <a:stretch>
            <a:fillRect/>
          </a:stretch>
        </p:blipFill>
        <p:spPr>
          <a:xfrm>
            <a:off x="1021751" y="2027591"/>
            <a:ext cx="260787" cy="260787"/>
          </a:xfrm>
          <a:prstGeom prst="rect">
            <a:avLst/>
          </a:prstGeom>
        </p:spPr>
      </p:pic>
      <p:sp>
        <p:nvSpPr>
          <p:cNvPr id="9" name="Text 6"/>
          <p:cNvSpPr/>
          <p:nvPr/>
        </p:nvSpPr>
        <p:spPr>
          <a:xfrm>
            <a:off x="1600200" y="1856232"/>
            <a:ext cx="4084168" cy="365760"/>
          </a:xfrm>
          <a:prstGeom prst="rect">
            <a:avLst/>
          </a:prstGeom>
          <a:noFill/>
          <a:ln/>
        </p:spPr>
        <p:txBody>
          <a:bodyPr wrap="square" lIns="0" tIns="0" rIns="0" bIns="0" rtlCol="0" anchor="ctr"/>
          <a:lstStyle/>
          <a:p>
            <a:pPr indent="0" marL="0">
              <a:buNone/>
            </a:pPr>
            <a:r>
              <a:rPr lang="en-US" sz="1450" b="1" dirty="0">
                <a:solidFill>
                  <a:srgbClr val="F5F6FA"/>
                </a:solidFill>
                <a:latin typeface="Arial" pitchFamily="34" charset="0"/>
                <a:ea typeface="Arial" pitchFamily="34" charset="-122"/>
                <a:cs typeface="Arial" pitchFamily="34" charset="-120"/>
              </a:rPr>
              <a:t>Áp lực &amp; lo âu âm thầm</a:t>
            </a:r>
            <a:endParaRPr lang="en-US" sz="1450" dirty="0"/>
          </a:p>
        </p:txBody>
      </p:sp>
      <p:sp>
        <p:nvSpPr>
          <p:cNvPr id="10" name="Text 7"/>
          <p:cNvSpPr/>
          <p:nvPr/>
        </p:nvSpPr>
        <p:spPr>
          <a:xfrm>
            <a:off x="868680" y="2514600"/>
            <a:ext cx="4769968" cy="960120"/>
          </a:xfrm>
          <a:prstGeom prst="rect">
            <a:avLst/>
          </a:prstGeom>
          <a:noFill/>
          <a:ln/>
        </p:spPr>
        <p:txBody>
          <a:bodyPr wrap="square" lIns="0" tIns="0" rIns="0" bIns="0" rtlCol="0" anchor="ctr"/>
          <a:lstStyle/>
          <a:p>
            <a:pPr indent="0" marL="0">
              <a:lnSpc>
                <a:spcPct val="125000"/>
              </a:lnSpc>
              <a:buNone/>
            </a:pPr>
            <a:r>
              <a:rPr lang="en-US" sz="1150" dirty="0">
                <a:solidFill>
                  <a:srgbClr val="AAB2D4"/>
                </a:solidFill>
                <a:latin typeface="Calibri" pitchFamily="34" charset="0"/>
                <a:ea typeface="Calibri" pitchFamily="34" charset="-122"/>
                <a:cs typeface="Calibri" pitchFamily="34" charset="-120"/>
              </a:rPr>
              <a:t>Gen Z chịu áp lực học tập, thi cử, kỳ vọng gia đình và mạng xã hội — nhưng thường không nói ra.</a:t>
            </a:r>
            <a:endParaRPr lang="en-US" sz="1150" dirty="0"/>
          </a:p>
        </p:txBody>
      </p:sp>
      <p:sp>
        <p:nvSpPr>
          <p:cNvPr id="11" name="Shape 8"/>
          <p:cNvSpPr/>
          <p:nvPr/>
        </p:nvSpPr>
        <p:spPr>
          <a:xfrm>
            <a:off x="6278728" y="1600200"/>
            <a:ext cx="5318608" cy="2011680"/>
          </a:xfrm>
          <a:prstGeom prst="roundRect">
            <a:avLst>
              <a:gd name="adj" fmla="val 3636"/>
            </a:avLst>
          </a:prstGeom>
          <a:solidFill>
            <a:srgbClr val="161D34"/>
          </a:solidFill>
          <a:ln w="12700">
            <a:solidFill>
              <a:srgbClr val="2A3358"/>
            </a:solidFill>
            <a:prstDash val="solid"/>
          </a:ln>
        </p:spPr>
      </p:sp>
      <p:sp>
        <p:nvSpPr>
          <p:cNvPr id="12" name="Shape 9"/>
          <p:cNvSpPr/>
          <p:nvPr/>
        </p:nvSpPr>
        <p:spPr>
          <a:xfrm>
            <a:off x="6314938" y="1636410"/>
            <a:ext cx="1043148" cy="1043148"/>
          </a:xfrm>
          <a:prstGeom prst="ellipse">
            <a:avLst/>
          </a:prstGeom>
          <a:solidFill>
            <a:srgbClr val="B389F5">
              <a:alpha val="10000"/>
            </a:srgbClr>
          </a:solidFill>
          <a:ln/>
        </p:spPr>
      </p:sp>
      <p:sp>
        <p:nvSpPr>
          <p:cNvPr id="13" name="Shape 10"/>
          <p:cNvSpPr/>
          <p:nvPr/>
        </p:nvSpPr>
        <p:spPr>
          <a:xfrm>
            <a:off x="6451001" y="1772473"/>
            <a:ext cx="771022" cy="771022"/>
          </a:xfrm>
          <a:prstGeom prst="ellipse">
            <a:avLst/>
          </a:prstGeom>
          <a:solidFill>
            <a:srgbClr val="B389F5">
              <a:alpha val="20000"/>
            </a:srgbClr>
          </a:solidFill>
          <a:ln/>
        </p:spPr>
      </p:sp>
      <p:sp>
        <p:nvSpPr>
          <p:cNvPr id="14" name="Shape 11"/>
          <p:cNvSpPr/>
          <p:nvPr/>
        </p:nvSpPr>
        <p:spPr>
          <a:xfrm>
            <a:off x="6553048" y="1874520"/>
            <a:ext cx="566928" cy="566928"/>
          </a:xfrm>
          <a:prstGeom prst="ellipse">
            <a:avLst/>
          </a:prstGeom>
          <a:solidFill>
            <a:srgbClr val="161D34"/>
          </a:solidFill>
          <a:ln w="15875">
            <a:solidFill>
              <a:srgbClr val="B389F5">
                <a:alpha val="75000"/>
              </a:srgbClr>
            </a:solidFill>
            <a:prstDash val="solid"/>
          </a:ln>
        </p:spPr>
      </p:sp>
      <p:pic>
        <p:nvPicPr>
          <p:cNvPr id="15" name="Image 1" descr="preencoded.png">    </p:cNvPr>
          <p:cNvPicPr>
            <a:picLocks noChangeAspect="1"/>
          </p:cNvPicPr>
          <p:nvPr/>
        </p:nvPicPr>
        <p:blipFill>
          <a:blip r:embed="rId2"/>
          <a:stretch>
            <a:fillRect/>
          </a:stretch>
        </p:blipFill>
        <p:spPr>
          <a:xfrm>
            <a:off x="6706118" y="2027591"/>
            <a:ext cx="260787" cy="260787"/>
          </a:xfrm>
          <a:prstGeom prst="rect">
            <a:avLst/>
          </a:prstGeom>
        </p:spPr>
      </p:pic>
      <p:sp>
        <p:nvSpPr>
          <p:cNvPr id="16" name="Text 12"/>
          <p:cNvSpPr/>
          <p:nvPr/>
        </p:nvSpPr>
        <p:spPr>
          <a:xfrm>
            <a:off x="7284568" y="1856232"/>
            <a:ext cx="4084168" cy="365760"/>
          </a:xfrm>
          <a:prstGeom prst="rect">
            <a:avLst/>
          </a:prstGeom>
          <a:noFill/>
          <a:ln/>
        </p:spPr>
        <p:txBody>
          <a:bodyPr wrap="square" lIns="0" tIns="0" rIns="0" bIns="0" rtlCol="0" anchor="ctr"/>
          <a:lstStyle/>
          <a:p>
            <a:pPr indent="0" marL="0">
              <a:buNone/>
            </a:pPr>
            <a:r>
              <a:rPr lang="en-US" sz="1450" b="1" dirty="0">
                <a:solidFill>
                  <a:srgbClr val="F5F6FA"/>
                </a:solidFill>
                <a:latin typeface="Arial" pitchFamily="34" charset="0"/>
                <a:ea typeface="Arial" pitchFamily="34" charset="-122"/>
                <a:cs typeface="Arial" pitchFamily="34" charset="-120"/>
              </a:rPr>
              <a:t>Sợ bị phán xét / gắn nhãn</a:t>
            </a:r>
            <a:endParaRPr lang="en-US" sz="1450" dirty="0"/>
          </a:p>
        </p:txBody>
      </p:sp>
      <p:sp>
        <p:nvSpPr>
          <p:cNvPr id="17" name="Text 13"/>
          <p:cNvSpPr/>
          <p:nvPr/>
        </p:nvSpPr>
        <p:spPr>
          <a:xfrm>
            <a:off x="6553048" y="2514600"/>
            <a:ext cx="4769968" cy="960120"/>
          </a:xfrm>
          <a:prstGeom prst="rect">
            <a:avLst/>
          </a:prstGeom>
          <a:noFill/>
          <a:ln/>
        </p:spPr>
        <p:txBody>
          <a:bodyPr wrap="square" lIns="0" tIns="0" rIns="0" bIns="0" rtlCol="0" anchor="ctr"/>
          <a:lstStyle/>
          <a:p>
            <a:pPr indent="0" marL="0">
              <a:lnSpc>
                <a:spcPct val="125000"/>
              </a:lnSpc>
              <a:buNone/>
            </a:pPr>
            <a:r>
              <a:rPr lang="en-US" sz="1150" dirty="0">
                <a:solidFill>
                  <a:srgbClr val="AAB2D4"/>
                </a:solidFill>
                <a:latin typeface="Calibri" pitchFamily="34" charset="0"/>
                <a:ea typeface="Calibri" pitchFamily="34" charset="-122"/>
                <a:cs typeface="Calibri" pitchFamily="34" charset="-120"/>
              </a:rPr>
              <a:t>Chia sẻ cảm xúc thật trên mạng xã hội thông thường đồng nghĩa gắn với danh tính thật, dễ bị đánh giá.</a:t>
            </a:r>
            <a:endParaRPr lang="en-US" sz="1150" dirty="0"/>
          </a:p>
        </p:txBody>
      </p:sp>
      <p:sp>
        <p:nvSpPr>
          <p:cNvPr id="18" name="Shape 14"/>
          <p:cNvSpPr/>
          <p:nvPr/>
        </p:nvSpPr>
        <p:spPr>
          <a:xfrm>
            <a:off x="594360" y="3886200"/>
            <a:ext cx="5318608" cy="2011680"/>
          </a:xfrm>
          <a:prstGeom prst="roundRect">
            <a:avLst>
              <a:gd name="adj" fmla="val 3636"/>
            </a:avLst>
          </a:prstGeom>
          <a:solidFill>
            <a:srgbClr val="161D34"/>
          </a:solidFill>
          <a:ln w="12700">
            <a:solidFill>
              <a:srgbClr val="2A3358"/>
            </a:solidFill>
            <a:prstDash val="solid"/>
          </a:ln>
        </p:spPr>
      </p:sp>
      <p:sp>
        <p:nvSpPr>
          <p:cNvPr id="19" name="Shape 15"/>
          <p:cNvSpPr/>
          <p:nvPr/>
        </p:nvSpPr>
        <p:spPr>
          <a:xfrm>
            <a:off x="630570" y="3922410"/>
            <a:ext cx="1043148" cy="1043148"/>
          </a:xfrm>
          <a:prstGeom prst="ellipse">
            <a:avLst/>
          </a:prstGeom>
          <a:solidFill>
            <a:srgbClr val="4FD1C5">
              <a:alpha val="10000"/>
            </a:srgbClr>
          </a:solidFill>
          <a:ln/>
        </p:spPr>
      </p:sp>
      <p:sp>
        <p:nvSpPr>
          <p:cNvPr id="20" name="Shape 16"/>
          <p:cNvSpPr/>
          <p:nvPr/>
        </p:nvSpPr>
        <p:spPr>
          <a:xfrm>
            <a:off x="766633" y="4058473"/>
            <a:ext cx="771022" cy="771022"/>
          </a:xfrm>
          <a:prstGeom prst="ellipse">
            <a:avLst/>
          </a:prstGeom>
          <a:solidFill>
            <a:srgbClr val="4FD1C5">
              <a:alpha val="20000"/>
            </a:srgbClr>
          </a:solidFill>
          <a:ln/>
        </p:spPr>
      </p:sp>
      <p:sp>
        <p:nvSpPr>
          <p:cNvPr id="21" name="Shape 17"/>
          <p:cNvSpPr/>
          <p:nvPr/>
        </p:nvSpPr>
        <p:spPr>
          <a:xfrm>
            <a:off x="868680" y="4160520"/>
            <a:ext cx="566928" cy="566928"/>
          </a:xfrm>
          <a:prstGeom prst="ellipse">
            <a:avLst/>
          </a:prstGeom>
          <a:solidFill>
            <a:srgbClr val="161D34"/>
          </a:solidFill>
          <a:ln w="15875">
            <a:solidFill>
              <a:srgbClr val="4FD1C5">
                <a:alpha val="75000"/>
              </a:srgbClr>
            </a:solidFill>
            <a:prstDash val="solid"/>
          </a:ln>
        </p:spPr>
      </p:sp>
      <p:pic>
        <p:nvPicPr>
          <p:cNvPr id="22" name="Image 2" descr="preencoded.png">    </p:cNvPr>
          <p:cNvPicPr>
            <a:picLocks noChangeAspect="1"/>
          </p:cNvPicPr>
          <p:nvPr/>
        </p:nvPicPr>
        <p:blipFill>
          <a:blip r:embed="rId3"/>
          <a:stretch>
            <a:fillRect/>
          </a:stretch>
        </p:blipFill>
        <p:spPr>
          <a:xfrm>
            <a:off x="1021751" y="4313591"/>
            <a:ext cx="260787" cy="260787"/>
          </a:xfrm>
          <a:prstGeom prst="rect">
            <a:avLst/>
          </a:prstGeom>
        </p:spPr>
      </p:pic>
      <p:sp>
        <p:nvSpPr>
          <p:cNvPr id="23" name="Text 18"/>
          <p:cNvSpPr/>
          <p:nvPr/>
        </p:nvSpPr>
        <p:spPr>
          <a:xfrm>
            <a:off x="1600200" y="4142232"/>
            <a:ext cx="4084168" cy="365760"/>
          </a:xfrm>
          <a:prstGeom prst="rect">
            <a:avLst/>
          </a:prstGeom>
          <a:noFill/>
          <a:ln/>
        </p:spPr>
        <p:txBody>
          <a:bodyPr wrap="square" lIns="0" tIns="0" rIns="0" bIns="0" rtlCol="0" anchor="ctr"/>
          <a:lstStyle/>
          <a:p>
            <a:pPr indent="0" marL="0">
              <a:buNone/>
            </a:pPr>
            <a:r>
              <a:rPr lang="en-US" sz="1450" b="1" dirty="0">
                <a:solidFill>
                  <a:srgbClr val="F5F6FA"/>
                </a:solidFill>
                <a:latin typeface="Arial" pitchFamily="34" charset="0"/>
                <a:ea typeface="Arial" pitchFamily="34" charset="-122"/>
                <a:cs typeface="Arial" pitchFamily="34" charset="-120"/>
              </a:rPr>
              <a:t>Cô đơn dù luôn kết nối</a:t>
            </a:r>
            <a:endParaRPr lang="en-US" sz="1450" dirty="0"/>
          </a:p>
        </p:txBody>
      </p:sp>
      <p:sp>
        <p:nvSpPr>
          <p:cNvPr id="24" name="Text 19"/>
          <p:cNvSpPr/>
          <p:nvPr/>
        </p:nvSpPr>
        <p:spPr>
          <a:xfrm>
            <a:off x="868680" y="4800600"/>
            <a:ext cx="4769968" cy="960120"/>
          </a:xfrm>
          <a:prstGeom prst="rect">
            <a:avLst/>
          </a:prstGeom>
          <a:noFill/>
          <a:ln/>
        </p:spPr>
        <p:txBody>
          <a:bodyPr wrap="square" lIns="0" tIns="0" rIns="0" bIns="0" rtlCol="0" anchor="ctr"/>
          <a:lstStyle/>
          <a:p>
            <a:pPr indent="0" marL="0">
              <a:lnSpc>
                <a:spcPct val="125000"/>
              </a:lnSpc>
              <a:buNone/>
            </a:pPr>
            <a:r>
              <a:rPr lang="en-US" sz="1150" dirty="0">
                <a:solidFill>
                  <a:srgbClr val="AAB2D4"/>
                </a:solidFill>
                <a:latin typeface="Calibri" pitchFamily="34" charset="0"/>
                <a:ea typeface="Calibri" pitchFamily="34" charset="-122"/>
                <a:cs typeface="Calibri" pitchFamily="34" charset="-120"/>
              </a:rPr>
              <a:t>Nhiều kết nối trực tuyến nhưng thiếu không gian để thật sự được lắng nghe, không cần diễn.</a:t>
            </a:r>
            <a:endParaRPr lang="en-US" sz="1150" dirty="0"/>
          </a:p>
        </p:txBody>
      </p:sp>
      <p:sp>
        <p:nvSpPr>
          <p:cNvPr id="25" name="Shape 20"/>
          <p:cNvSpPr/>
          <p:nvPr/>
        </p:nvSpPr>
        <p:spPr>
          <a:xfrm>
            <a:off x="6278728" y="3886200"/>
            <a:ext cx="5318608" cy="2011680"/>
          </a:xfrm>
          <a:prstGeom prst="roundRect">
            <a:avLst>
              <a:gd name="adj" fmla="val 3636"/>
            </a:avLst>
          </a:prstGeom>
          <a:solidFill>
            <a:srgbClr val="161D34"/>
          </a:solidFill>
          <a:ln w="12700">
            <a:solidFill>
              <a:srgbClr val="2A3358"/>
            </a:solidFill>
            <a:prstDash val="solid"/>
          </a:ln>
        </p:spPr>
      </p:sp>
      <p:sp>
        <p:nvSpPr>
          <p:cNvPr id="26" name="Shape 21"/>
          <p:cNvSpPr/>
          <p:nvPr/>
        </p:nvSpPr>
        <p:spPr>
          <a:xfrm>
            <a:off x="6314938" y="3922410"/>
            <a:ext cx="1043148" cy="1043148"/>
          </a:xfrm>
          <a:prstGeom prst="ellipse">
            <a:avLst/>
          </a:prstGeom>
          <a:solidFill>
            <a:srgbClr val="F5D67D">
              <a:alpha val="10000"/>
            </a:srgbClr>
          </a:solidFill>
          <a:ln/>
        </p:spPr>
      </p:sp>
      <p:sp>
        <p:nvSpPr>
          <p:cNvPr id="27" name="Shape 22"/>
          <p:cNvSpPr/>
          <p:nvPr/>
        </p:nvSpPr>
        <p:spPr>
          <a:xfrm>
            <a:off x="6451001" y="4058473"/>
            <a:ext cx="771022" cy="771022"/>
          </a:xfrm>
          <a:prstGeom prst="ellipse">
            <a:avLst/>
          </a:prstGeom>
          <a:solidFill>
            <a:srgbClr val="F5D67D">
              <a:alpha val="20000"/>
            </a:srgbClr>
          </a:solidFill>
          <a:ln/>
        </p:spPr>
      </p:sp>
      <p:sp>
        <p:nvSpPr>
          <p:cNvPr id="28" name="Shape 23"/>
          <p:cNvSpPr/>
          <p:nvPr/>
        </p:nvSpPr>
        <p:spPr>
          <a:xfrm>
            <a:off x="6553048" y="4160520"/>
            <a:ext cx="566928" cy="566928"/>
          </a:xfrm>
          <a:prstGeom prst="ellipse">
            <a:avLst/>
          </a:prstGeom>
          <a:solidFill>
            <a:srgbClr val="161D34"/>
          </a:solidFill>
          <a:ln w="15875">
            <a:solidFill>
              <a:srgbClr val="F5D67D">
                <a:alpha val="75000"/>
              </a:srgbClr>
            </a:solidFill>
            <a:prstDash val="solid"/>
          </a:ln>
        </p:spPr>
      </p:sp>
      <p:pic>
        <p:nvPicPr>
          <p:cNvPr id="29" name="Image 3" descr="preencoded.png">    </p:cNvPr>
          <p:cNvPicPr>
            <a:picLocks noChangeAspect="1"/>
          </p:cNvPicPr>
          <p:nvPr/>
        </p:nvPicPr>
        <p:blipFill>
          <a:blip r:embed="rId4"/>
          <a:stretch>
            <a:fillRect/>
          </a:stretch>
        </p:blipFill>
        <p:spPr>
          <a:xfrm>
            <a:off x="6706118" y="4313591"/>
            <a:ext cx="260787" cy="260787"/>
          </a:xfrm>
          <a:prstGeom prst="rect">
            <a:avLst/>
          </a:prstGeom>
        </p:spPr>
      </p:pic>
      <p:sp>
        <p:nvSpPr>
          <p:cNvPr id="30" name="Text 24"/>
          <p:cNvSpPr/>
          <p:nvPr/>
        </p:nvSpPr>
        <p:spPr>
          <a:xfrm>
            <a:off x="7284568" y="4142232"/>
            <a:ext cx="4084168" cy="365760"/>
          </a:xfrm>
          <a:prstGeom prst="rect">
            <a:avLst/>
          </a:prstGeom>
          <a:noFill/>
          <a:ln/>
        </p:spPr>
        <p:txBody>
          <a:bodyPr wrap="square" lIns="0" tIns="0" rIns="0" bIns="0" rtlCol="0" anchor="ctr"/>
          <a:lstStyle/>
          <a:p>
            <a:pPr indent="0" marL="0">
              <a:buNone/>
            </a:pPr>
            <a:r>
              <a:rPr lang="en-US" sz="1450" b="1" dirty="0">
                <a:solidFill>
                  <a:srgbClr val="F5F6FA"/>
                </a:solidFill>
                <a:latin typeface="Arial" pitchFamily="34" charset="0"/>
                <a:ea typeface="Arial" pitchFamily="34" charset="-122"/>
                <a:cs typeface="Arial" pitchFamily="34" charset="-120"/>
              </a:rPr>
              <a:t>Thiếu nơi an toàn để trút bỏ</a:t>
            </a:r>
            <a:endParaRPr lang="en-US" sz="1450" dirty="0"/>
          </a:p>
        </p:txBody>
      </p:sp>
      <p:sp>
        <p:nvSpPr>
          <p:cNvPr id="31" name="Text 25"/>
          <p:cNvSpPr/>
          <p:nvPr/>
        </p:nvSpPr>
        <p:spPr>
          <a:xfrm>
            <a:off x="6553048" y="4800600"/>
            <a:ext cx="4769968" cy="960120"/>
          </a:xfrm>
          <a:prstGeom prst="rect">
            <a:avLst/>
          </a:prstGeom>
          <a:noFill/>
          <a:ln/>
        </p:spPr>
        <p:txBody>
          <a:bodyPr wrap="square" lIns="0" tIns="0" rIns="0" bIns="0" rtlCol="0" anchor="ctr"/>
          <a:lstStyle/>
          <a:p>
            <a:pPr indent="0" marL="0">
              <a:lnSpc>
                <a:spcPct val="125000"/>
              </a:lnSpc>
              <a:buNone/>
            </a:pPr>
            <a:r>
              <a:rPr lang="en-US" sz="1150" dirty="0">
                <a:solidFill>
                  <a:srgbClr val="AAB2D4"/>
                </a:solidFill>
                <a:latin typeface="Calibri" pitchFamily="34" charset="0"/>
                <a:ea typeface="Calibri" pitchFamily="34" charset="-122"/>
                <a:cs typeface="Calibri" pitchFamily="34" charset="-120"/>
              </a:rPr>
              <a:t>Các kênh hỗ trợ tâm lý hiện có thường xa lạ, cứng nhắc hoặc yêu cầu danh tính đầy đủ.</a:t>
            </a:r>
            <a:endParaRPr lang="en-US" sz="1150" dirty="0"/>
          </a:p>
        </p:txBody>
      </p:sp>
      <p:sp>
        <p:nvSpPr>
          <p:cNvPr id="32" name="Text 26"/>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01 · TỔNG QUAN DỰ ÁN</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Đối tượng người dùng mục tiêu</a:t>
            </a:r>
            <a:endParaRPr lang="en-US" sz="3000" dirty="0"/>
          </a:p>
        </p:txBody>
      </p:sp>
      <p:sp>
        <p:nvSpPr>
          <p:cNvPr id="4" name="Shape 2"/>
          <p:cNvSpPr/>
          <p:nvPr/>
        </p:nvSpPr>
        <p:spPr>
          <a:xfrm>
            <a:off x="210312" y="1307592"/>
            <a:ext cx="1682496" cy="1682496"/>
          </a:xfrm>
          <a:prstGeom prst="ellipse">
            <a:avLst/>
          </a:prstGeom>
          <a:solidFill>
            <a:srgbClr val="B389F5">
              <a:alpha val="10000"/>
            </a:srgbClr>
          </a:solidFill>
          <a:ln/>
        </p:spPr>
      </p:sp>
      <p:sp>
        <p:nvSpPr>
          <p:cNvPr id="5" name="Shape 3"/>
          <p:cNvSpPr/>
          <p:nvPr/>
        </p:nvSpPr>
        <p:spPr>
          <a:xfrm>
            <a:off x="429768" y="1527048"/>
            <a:ext cx="1243584" cy="1243584"/>
          </a:xfrm>
          <a:prstGeom prst="ellipse">
            <a:avLst/>
          </a:prstGeom>
          <a:solidFill>
            <a:srgbClr val="B389F5">
              <a:alpha val="20000"/>
            </a:srgbClr>
          </a:solidFill>
          <a:ln/>
        </p:spPr>
      </p:sp>
      <p:sp>
        <p:nvSpPr>
          <p:cNvPr id="6" name="Shape 4"/>
          <p:cNvSpPr/>
          <p:nvPr/>
        </p:nvSpPr>
        <p:spPr>
          <a:xfrm>
            <a:off x="594360" y="1691640"/>
            <a:ext cx="914400" cy="914400"/>
          </a:xfrm>
          <a:prstGeom prst="ellipse">
            <a:avLst/>
          </a:prstGeom>
          <a:solidFill>
            <a:srgbClr val="161D34"/>
          </a:solidFill>
          <a:ln w="15875">
            <a:solidFill>
              <a:srgbClr val="B389F5">
                <a:alpha val="75000"/>
              </a:srgbClr>
            </a:solidFill>
            <a:prstDash val="solid"/>
          </a:ln>
        </p:spPr>
      </p:sp>
      <p:pic>
        <p:nvPicPr>
          <p:cNvPr id="7" name="Image 0" descr="preencoded.png">    </p:cNvPr>
          <p:cNvPicPr>
            <a:picLocks noChangeAspect="1"/>
          </p:cNvPicPr>
          <p:nvPr/>
        </p:nvPicPr>
        <p:blipFill>
          <a:blip r:embed="rId1"/>
          <a:stretch>
            <a:fillRect/>
          </a:stretch>
        </p:blipFill>
        <p:spPr>
          <a:xfrm>
            <a:off x="841248" y="1938528"/>
            <a:ext cx="420624" cy="420624"/>
          </a:xfrm>
          <a:prstGeom prst="rect">
            <a:avLst/>
          </a:prstGeom>
        </p:spPr>
      </p:pic>
      <p:sp>
        <p:nvSpPr>
          <p:cNvPr id="8" name="Text 5"/>
          <p:cNvSpPr/>
          <p:nvPr/>
        </p:nvSpPr>
        <p:spPr>
          <a:xfrm>
            <a:off x="1737360" y="1737360"/>
            <a:ext cx="5120640" cy="457200"/>
          </a:xfrm>
          <a:prstGeom prst="rect">
            <a:avLst/>
          </a:prstGeom>
          <a:noFill/>
          <a:ln/>
        </p:spPr>
        <p:txBody>
          <a:bodyPr wrap="square" lIns="0" tIns="0" rIns="0" bIns="0" rtlCol="0" anchor="ctr"/>
          <a:lstStyle/>
          <a:p>
            <a:pPr indent="0" marL="0">
              <a:buNone/>
            </a:pPr>
            <a:r>
              <a:rPr lang="en-US" sz="1900" b="1" dirty="0">
                <a:solidFill>
                  <a:srgbClr val="F5F6FA"/>
                </a:solidFill>
                <a:latin typeface="Arial" pitchFamily="34" charset="0"/>
                <a:ea typeface="Arial" pitchFamily="34" charset="-122"/>
                <a:cs typeface="Arial" pitchFamily="34" charset="-120"/>
              </a:rPr>
              <a:t>Gen Z Việt Nam, 16–26 tuổi</a:t>
            </a:r>
            <a:endParaRPr lang="en-US" sz="1900" dirty="0"/>
          </a:p>
        </p:txBody>
      </p:sp>
      <p:sp>
        <p:nvSpPr>
          <p:cNvPr id="9" name="Text 6"/>
          <p:cNvSpPr/>
          <p:nvPr/>
        </p:nvSpPr>
        <p:spPr>
          <a:xfrm>
            <a:off x="1737360" y="2212848"/>
            <a:ext cx="5212080" cy="685800"/>
          </a:xfrm>
          <a:prstGeom prst="rect">
            <a:avLst/>
          </a:prstGeom>
          <a:noFill/>
          <a:ln/>
        </p:spPr>
        <p:txBody>
          <a:bodyPr wrap="square" lIns="0" tIns="0" rIns="0" bIns="0" rtlCol="0" anchor="ctr"/>
          <a:lstStyle/>
          <a:p>
            <a:pPr indent="0" marL="0">
              <a:lnSpc>
                <a:spcPct val="125000"/>
              </a:lnSpc>
              <a:buNone/>
            </a:pPr>
            <a:r>
              <a:rPr lang="en-US" sz="1250" dirty="0">
                <a:solidFill>
                  <a:srgbClr val="AAB2D4"/>
                </a:solidFill>
                <a:latin typeface="Calibri" pitchFamily="34" charset="0"/>
                <a:ea typeface="Calibri" pitchFamily="34" charset="-122"/>
                <a:cs typeface="Calibri" pitchFamily="34" charset="-120"/>
              </a:rPr>
              <a:t>Học sinh cuối cấp, sinh viên, người mới đi làm — nhóm chịu nhiều biến động tâm lý nhất nhưng ít được lắng nghe nhất.</a:t>
            </a:r>
            <a:endParaRPr lang="en-US" sz="1250" dirty="0"/>
          </a:p>
        </p:txBody>
      </p:sp>
      <p:sp>
        <p:nvSpPr>
          <p:cNvPr id="10" name="Shape 7"/>
          <p:cNvSpPr/>
          <p:nvPr/>
        </p:nvSpPr>
        <p:spPr>
          <a:xfrm>
            <a:off x="1737360" y="3282696"/>
            <a:ext cx="82296" cy="82296"/>
          </a:xfrm>
          <a:prstGeom prst="ellipse">
            <a:avLst/>
          </a:prstGeom>
          <a:solidFill>
            <a:srgbClr val="F5D67D"/>
          </a:solidFill>
          <a:ln/>
        </p:spPr>
      </p:sp>
      <p:sp>
        <p:nvSpPr>
          <p:cNvPr id="11" name="Text 8"/>
          <p:cNvSpPr/>
          <p:nvPr/>
        </p:nvSpPr>
        <p:spPr>
          <a:xfrm>
            <a:off x="2011680" y="3145536"/>
            <a:ext cx="5029200" cy="457200"/>
          </a:xfrm>
          <a:prstGeom prst="rect">
            <a:avLst/>
          </a:prstGeom>
          <a:noFill/>
          <a:ln/>
        </p:spPr>
        <p:txBody>
          <a:bodyPr wrap="square" lIns="0" tIns="0" rIns="0" bIns="0" rtlCol="0" anchor="ctr"/>
          <a:lstStyle/>
          <a:p>
            <a:pPr indent="0" marL="0">
              <a:buNone/>
            </a:pPr>
            <a:r>
              <a:rPr lang="en-US" sz="1200" dirty="0">
                <a:solidFill>
                  <a:srgbClr val="AAB2D4"/>
                </a:solidFill>
                <a:latin typeface="Calibri" pitchFamily="34" charset="0"/>
                <a:ea typeface="Calibri" pitchFamily="34" charset="-122"/>
                <a:cs typeface="Calibri" pitchFamily="34" charset="-120"/>
              </a:rPr>
              <a:t>Quen thuộc với mạng xã hội, nhưng mệt mỏi với áp lực “trình diễn” bản thân</a:t>
            </a:r>
            <a:endParaRPr lang="en-US" sz="1200" dirty="0"/>
          </a:p>
        </p:txBody>
      </p:sp>
      <p:sp>
        <p:nvSpPr>
          <p:cNvPr id="12" name="Shape 9"/>
          <p:cNvSpPr/>
          <p:nvPr/>
        </p:nvSpPr>
        <p:spPr>
          <a:xfrm>
            <a:off x="1737360" y="3849624"/>
            <a:ext cx="82296" cy="82296"/>
          </a:xfrm>
          <a:prstGeom prst="ellipse">
            <a:avLst/>
          </a:prstGeom>
          <a:solidFill>
            <a:srgbClr val="F5D67D"/>
          </a:solidFill>
          <a:ln/>
        </p:spPr>
      </p:sp>
      <p:sp>
        <p:nvSpPr>
          <p:cNvPr id="13" name="Text 10"/>
          <p:cNvSpPr/>
          <p:nvPr/>
        </p:nvSpPr>
        <p:spPr>
          <a:xfrm>
            <a:off x="2011680" y="3712464"/>
            <a:ext cx="5029200" cy="457200"/>
          </a:xfrm>
          <a:prstGeom prst="rect">
            <a:avLst/>
          </a:prstGeom>
          <a:noFill/>
          <a:ln/>
        </p:spPr>
        <p:txBody>
          <a:bodyPr wrap="square" lIns="0" tIns="0" rIns="0" bIns="0" rtlCol="0" anchor="ctr"/>
          <a:lstStyle/>
          <a:p>
            <a:pPr indent="0" marL="0">
              <a:buNone/>
            </a:pPr>
            <a:r>
              <a:rPr lang="en-US" sz="1200" dirty="0">
                <a:solidFill>
                  <a:srgbClr val="AAB2D4"/>
                </a:solidFill>
                <a:latin typeface="Calibri" pitchFamily="34" charset="0"/>
                <a:ea typeface="Calibri" pitchFamily="34" charset="-122"/>
                <a:cs typeface="Calibri" pitchFamily="34" charset="-120"/>
              </a:rPr>
              <a:t>Cởi mở với việc chăm sóc sức khoẻ tinh thần hơn thế hệ trước</a:t>
            </a:r>
            <a:endParaRPr lang="en-US" sz="1200" dirty="0"/>
          </a:p>
        </p:txBody>
      </p:sp>
      <p:sp>
        <p:nvSpPr>
          <p:cNvPr id="14" name="Shape 11"/>
          <p:cNvSpPr/>
          <p:nvPr/>
        </p:nvSpPr>
        <p:spPr>
          <a:xfrm>
            <a:off x="1737360" y="4416552"/>
            <a:ext cx="82296" cy="82296"/>
          </a:xfrm>
          <a:prstGeom prst="ellipse">
            <a:avLst/>
          </a:prstGeom>
          <a:solidFill>
            <a:srgbClr val="F5D67D"/>
          </a:solidFill>
          <a:ln/>
        </p:spPr>
      </p:sp>
      <p:sp>
        <p:nvSpPr>
          <p:cNvPr id="15" name="Text 12"/>
          <p:cNvSpPr/>
          <p:nvPr/>
        </p:nvSpPr>
        <p:spPr>
          <a:xfrm>
            <a:off x="2011680" y="4279392"/>
            <a:ext cx="5029200" cy="457200"/>
          </a:xfrm>
          <a:prstGeom prst="rect">
            <a:avLst/>
          </a:prstGeom>
          <a:noFill/>
          <a:ln/>
        </p:spPr>
        <p:txBody>
          <a:bodyPr wrap="square" lIns="0" tIns="0" rIns="0" bIns="0" rtlCol="0" anchor="ctr"/>
          <a:lstStyle/>
          <a:p>
            <a:pPr indent="0" marL="0">
              <a:buNone/>
            </a:pPr>
            <a:r>
              <a:rPr lang="en-US" sz="1200" dirty="0">
                <a:solidFill>
                  <a:srgbClr val="AAB2D4"/>
                </a:solidFill>
                <a:latin typeface="Calibri" pitchFamily="34" charset="0"/>
                <a:ea typeface="Calibri" pitchFamily="34" charset="-122"/>
                <a:cs typeface="Calibri" pitchFamily="34" charset="-120"/>
              </a:rPr>
              <a:t>Ưu tiên sự riêng tư — sẵn sàng chia sẻ thật hơn khi ẩn danh</a:t>
            </a:r>
            <a:endParaRPr lang="en-US" sz="1200" dirty="0"/>
          </a:p>
        </p:txBody>
      </p:sp>
      <p:sp>
        <p:nvSpPr>
          <p:cNvPr id="16" name="Shape 13"/>
          <p:cNvSpPr/>
          <p:nvPr/>
        </p:nvSpPr>
        <p:spPr>
          <a:xfrm>
            <a:off x="1737360" y="4983480"/>
            <a:ext cx="82296" cy="82296"/>
          </a:xfrm>
          <a:prstGeom prst="ellipse">
            <a:avLst/>
          </a:prstGeom>
          <a:solidFill>
            <a:srgbClr val="F5D67D"/>
          </a:solidFill>
          <a:ln/>
        </p:spPr>
      </p:sp>
      <p:sp>
        <p:nvSpPr>
          <p:cNvPr id="17" name="Text 14"/>
          <p:cNvSpPr/>
          <p:nvPr/>
        </p:nvSpPr>
        <p:spPr>
          <a:xfrm>
            <a:off x="2011680" y="4846320"/>
            <a:ext cx="5029200" cy="457200"/>
          </a:xfrm>
          <a:prstGeom prst="rect">
            <a:avLst/>
          </a:prstGeom>
          <a:noFill/>
          <a:ln/>
        </p:spPr>
        <p:txBody>
          <a:bodyPr wrap="square" lIns="0" tIns="0" rIns="0" bIns="0" rtlCol="0" anchor="ctr"/>
          <a:lstStyle/>
          <a:p>
            <a:pPr indent="0" marL="0">
              <a:buNone/>
            </a:pPr>
            <a:r>
              <a:rPr lang="en-US" sz="1200" dirty="0">
                <a:solidFill>
                  <a:srgbClr val="AAB2D4"/>
                </a:solidFill>
                <a:latin typeface="Calibri" pitchFamily="34" charset="0"/>
                <a:ea typeface="Calibri" pitchFamily="34" charset="-122"/>
                <a:cs typeface="Calibri" pitchFamily="34" charset="-120"/>
              </a:rPr>
              <a:t>Phản ứng tốt với thẩm mỹ nhẹ nhàng, thơ mộng hơn là giao diện y tế/lâm sàng</a:t>
            </a:r>
            <a:endParaRPr lang="en-US" sz="1200" dirty="0"/>
          </a:p>
        </p:txBody>
      </p:sp>
      <p:sp>
        <p:nvSpPr>
          <p:cNvPr id="18" name="Shape 15"/>
          <p:cNvSpPr/>
          <p:nvPr/>
        </p:nvSpPr>
        <p:spPr>
          <a:xfrm>
            <a:off x="7589520" y="1691640"/>
            <a:ext cx="4007815" cy="3977640"/>
          </a:xfrm>
          <a:prstGeom prst="roundRect">
            <a:avLst>
              <a:gd name="adj" fmla="val 2299"/>
            </a:avLst>
          </a:prstGeom>
          <a:solidFill>
            <a:srgbClr val="161D34"/>
          </a:solidFill>
          <a:ln w="12700">
            <a:solidFill>
              <a:srgbClr val="2A3358"/>
            </a:solidFill>
            <a:prstDash val="solid"/>
          </a:ln>
        </p:spPr>
      </p:sp>
      <p:sp>
        <p:nvSpPr>
          <p:cNvPr id="19" name="Shape 16"/>
          <p:cNvSpPr/>
          <p:nvPr/>
        </p:nvSpPr>
        <p:spPr>
          <a:xfrm>
            <a:off x="8920429" y="1658722"/>
            <a:ext cx="1345997" cy="1345997"/>
          </a:xfrm>
          <a:prstGeom prst="ellipse">
            <a:avLst/>
          </a:prstGeom>
          <a:solidFill>
            <a:srgbClr val="4FD1C5">
              <a:alpha val="10000"/>
            </a:srgbClr>
          </a:solidFill>
          <a:ln/>
        </p:spPr>
      </p:sp>
      <p:sp>
        <p:nvSpPr>
          <p:cNvPr id="20" name="Shape 17"/>
          <p:cNvSpPr/>
          <p:nvPr/>
        </p:nvSpPr>
        <p:spPr>
          <a:xfrm>
            <a:off x="9095994" y="1834286"/>
            <a:ext cx="994867" cy="994867"/>
          </a:xfrm>
          <a:prstGeom prst="ellipse">
            <a:avLst/>
          </a:prstGeom>
          <a:solidFill>
            <a:srgbClr val="4FD1C5">
              <a:alpha val="20000"/>
            </a:srgbClr>
          </a:solidFill>
          <a:ln/>
        </p:spPr>
      </p:sp>
      <p:sp>
        <p:nvSpPr>
          <p:cNvPr id="21" name="Shape 18"/>
          <p:cNvSpPr/>
          <p:nvPr/>
        </p:nvSpPr>
        <p:spPr>
          <a:xfrm>
            <a:off x="9227668" y="1965960"/>
            <a:ext cx="731520" cy="731520"/>
          </a:xfrm>
          <a:prstGeom prst="ellipse">
            <a:avLst/>
          </a:prstGeom>
          <a:solidFill>
            <a:srgbClr val="161D34"/>
          </a:solidFill>
          <a:ln w="15875">
            <a:solidFill>
              <a:srgbClr val="4FD1C5">
                <a:alpha val="75000"/>
              </a:srgbClr>
            </a:solidFill>
            <a:prstDash val="solid"/>
          </a:ln>
        </p:spPr>
      </p:sp>
      <p:pic>
        <p:nvPicPr>
          <p:cNvPr id="22" name="Image 1" descr="preencoded.png">    </p:cNvPr>
          <p:cNvPicPr>
            <a:picLocks noChangeAspect="1"/>
          </p:cNvPicPr>
          <p:nvPr/>
        </p:nvPicPr>
        <p:blipFill>
          <a:blip r:embed="rId2"/>
          <a:stretch>
            <a:fillRect/>
          </a:stretch>
        </p:blipFill>
        <p:spPr>
          <a:xfrm>
            <a:off x="9425178" y="2163470"/>
            <a:ext cx="336499" cy="336499"/>
          </a:xfrm>
          <a:prstGeom prst="rect">
            <a:avLst/>
          </a:prstGeom>
        </p:spPr>
      </p:pic>
      <p:sp>
        <p:nvSpPr>
          <p:cNvPr id="23" name="Text 19"/>
          <p:cNvSpPr/>
          <p:nvPr/>
        </p:nvSpPr>
        <p:spPr>
          <a:xfrm>
            <a:off x="7863840" y="2880360"/>
            <a:ext cx="3459175" cy="365760"/>
          </a:xfrm>
          <a:prstGeom prst="rect">
            <a:avLst/>
          </a:prstGeom>
          <a:noFill/>
          <a:ln/>
        </p:spPr>
        <p:txBody>
          <a:bodyPr wrap="square" lIns="0" tIns="0" rIns="0" bIns="0" rtlCol="0" anchor="ctr"/>
          <a:lstStyle/>
          <a:p>
            <a:pPr algn="ctr" indent="0" marL="0">
              <a:buNone/>
            </a:pPr>
            <a:r>
              <a:rPr lang="en-US" sz="1500" b="1" dirty="0">
                <a:solidFill>
                  <a:srgbClr val="F5F6FA"/>
                </a:solidFill>
                <a:latin typeface="Arial" pitchFamily="34" charset="0"/>
                <a:ea typeface="Arial" pitchFamily="34" charset="-122"/>
                <a:cs typeface="Arial" pitchFamily="34" charset="-120"/>
              </a:rPr>
              <a:t>“Linh, 20 tuổi”</a:t>
            </a:r>
            <a:endParaRPr lang="en-US" sz="1500" dirty="0"/>
          </a:p>
        </p:txBody>
      </p:sp>
      <p:sp>
        <p:nvSpPr>
          <p:cNvPr id="24" name="Text 20"/>
          <p:cNvSpPr/>
          <p:nvPr/>
        </p:nvSpPr>
        <p:spPr>
          <a:xfrm>
            <a:off x="7909560" y="3291840"/>
            <a:ext cx="3367735" cy="2194560"/>
          </a:xfrm>
          <a:prstGeom prst="rect">
            <a:avLst/>
          </a:prstGeom>
          <a:noFill/>
          <a:ln/>
        </p:spPr>
        <p:txBody>
          <a:bodyPr wrap="square" lIns="0" tIns="0" rIns="0" bIns="0" rtlCol="0" anchor="ctr"/>
          <a:lstStyle/>
          <a:p>
            <a:pPr algn="ctr" indent="0" marL="0">
              <a:lnSpc>
                <a:spcPct val="130000"/>
              </a:lnSpc>
              <a:buNone/>
            </a:pPr>
            <a:r>
              <a:rPr lang="en-US" sz="1200" i="1" dirty="0">
                <a:solidFill>
                  <a:srgbClr val="AAB2D4"/>
                </a:solidFill>
                <a:latin typeface="Calibri" pitchFamily="34" charset="0"/>
                <a:ea typeface="Calibri" pitchFamily="34" charset="-122"/>
                <a:cs typeface="Calibri" pitchFamily="34" charset="-120"/>
              </a:rPr>
              <a:t>Sinh viên năm 3, áp lực điểm số và kỳ vọng gia đình. Không muốn làm phiền bạn bè, không thoải mái gặp chuyên gia tâm lý ngay. Chỉ cần một nơi để viết ra, thả đi, và biết rằng mình không đơn độc.</a:t>
            </a:r>
            <a:endParaRPr lang="en-US" sz="1200" dirty="0"/>
          </a:p>
        </p:txBody>
      </p:sp>
      <p:sp>
        <p:nvSpPr>
          <p:cNvPr id="25" name="Text 21"/>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01 · TỔNG QUAN DỰ ÁN</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6 nguyên tắc thiết kế cốt lõi</a:t>
            </a:r>
            <a:endParaRPr lang="en-US" sz="3000" dirty="0"/>
          </a:p>
        </p:txBody>
      </p:sp>
      <p:sp>
        <p:nvSpPr>
          <p:cNvPr id="4" name="Shape 2"/>
          <p:cNvSpPr/>
          <p:nvPr/>
        </p:nvSpPr>
        <p:spPr>
          <a:xfrm>
            <a:off x="594360" y="1645920"/>
            <a:ext cx="3454298" cy="1691640"/>
          </a:xfrm>
          <a:prstGeom prst="roundRect">
            <a:avLst>
              <a:gd name="adj" fmla="val 4324"/>
            </a:avLst>
          </a:prstGeom>
          <a:solidFill>
            <a:srgbClr val="161D34"/>
          </a:solidFill>
          <a:ln w="12700">
            <a:solidFill>
              <a:srgbClr val="2A3358"/>
            </a:solidFill>
            <a:prstDash val="solid"/>
          </a:ln>
        </p:spPr>
      </p:sp>
      <p:sp>
        <p:nvSpPr>
          <p:cNvPr id="5" name="Shape 3"/>
          <p:cNvSpPr/>
          <p:nvPr/>
        </p:nvSpPr>
        <p:spPr>
          <a:xfrm>
            <a:off x="1783110" y="1601297"/>
            <a:ext cx="1076797" cy="1076797"/>
          </a:xfrm>
          <a:prstGeom prst="ellipse">
            <a:avLst/>
          </a:prstGeom>
          <a:solidFill>
            <a:srgbClr val="F5D67D">
              <a:alpha val="10000"/>
            </a:srgbClr>
          </a:solidFill>
          <a:ln/>
        </p:spPr>
      </p:sp>
      <p:sp>
        <p:nvSpPr>
          <p:cNvPr id="6" name="Shape 4"/>
          <p:cNvSpPr/>
          <p:nvPr/>
        </p:nvSpPr>
        <p:spPr>
          <a:xfrm>
            <a:off x="1923562" y="1741749"/>
            <a:ext cx="795894" cy="795894"/>
          </a:xfrm>
          <a:prstGeom prst="ellipse">
            <a:avLst/>
          </a:prstGeom>
          <a:solidFill>
            <a:srgbClr val="F5D67D">
              <a:alpha val="20000"/>
            </a:srgbClr>
          </a:solidFill>
          <a:ln/>
        </p:spPr>
      </p:sp>
      <p:sp>
        <p:nvSpPr>
          <p:cNvPr id="7" name="Shape 5"/>
          <p:cNvSpPr/>
          <p:nvPr/>
        </p:nvSpPr>
        <p:spPr>
          <a:xfrm>
            <a:off x="2028901" y="1847088"/>
            <a:ext cx="585216" cy="585216"/>
          </a:xfrm>
          <a:prstGeom prst="ellipse">
            <a:avLst/>
          </a:prstGeom>
          <a:solidFill>
            <a:srgbClr val="161D34"/>
          </a:solidFill>
          <a:ln w="15875">
            <a:solidFill>
              <a:srgbClr val="F5D67D">
                <a:alpha val="75000"/>
              </a:srgbClr>
            </a:solidFill>
            <a:prstDash val="solid"/>
          </a:ln>
        </p:spPr>
      </p:sp>
      <p:pic>
        <p:nvPicPr>
          <p:cNvPr id="8" name="Image 0" descr="preencoded.png">    </p:cNvPr>
          <p:cNvPicPr>
            <a:picLocks noChangeAspect="1"/>
          </p:cNvPicPr>
          <p:nvPr/>
        </p:nvPicPr>
        <p:blipFill>
          <a:blip r:embed="rId1"/>
          <a:stretch>
            <a:fillRect/>
          </a:stretch>
        </p:blipFill>
        <p:spPr>
          <a:xfrm>
            <a:off x="2186910" y="2005096"/>
            <a:ext cx="269199" cy="269199"/>
          </a:xfrm>
          <a:prstGeom prst="rect">
            <a:avLst/>
          </a:prstGeom>
        </p:spPr>
      </p:pic>
      <p:sp>
        <p:nvSpPr>
          <p:cNvPr id="9" name="Text 6"/>
          <p:cNvSpPr/>
          <p:nvPr/>
        </p:nvSpPr>
        <p:spPr>
          <a:xfrm>
            <a:off x="731520" y="2542032"/>
            <a:ext cx="3179978" cy="347472"/>
          </a:xfrm>
          <a:prstGeom prst="rect">
            <a:avLst/>
          </a:prstGeom>
          <a:noFill/>
          <a:ln/>
        </p:spPr>
        <p:txBody>
          <a:bodyPr wrap="square" lIns="0" tIns="0" rIns="0" bIns="0" rtlCol="0" anchor="ctr"/>
          <a:lstStyle/>
          <a:p>
            <a:pPr algn="ctr" indent="0" marL="0">
              <a:buNone/>
            </a:pPr>
            <a:r>
              <a:rPr lang="en-US" sz="1250" b="1" dirty="0">
                <a:solidFill>
                  <a:srgbClr val="F5F6FA"/>
                </a:solidFill>
                <a:latin typeface="Arial" pitchFamily="34" charset="0"/>
                <a:ea typeface="Arial" pitchFamily="34" charset="-122"/>
                <a:cs typeface="Arial" pitchFamily="34" charset="-120"/>
              </a:rPr>
              <a:t>Ẩn danh là mặc định</a:t>
            </a:r>
            <a:endParaRPr lang="en-US" sz="1250" dirty="0"/>
          </a:p>
        </p:txBody>
      </p:sp>
      <p:sp>
        <p:nvSpPr>
          <p:cNvPr id="10" name="Text 7"/>
          <p:cNvSpPr/>
          <p:nvPr/>
        </p:nvSpPr>
        <p:spPr>
          <a:xfrm>
            <a:off x="758952" y="2880360"/>
            <a:ext cx="3125114" cy="411480"/>
          </a:xfrm>
          <a:prstGeom prst="rect">
            <a:avLst/>
          </a:prstGeom>
          <a:noFill/>
          <a:ln/>
        </p:spPr>
        <p:txBody>
          <a:bodyPr wrap="square" lIns="0" tIns="0" rIns="0" bIns="0" rtlCol="0" anchor="ctr"/>
          <a:lstStyle/>
          <a:p>
            <a:pPr algn="ctr" indent="0" marL="0">
              <a:lnSpc>
                <a:spcPct val="115000"/>
              </a:lnSpc>
              <a:buNone/>
            </a:pPr>
            <a:r>
              <a:rPr lang="en-US" sz="950" dirty="0">
                <a:solidFill>
                  <a:srgbClr val="AAB2D4"/>
                </a:solidFill>
                <a:latin typeface="Calibri" pitchFamily="34" charset="0"/>
                <a:ea typeface="Calibri" pitchFamily="34" charset="-122"/>
                <a:cs typeface="Calibri" pitchFamily="34" charset="-120"/>
              </a:rPr>
              <a:t>Không bắt buộc đăng nhập để đọc, viết hay phản hồi.</a:t>
            </a:r>
            <a:endParaRPr lang="en-US" sz="950" dirty="0"/>
          </a:p>
        </p:txBody>
      </p:sp>
      <p:sp>
        <p:nvSpPr>
          <p:cNvPr id="11" name="Shape 8"/>
          <p:cNvSpPr/>
          <p:nvPr/>
        </p:nvSpPr>
        <p:spPr>
          <a:xfrm>
            <a:off x="4368698" y="1645920"/>
            <a:ext cx="3454298" cy="1691640"/>
          </a:xfrm>
          <a:prstGeom prst="roundRect">
            <a:avLst>
              <a:gd name="adj" fmla="val 4324"/>
            </a:avLst>
          </a:prstGeom>
          <a:solidFill>
            <a:srgbClr val="161D34"/>
          </a:solidFill>
          <a:ln w="12700">
            <a:solidFill>
              <a:srgbClr val="2A3358"/>
            </a:solidFill>
            <a:prstDash val="solid"/>
          </a:ln>
        </p:spPr>
      </p:sp>
      <p:sp>
        <p:nvSpPr>
          <p:cNvPr id="12" name="Shape 9"/>
          <p:cNvSpPr/>
          <p:nvPr/>
        </p:nvSpPr>
        <p:spPr>
          <a:xfrm>
            <a:off x="5557449" y="1601297"/>
            <a:ext cx="1076797" cy="1076797"/>
          </a:xfrm>
          <a:prstGeom prst="ellipse">
            <a:avLst/>
          </a:prstGeom>
          <a:solidFill>
            <a:srgbClr val="4FD1C5">
              <a:alpha val="10000"/>
            </a:srgbClr>
          </a:solidFill>
          <a:ln/>
        </p:spPr>
      </p:sp>
      <p:sp>
        <p:nvSpPr>
          <p:cNvPr id="13" name="Shape 10"/>
          <p:cNvSpPr/>
          <p:nvPr/>
        </p:nvSpPr>
        <p:spPr>
          <a:xfrm>
            <a:off x="5697901" y="1741749"/>
            <a:ext cx="795894" cy="795894"/>
          </a:xfrm>
          <a:prstGeom prst="ellipse">
            <a:avLst/>
          </a:prstGeom>
          <a:solidFill>
            <a:srgbClr val="4FD1C5">
              <a:alpha val="20000"/>
            </a:srgbClr>
          </a:solidFill>
          <a:ln/>
        </p:spPr>
      </p:sp>
      <p:sp>
        <p:nvSpPr>
          <p:cNvPr id="14" name="Shape 11"/>
          <p:cNvSpPr/>
          <p:nvPr/>
        </p:nvSpPr>
        <p:spPr>
          <a:xfrm>
            <a:off x="5803240" y="1847088"/>
            <a:ext cx="585216" cy="585216"/>
          </a:xfrm>
          <a:prstGeom prst="ellipse">
            <a:avLst/>
          </a:prstGeom>
          <a:solidFill>
            <a:srgbClr val="161D34"/>
          </a:solidFill>
          <a:ln w="15875">
            <a:solidFill>
              <a:srgbClr val="4FD1C5">
                <a:alpha val="75000"/>
              </a:srgbClr>
            </a:solidFill>
            <a:prstDash val="solid"/>
          </a:ln>
        </p:spPr>
      </p:sp>
      <p:pic>
        <p:nvPicPr>
          <p:cNvPr id="15" name="Image 1" descr="preencoded.png">    </p:cNvPr>
          <p:cNvPicPr>
            <a:picLocks noChangeAspect="1"/>
          </p:cNvPicPr>
          <p:nvPr/>
        </p:nvPicPr>
        <p:blipFill>
          <a:blip r:embed="rId2"/>
          <a:stretch>
            <a:fillRect/>
          </a:stretch>
        </p:blipFill>
        <p:spPr>
          <a:xfrm>
            <a:off x="5961248" y="2005096"/>
            <a:ext cx="269199" cy="269199"/>
          </a:xfrm>
          <a:prstGeom prst="rect">
            <a:avLst/>
          </a:prstGeom>
        </p:spPr>
      </p:pic>
      <p:sp>
        <p:nvSpPr>
          <p:cNvPr id="16" name="Text 12"/>
          <p:cNvSpPr/>
          <p:nvPr/>
        </p:nvSpPr>
        <p:spPr>
          <a:xfrm>
            <a:off x="4505858" y="2542032"/>
            <a:ext cx="3179978" cy="347472"/>
          </a:xfrm>
          <a:prstGeom prst="rect">
            <a:avLst/>
          </a:prstGeom>
          <a:noFill/>
          <a:ln/>
        </p:spPr>
        <p:txBody>
          <a:bodyPr wrap="square" lIns="0" tIns="0" rIns="0" bIns="0" rtlCol="0" anchor="ctr"/>
          <a:lstStyle/>
          <a:p>
            <a:pPr algn="ctr" indent="0" marL="0">
              <a:buNone/>
            </a:pPr>
            <a:r>
              <a:rPr lang="en-US" sz="1250" b="1" dirty="0">
                <a:solidFill>
                  <a:srgbClr val="F5F6FA"/>
                </a:solidFill>
                <a:latin typeface="Arial" pitchFamily="34" charset="0"/>
                <a:ea typeface="Arial" pitchFamily="34" charset="-122"/>
                <a:cs typeface="Arial" pitchFamily="34" charset="-120"/>
              </a:rPr>
              <a:t>Không phán xét</a:t>
            </a:r>
            <a:endParaRPr lang="en-US" sz="1250" dirty="0"/>
          </a:p>
        </p:txBody>
      </p:sp>
      <p:sp>
        <p:nvSpPr>
          <p:cNvPr id="17" name="Text 13"/>
          <p:cNvSpPr/>
          <p:nvPr/>
        </p:nvSpPr>
        <p:spPr>
          <a:xfrm>
            <a:off x="4533290" y="2880360"/>
            <a:ext cx="3125114" cy="411480"/>
          </a:xfrm>
          <a:prstGeom prst="rect">
            <a:avLst/>
          </a:prstGeom>
          <a:noFill/>
          <a:ln/>
        </p:spPr>
        <p:txBody>
          <a:bodyPr wrap="square" lIns="0" tIns="0" rIns="0" bIns="0" rtlCol="0" anchor="ctr"/>
          <a:lstStyle/>
          <a:p>
            <a:pPr algn="ctr" indent="0" marL="0">
              <a:lnSpc>
                <a:spcPct val="115000"/>
              </a:lnSpc>
              <a:buNone/>
            </a:pPr>
            <a:r>
              <a:rPr lang="en-US" sz="950" dirty="0">
                <a:solidFill>
                  <a:srgbClr val="AAB2D4"/>
                </a:solidFill>
                <a:latin typeface="Calibri" pitchFamily="34" charset="0"/>
                <a:ea typeface="Calibri" pitchFamily="34" charset="-122"/>
                <a:cs typeface="Calibri" pitchFamily="34" charset="-120"/>
              </a:rPr>
              <a:t>Không có “like/dislike” — chỉ có sự thấu cảm.</a:t>
            </a:r>
            <a:endParaRPr lang="en-US" sz="950" dirty="0"/>
          </a:p>
        </p:txBody>
      </p:sp>
      <p:sp>
        <p:nvSpPr>
          <p:cNvPr id="18" name="Shape 14"/>
          <p:cNvSpPr/>
          <p:nvPr/>
        </p:nvSpPr>
        <p:spPr>
          <a:xfrm>
            <a:off x="8143037" y="1645920"/>
            <a:ext cx="3454298" cy="1691640"/>
          </a:xfrm>
          <a:prstGeom prst="roundRect">
            <a:avLst>
              <a:gd name="adj" fmla="val 4324"/>
            </a:avLst>
          </a:prstGeom>
          <a:solidFill>
            <a:srgbClr val="161D34"/>
          </a:solidFill>
          <a:ln w="12700">
            <a:solidFill>
              <a:srgbClr val="2A3358"/>
            </a:solidFill>
            <a:prstDash val="solid"/>
          </a:ln>
        </p:spPr>
      </p:sp>
      <p:sp>
        <p:nvSpPr>
          <p:cNvPr id="19" name="Shape 15"/>
          <p:cNvSpPr/>
          <p:nvPr/>
        </p:nvSpPr>
        <p:spPr>
          <a:xfrm>
            <a:off x="9331787" y="1601297"/>
            <a:ext cx="1076797" cy="1076797"/>
          </a:xfrm>
          <a:prstGeom prst="ellipse">
            <a:avLst/>
          </a:prstGeom>
          <a:solidFill>
            <a:srgbClr val="B389F5">
              <a:alpha val="10000"/>
            </a:srgbClr>
          </a:solidFill>
          <a:ln/>
        </p:spPr>
      </p:sp>
      <p:sp>
        <p:nvSpPr>
          <p:cNvPr id="20" name="Shape 16"/>
          <p:cNvSpPr/>
          <p:nvPr/>
        </p:nvSpPr>
        <p:spPr>
          <a:xfrm>
            <a:off x="9472239" y="1741749"/>
            <a:ext cx="795894" cy="795894"/>
          </a:xfrm>
          <a:prstGeom prst="ellipse">
            <a:avLst/>
          </a:prstGeom>
          <a:solidFill>
            <a:srgbClr val="B389F5">
              <a:alpha val="20000"/>
            </a:srgbClr>
          </a:solidFill>
          <a:ln/>
        </p:spPr>
      </p:sp>
      <p:sp>
        <p:nvSpPr>
          <p:cNvPr id="21" name="Shape 17"/>
          <p:cNvSpPr/>
          <p:nvPr/>
        </p:nvSpPr>
        <p:spPr>
          <a:xfrm>
            <a:off x="9577578" y="1847088"/>
            <a:ext cx="585216" cy="585216"/>
          </a:xfrm>
          <a:prstGeom prst="ellipse">
            <a:avLst/>
          </a:prstGeom>
          <a:solidFill>
            <a:srgbClr val="161D34"/>
          </a:solidFill>
          <a:ln w="15875">
            <a:solidFill>
              <a:srgbClr val="B389F5">
                <a:alpha val="75000"/>
              </a:srgbClr>
            </a:solidFill>
            <a:prstDash val="solid"/>
          </a:ln>
        </p:spPr>
      </p:sp>
      <p:pic>
        <p:nvPicPr>
          <p:cNvPr id="22" name="Image 2" descr="preencoded.png">    </p:cNvPr>
          <p:cNvPicPr>
            <a:picLocks noChangeAspect="1"/>
          </p:cNvPicPr>
          <p:nvPr/>
        </p:nvPicPr>
        <p:blipFill>
          <a:blip r:embed="rId3"/>
          <a:stretch>
            <a:fillRect/>
          </a:stretch>
        </p:blipFill>
        <p:spPr>
          <a:xfrm>
            <a:off x="9735586" y="2005096"/>
            <a:ext cx="269199" cy="269199"/>
          </a:xfrm>
          <a:prstGeom prst="rect">
            <a:avLst/>
          </a:prstGeom>
        </p:spPr>
      </p:pic>
      <p:sp>
        <p:nvSpPr>
          <p:cNvPr id="23" name="Text 18"/>
          <p:cNvSpPr/>
          <p:nvPr/>
        </p:nvSpPr>
        <p:spPr>
          <a:xfrm>
            <a:off x="8280197" y="2542032"/>
            <a:ext cx="3179978" cy="347472"/>
          </a:xfrm>
          <a:prstGeom prst="rect">
            <a:avLst/>
          </a:prstGeom>
          <a:noFill/>
          <a:ln/>
        </p:spPr>
        <p:txBody>
          <a:bodyPr wrap="square" lIns="0" tIns="0" rIns="0" bIns="0" rtlCol="0" anchor="ctr"/>
          <a:lstStyle/>
          <a:p>
            <a:pPr algn="ctr" indent="0" marL="0">
              <a:buNone/>
            </a:pPr>
            <a:r>
              <a:rPr lang="en-US" sz="1250" b="1" dirty="0">
                <a:solidFill>
                  <a:srgbClr val="F5F6FA"/>
                </a:solidFill>
                <a:latin typeface="Arial" pitchFamily="34" charset="0"/>
                <a:ea typeface="Arial" pitchFamily="34" charset="-122"/>
                <a:cs typeface="Arial" pitchFamily="34" charset="-120"/>
              </a:rPr>
              <a:t>Buông bỏ, không lưu trữ áp lực</a:t>
            </a:r>
            <a:endParaRPr lang="en-US" sz="1250" dirty="0"/>
          </a:p>
        </p:txBody>
      </p:sp>
      <p:sp>
        <p:nvSpPr>
          <p:cNvPr id="24" name="Text 19"/>
          <p:cNvSpPr/>
          <p:nvPr/>
        </p:nvSpPr>
        <p:spPr>
          <a:xfrm>
            <a:off x="8307629" y="2880360"/>
            <a:ext cx="3125114" cy="411480"/>
          </a:xfrm>
          <a:prstGeom prst="rect">
            <a:avLst/>
          </a:prstGeom>
          <a:noFill/>
          <a:ln/>
        </p:spPr>
        <p:txBody>
          <a:bodyPr wrap="square" lIns="0" tIns="0" rIns="0" bIns="0" rtlCol="0" anchor="ctr"/>
          <a:lstStyle/>
          <a:p>
            <a:pPr algn="ctr" indent="0" marL="0">
              <a:lnSpc>
                <a:spcPct val="115000"/>
              </a:lnSpc>
              <a:buNone/>
            </a:pPr>
            <a:r>
              <a:rPr lang="en-US" sz="950" dirty="0">
                <a:solidFill>
                  <a:srgbClr val="AAB2D4"/>
                </a:solidFill>
                <a:latin typeface="Calibri" pitchFamily="34" charset="0"/>
                <a:ea typeface="Calibri" pitchFamily="34" charset="-122"/>
                <a:cs typeface="Calibri" pitchFamily="34" charset="-120"/>
              </a:rPr>
              <a:t>Viết ra rồi thả đi — nhẹ nhàng như một nghi thức.</a:t>
            </a:r>
            <a:endParaRPr lang="en-US" sz="950" dirty="0"/>
          </a:p>
        </p:txBody>
      </p:sp>
      <p:sp>
        <p:nvSpPr>
          <p:cNvPr id="25" name="Shape 20"/>
          <p:cNvSpPr/>
          <p:nvPr/>
        </p:nvSpPr>
        <p:spPr>
          <a:xfrm>
            <a:off x="594360" y="3611880"/>
            <a:ext cx="3454298" cy="1691640"/>
          </a:xfrm>
          <a:prstGeom prst="roundRect">
            <a:avLst>
              <a:gd name="adj" fmla="val 4324"/>
            </a:avLst>
          </a:prstGeom>
          <a:solidFill>
            <a:srgbClr val="161D34"/>
          </a:solidFill>
          <a:ln w="12700">
            <a:solidFill>
              <a:srgbClr val="2A3358"/>
            </a:solidFill>
            <a:prstDash val="solid"/>
          </a:ln>
        </p:spPr>
      </p:sp>
      <p:sp>
        <p:nvSpPr>
          <p:cNvPr id="26" name="Shape 21"/>
          <p:cNvSpPr/>
          <p:nvPr/>
        </p:nvSpPr>
        <p:spPr>
          <a:xfrm>
            <a:off x="1783110" y="3567257"/>
            <a:ext cx="1076797" cy="1076797"/>
          </a:xfrm>
          <a:prstGeom prst="ellipse">
            <a:avLst/>
          </a:prstGeom>
          <a:solidFill>
            <a:srgbClr val="F5D67D">
              <a:alpha val="10000"/>
            </a:srgbClr>
          </a:solidFill>
          <a:ln/>
        </p:spPr>
      </p:sp>
      <p:sp>
        <p:nvSpPr>
          <p:cNvPr id="27" name="Shape 22"/>
          <p:cNvSpPr/>
          <p:nvPr/>
        </p:nvSpPr>
        <p:spPr>
          <a:xfrm>
            <a:off x="1923562" y="3707709"/>
            <a:ext cx="795894" cy="795894"/>
          </a:xfrm>
          <a:prstGeom prst="ellipse">
            <a:avLst/>
          </a:prstGeom>
          <a:solidFill>
            <a:srgbClr val="F5D67D">
              <a:alpha val="20000"/>
            </a:srgbClr>
          </a:solidFill>
          <a:ln/>
        </p:spPr>
      </p:sp>
      <p:sp>
        <p:nvSpPr>
          <p:cNvPr id="28" name="Shape 23"/>
          <p:cNvSpPr/>
          <p:nvPr/>
        </p:nvSpPr>
        <p:spPr>
          <a:xfrm>
            <a:off x="2028901" y="3813048"/>
            <a:ext cx="585216" cy="585216"/>
          </a:xfrm>
          <a:prstGeom prst="ellipse">
            <a:avLst/>
          </a:prstGeom>
          <a:solidFill>
            <a:srgbClr val="161D34"/>
          </a:solidFill>
          <a:ln w="15875">
            <a:solidFill>
              <a:srgbClr val="F5D67D">
                <a:alpha val="75000"/>
              </a:srgbClr>
            </a:solidFill>
            <a:prstDash val="solid"/>
          </a:ln>
        </p:spPr>
      </p:sp>
      <p:pic>
        <p:nvPicPr>
          <p:cNvPr id="29" name="Image 3" descr="preencoded.png">    </p:cNvPr>
          <p:cNvPicPr>
            <a:picLocks noChangeAspect="1"/>
          </p:cNvPicPr>
          <p:nvPr/>
        </p:nvPicPr>
        <p:blipFill>
          <a:blip r:embed="rId4"/>
          <a:stretch>
            <a:fillRect/>
          </a:stretch>
        </p:blipFill>
        <p:spPr>
          <a:xfrm>
            <a:off x="2186910" y="3971056"/>
            <a:ext cx="269199" cy="269199"/>
          </a:xfrm>
          <a:prstGeom prst="rect">
            <a:avLst/>
          </a:prstGeom>
        </p:spPr>
      </p:pic>
      <p:sp>
        <p:nvSpPr>
          <p:cNvPr id="30" name="Text 24"/>
          <p:cNvSpPr/>
          <p:nvPr/>
        </p:nvSpPr>
        <p:spPr>
          <a:xfrm>
            <a:off x="731520" y="4507992"/>
            <a:ext cx="3179978" cy="347472"/>
          </a:xfrm>
          <a:prstGeom prst="rect">
            <a:avLst/>
          </a:prstGeom>
          <a:noFill/>
          <a:ln/>
        </p:spPr>
        <p:txBody>
          <a:bodyPr wrap="square" lIns="0" tIns="0" rIns="0" bIns="0" rtlCol="0" anchor="ctr"/>
          <a:lstStyle/>
          <a:p>
            <a:pPr algn="ctr" indent="0" marL="0">
              <a:buNone/>
            </a:pPr>
            <a:r>
              <a:rPr lang="en-US" sz="1250" b="1" dirty="0">
                <a:solidFill>
                  <a:srgbClr val="F5F6FA"/>
                </a:solidFill>
                <a:latin typeface="Arial" pitchFamily="34" charset="0"/>
                <a:ea typeface="Arial" pitchFamily="34" charset="-122"/>
                <a:cs typeface="Arial" pitchFamily="34" charset="-120"/>
              </a:rPr>
              <a:t>An toàn là ưu tiên số một</a:t>
            </a:r>
            <a:endParaRPr lang="en-US" sz="1250" dirty="0"/>
          </a:p>
        </p:txBody>
      </p:sp>
      <p:sp>
        <p:nvSpPr>
          <p:cNvPr id="31" name="Text 25"/>
          <p:cNvSpPr/>
          <p:nvPr/>
        </p:nvSpPr>
        <p:spPr>
          <a:xfrm>
            <a:off x="758952" y="4846320"/>
            <a:ext cx="3125114" cy="411480"/>
          </a:xfrm>
          <a:prstGeom prst="rect">
            <a:avLst/>
          </a:prstGeom>
          <a:noFill/>
          <a:ln/>
        </p:spPr>
        <p:txBody>
          <a:bodyPr wrap="square" lIns="0" tIns="0" rIns="0" bIns="0" rtlCol="0" anchor="ctr"/>
          <a:lstStyle/>
          <a:p>
            <a:pPr algn="ctr" indent="0" marL="0">
              <a:lnSpc>
                <a:spcPct val="115000"/>
              </a:lnSpc>
              <a:buNone/>
            </a:pPr>
            <a:r>
              <a:rPr lang="en-US" sz="950" dirty="0">
                <a:solidFill>
                  <a:srgbClr val="AAB2D4"/>
                </a:solidFill>
                <a:latin typeface="Calibri" pitchFamily="34" charset="0"/>
                <a:ea typeface="Calibri" pitchFamily="34" charset="-122"/>
                <a:cs typeface="Calibri" pitchFamily="34" charset="-120"/>
              </a:rPr>
              <a:t>Luôn có lối vào hỗ trợ khủng hoảng, mọi lúc.</a:t>
            </a:r>
            <a:endParaRPr lang="en-US" sz="950" dirty="0"/>
          </a:p>
        </p:txBody>
      </p:sp>
      <p:sp>
        <p:nvSpPr>
          <p:cNvPr id="32" name="Shape 26"/>
          <p:cNvSpPr/>
          <p:nvPr/>
        </p:nvSpPr>
        <p:spPr>
          <a:xfrm>
            <a:off x="4368698" y="3611880"/>
            <a:ext cx="3454298" cy="1691640"/>
          </a:xfrm>
          <a:prstGeom prst="roundRect">
            <a:avLst>
              <a:gd name="adj" fmla="val 4324"/>
            </a:avLst>
          </a:prstGeom>
          <a:solidFill>
            <a:srgbClr val="161D34"/>
          </a:solidFill>
          <a:ln w="12700">
            <a:solidFill>
              <a:srgbClr val="2A3358"/>
            </a:solidFill>
            <a:prstDash val="solid"/>
          </a:ln>
        </p:spPr>
      </p:sp>
      <p:sp>
        <p:nvSpPr>
          <p:cNvPr id="33" name="Shape 27"/>
          <p:cNvSpPr/>
          <p:nvPr/>
        </p:nvSpPr>
        <p:spPr>
          <a:xfrm>
            <a:off x="5557449" y="3567257"/>
            <a:ext cx="1076797" cy="1076797"/>
          </a:xfrm>
          <a:prstGeom prst="ellipse">
            <a:avLst/>
          </a:prstGeom>
          <a:solidFill>
            <a:srgbClr val="4FD1C5">
              <a:alpha val="10000"/>
            </a:srgbClr>
          </a:solidFill>
          <a:ln/>
        </p:spPr>
      </p:sp>
      <p:sp>
        <p:nvSpPr>
          <p:cNvPr id="34" name="Shape 28"/>
          <p:cNvSpPr/>
          <p:nvPr/>
        </p:nvSpPr>
        <p:spPr>
          <a:xfrm>
            <a:off x="5697901" y="3707709"/>
            <a:ext cx="795894" cy="795894"/>
          </a:xfrm>
          <a:prstGeom prst="ellipse">
            <a:avLst/>
          </a:prstGeom>
          <a:solidFill>
            <a:srgbClr val="4FD1C5">
              <a:alpha val="20000"/>
            </a:srgbClr>
          </a:solidFill>
          <a:ln/>
        </p:spPr>
      </p:sp>
      <p:sp>
        <p:nvSpPr>
          <p:cNvPr id="35" name="Shape 29"/>
          <p:cNvSpPr/>
          <p:nvPr/>
        </p:nvSpPr>
        <p:spPr>
          <a:xfrm>
            <a:off x="5803240" y="3813048"/>
            <a:ext cx="585216" cy="585216"/>
          </a:xfrm>
          <a:prstGeom prst="ellipse">
            <a:avLst/>
          </a:prstGeom>
          <a:solidFill>
            <a:srgbClr val="161D34"/>
          </a:solidFill>
          <a:ln w="15875">
            <a:solidFill>
              <a:srgbClr val="4FD1C5">
                <a:alpha val="75000"/>
              </a:srgbClr>
            </a:solidFill>
            <a:prstDash val="solid"/>
          </a:ln>
        </p:spPr>
      </p:sp>
      <p:pic>
        <p:nvPicPr>
          <p:cNvPr id="36" name="Image 4" descr="preencoded.png">    </p:cNvPr>
          <p:cNvPicPr>
            <a:picLocks noChangeAspect="1"/>
          </p:cNvPicPr>
          <p:nvPr/>
        </p:nvPicPr>
        <p:blipFill>
          <a:blip r:embed="rId5"/>
          <a:stretch>
            <a:fillRect/>
          </a:stretch>
        </p:blipFill>
        <p:spPr>
          <a:xfrm>
            <a:off x="5961248" y="3971056"/>
            <a:ext cx="269199" cy="269199"/>
          </a:xfrm>
          <a:prstGeom prst="rect">
            <a:avLst/>
          </a:prstGeom>
        </p:spPr>
      </p:pic>
      <p:sp>
        <p:nvSpPr>
          <p:cNvPr id="37" name="Text 30"/>
          <p:cNvSpPr/>
          <p:nvPr/>
        </p:nvSpPr>
        <p:spPr>
          <a:xfrm>
            <a:off x="4505858" y="4507992"/>
            <a:ext cx="3179978" cy="347472"/>
          </a:xfrm>
          <a:prstGeom prst="rect">
            <a:avLst/>
          </a:prstGeom>
          <a:noFill/>
          <a:ln/>
        </p:spPr>
        <p:txBody>
          <a:bodyPr wrap="square" lIns="0" tIns="0" rIns="0" bIns="0" rtlCol="0" anchor="ctr"/>
          <a:lstStyle/>
          <a:p>
            <a:pPr algn="ctr" indent="0" marL="0">
              <a:buNone/>
            </a:pPr>
            <a:r>
              <a:rPr lang="en-US" sz="1250" b="1" dirty="0">
                <a:solidFill>
                  <a:srgbClr val="F5F6FA"/>
                </a:solidFill>
                <a:latin typeface="Arial" pitchFamily="34" charset="0"/>
                <a:ea typeface="Arial" pitchFamily="34" charset="-122"/>
                <a:cs typeface="Arial" pitchFamily="34" charset="-120"/>
              </a:rPr>
              <a:t>Cộng đồng thay vì thuật toán</a:t>
            </a:r>
            <a:endParaRPr lang="en-US" sz="1250" dirty="0"/>
          </a:p>
        </p:txBody>
      </p:sp>
      <p:sp>
        <p:nvSpPr>
          <p:cNvPr id="38" name="Text 31"/>
          <p:cNvSpPr/>
          <p:nvPr/>
        </p:nvSpPr>
        <p:spPr>
          <a:xfrm>
            <a:off x="4533290" y="4846320"/>
            <a:ext cx="3125114" cy="411480"/>
          </a:xfrm>
          <a:prstGeom prst="rect">
            <a:avLst/>
          </a:prstGeom>
          <a:noFill/>
          <a:ln/>
        </p:spPr>
        <p:txBody>
          <a:bodyPr wrap="square" lIns="0" tIns="0" rIns="0" bIns="0" rtlCol="0" anchor="ctr"/>
          <a:lstStyle/>
          <a:p>
            <a:pPr algn="ctr" indent="0" marL="0">
              <a:lnSpc>
                <a:spcPct val="115000"/>
              </a:lnSpc>
              <a:buNone/>
            </a:pPr>
            <a:r>
              <a:rPr lang="en-US" sz="950" dirty="0">
                <a:solidFill>
                  <a:srgbClr val="AAB2D4"/>
                </a:solidFill>
                <a:latin typeface="Calibri" pitchFamily="34" charset="0"/>
                <a:ea typeface="Calibri" pitchFamily="34" charset="-122"/>
                <a:cs typeface="Calibri" pitchFamily="34" charset="-120"/>
              </a:rPr>
              <a:t>Phản hồi thật giữa người với người, không thao túng.</a:t>
            </a:r>
            <a:endParaRPr lang="en-US" sz="950" dirty="0"/>
          </a:p>
        </p:txBody>
      </p:sp>
      <p:sp>
        <p:nvSpPr>
          <p:cNvPr id="39" name="Shape 32"/>
          <p:cNvSpPr/>
          <p:nvPr/>
        </p:nvSpPr>
        <p:spPr>
          <a:xfrm>
            <a:off x="8143037" y="3611880"/>
            <a:ext cx="3454298" cy="1691640"/>
          </a:xfrm>
          <a:prstGeom prst="roundRect">
            <a:avLst>
              <a:gd name="adj" fmla="val 4324"/>
            </a:avLst>
          </a:prstGeom>
          <a:solidFill>
            <a:srgbClr val="161D34"/>
          </a:solidFill>
          <a:ln w="12700">
            <a:solidFill>
              <a:srgbClr val="2A3358"/>
            </a:solidFill>
            <a:prstDash val="solid"/>
          </a:ln>
        </p:spPr>
      </p:sp>
      <p:sp>
        <p:nvSpPr>
          <p:cNvPr id="40" name="Shape 33"/>
          <p:cNvSpPr/>
          <p:nvPr/>
        </p:nvSpPr>
        <p:spPr>
          <a:xfrm>
            <a:off x="9331787" y="3567257"/>
            <a:ext cx="1076797" cy="1076797"/>
          </a:xfrm>
          <a:prstGeom prst="ellipse">
            <a:avLst/>
          </a:prstGeom>
          <a:solidFill>
            <a:srgbClr val="B389F5">
              <a:alpha val="10000"/>
            </a:srgbClr>
          </a:solidFill>
          <a:ln/>
        </p:spPr>
      </p:sp>
      <p:sp>
        <p:nvSpPr>
          <p:cNvPr id="41" name="Shape 34"/>
          <p:cNvSpPr/>
          <p:nvPr/>
        </p:nvSpPr>
        <p:spPr>
          <a:xfrm>
            <a:off x="9472239" y="3707709"/>
            <a:ext cx="795894" cy="795894"/>
          </a:xfrm>
          <a:prstGeom prst="ellipse">
            <a:avLst/>
          </a:prstGeom>
          <a:solidFill>
            <a:srgbClr val="B389F5">
              <a:alpha val="20000"/>
            </a:srgbClr>
          </a:solidFill>
          <a:ln/>
        </p:spPr>
      </p:sp>
      <p:sp>
        <p:nvSpPr>
          <p:cNvPr id="42" name="Shape 35"/>
          <p:cNvSpPr/>
          <p:nvPr/>
        </p:nvSpPr>
        <p:spPr>
          <a:xfrm>
            <a:off x="9577578" y="3813048"/>
            <a:ext cx="585216" cy="585216"/>
          </a:xfrm>
          <a:prstGeom prst="ellipse">
            <a:avLst/>
          </a:prstGeom>
          <a:solidFill>
            <a:srgbClr val="161D34"/>
          </a:solidFill>
          <a:ln w="15875">
            <a:solidFill>
              <a:srgbClr val="B389F5">
                <a:alpha val="75000"/>
              </a:srgbClr>
            </a:solidFill>
            <a:prstDash val="solid"/>
          </a:ln>
        </p:spPr>
      </p:sp>
      <p:pic>
        <p:nvPicPr>
          <p:cNvPr id="43" name="Image 5" descr="preencoded.png">    </p:cNvPr>
          <p:cNvPicPr>
            <a:picLocks noChangeAspect="1"/>
          </p:cNvPicPr>
          <p:nvPr/>
        </p:nvPicPr>
        <p:blipFill>
          <a:blip r:embed="rId6"/>
          <a:stretch>
            <a:fillRect/>
          </a:stretch>
        </p:blipFill>
        <p:spPr>
          <a:xfrm>
            <a:off x="9735586" y="3971056"/>
            <a:ext cx="269199" cy="269199"/>
          </a:xfrm>
          <a:prstGeom prst="rect">
            <a:avLst/>
          </a:prstGeom>
        </p:spPr>
      </p:pic>
      <p:sp>
        <p:nvSpPr>
          <p:cNvPr id="44" name="Text 36"/>
          <p:cNvSpPr/>
          <p:nvPr/>
        </p:nvSpPr>
        <p:spPr>
          <a:xfrm>
            <a:off x="8280197" y="4507992"/>
            <a:ext cx="3179978" cy="347472"/>
          </a:xfrm>
          <a:prstGeom prst="rect">
            <a:avLst/>
          </a:prstGeom>
          <a:noFill/>
          <a:ln/>
        </p:spPr>
        <p:txBody>
          <a:bodyPr wrap="square" lIns="0" tIns="0" rIns="0" bIns="0" rtlCol="0" anchor="ctr"/>
          <a:lstStyle/>
          <a:p>
            <a:pPr algn="ctr" indent="0" marL="0">
              <a:buNone/>
            </a:pPr>
            <a:r>
              <a:rPr lang="en-US" sz="1250" b="1" dirty="0">
                <a:solidFill>
                  <a:srgbClr val="F5F6FA"/>
                </a:solidFill>
                <a:latin typeface="Arial" pitchFamily="34" charset="0"/>
                <a:ea typeface="Arial" pitchFamily="34" charset="-122"/>
                <a:cs typeface="Arial" pitchFamily="34" charset="-120"/>
              </a:rPr>
              <a:t>Thẩm mỹ chữa lành</a:t>
            </a:r>
            <a:endParaRPr lang="en-US" sz="1250" dirty="0"/>
          </a:p>
        </p:txBody>
      </p:sp>
      <p:sp>
        <p:nvSpPr>
          <p:cNvPr id="45" name="Text 37"/>
          <p:cNvSpPr/>
          <p:nvPr/>
        </p:nvSpPr>
        <p:spPr>
          <a:xfrm>
            <a:off x="8307629" y="4846320"/>
            <a:ext cx="3125114" cy="411480"/>
          </a:xfrm>
          <a:prstGeom prst="rect">
            <a:avLst/>
          </a:prstGeom>
          <a:noFill/>
          <a:ln/>
        </p:spPr>
        <p:txBody>
          <a:bodyPr wrap="square" lIns="0" tIns="0" rIns="0" bIns="0" rtlCol="0" anchor="ctr"/>
          <a:lstStyle/>
          <a:p>
            <a:pPr algn="ctr" indent="0" marL="0">
              <a:lnSpc>
                <a:spcPct val="115000"/>
              </a:lnSpc>
              <a:buNone/>
            </a:pPr>
            <a:r>
              <a:rPr lang="en-US" sz="950" dirty="0">
                <a:solidFill>
                  <a:srgbClr val="AAB2D4"/>
                </a:solidFill>
                <a:latin typeface="Calibri" pitchFamily="34" charset="0"/>
                <a:ea typeface="Calibri" pitchFamily="34" charset="-122"/>
                <a:cs typeface="Calibri" pitchFamily="34" charset="-120"/>
              </a:rPr>
              <a:t>Không gian và giọng điệu gợi sự tĩnh lặng, không lâm sàng.</a:t>
            </a:r>
            <a:endParaRPr lang="en-US" sz="950" dirty="0"/>
          </a:p>
        </p:txBody>
      </p:sp>
      <p:sp>
        <p:nvSpPr>
          <p:cNvPr id="46" name="Text 38"/>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1407836" y="1673196"/>
            <a:ext cx="36236" cy="36236"/>
          </a:xfrm>
          <a:prstGeom prst="ellipse">
            <a:avLst/>
          </a:prstGeom>
          <a:solidFill>
            <a:srgbClr val="AAB2D4">
              <a:alpha val="63000"/>
            </a:srgbClr>
          </a:solidFill>
          <a:ln/>
        </p:spPr>
      </p:sp>
      <p:sp>
        <p:nvSpPr>
          <p:cNvPr id="3" name="Shape 1"/>
          <p:cNvSpPr/>
          <p:nvPr/>
        </p:nvSpPr>
        <p:spPr>
          <a:xfrm>
            <a:off x="10714926" y="4042245"/>
            <a:ext cx="20802" cy="20802"/>
          </a:xfrm>
          <a:prstGeom prst="ellipse">
            <a:avLst/>
          </a:prstGeom>
          <a:solidFill>
            <a:srgbClr val="AAB2D4">
              <a:alpha val="64000"/>
            </a:srgbClr>
          </a:solidFill>
          <a:ln/>
        </p:spPr>
      </p:sp>
      <p:sp>
        <p:nvSpPr>
          <p:cNvPr id="4" name="Shape 2"/>
          <p:cNvSpPr/>
          <p:nvPr/>
        </p:nvSpPr>
        <p:spPr>
          <a:xfrm>
            <a:off x="8015329" y="525198"/>
            <a:ext cx="43291" cy="43291"/>
          </a:xfrm>
          <a:prstGeom prst="ellipse">
            <a:avLst/>
          </a:prstGeom>
          <a:solidFill>
            <a:srgbClr val="4FD1C5">
              <a:alpha val="61000"/>
            </a:srgbClr>
          </a:solidFill>
          <a:ln/>
        </p:spPr>
      </p:sp>
      <p:sp>
        <p:nvSpPr>
          <p:cNvPr id="5" name="Shape 3"/>
          <p:cNvSpPr/>
          <p:nvPr/>
        </p:nvSpPr>
        <p:spPr>
          <a:xfrm>
            <a:off x="1926014" y="3843220"/>
            <a:ext cx="39794" cy="39794"/>
          </a:xfrm>
          <a:prstGeom prst="ellipse">
            <a:avLst/>
          </a:prstGeom>
          <a:solidFill>
            <a:srgbClr val="4FD1C5">
              <a:alpha val="61000"/>
            </a:srgbClr>
          </a:solidFill>
          <a:ln/>
        </p:spPr>
      </p:sp>
      <p:sp>
        <p:nvSpPr>
          <p:cNvPr id="6" name="Shape 4"/>
          <p:cNvSpPr/>
          <p:nvPr/>
        </p:nvSpPr>
        <p:spPr>
          <a:xfrm>
            <a:off x="11449469" y="6651478"/>
            <a:ext cx="19891" cy="19891"/>
          </a:xfrm>
          <a:prstGeom prst="ellipse">
            <a:avLst/>
          </a:prstGeom>
          <a:solidFill>
            <a:srgbClr val="4FD1C5">
              <a:alpha val="76000"/>
            </a:srgbClr>
          </a:solidFill>
          <a:ln/>
        </p:spPr>
      </p:sp>
      <p:sp>
        <p:nvSpPr>
          <p:cNvPr id="7" name="Shape 5"/>
          <p:cNvSpPr/>
          <p:nvPr/>
        </p:nvSpPr>
        <p:spPr>
          <a:xfrm>
            <a:off x="2305959" y="2875139"/>
            <a:ext cx="48874" cy="48874"/>
          </a:xfrm>
          <a:prstGeom prst="ellipse">
            <a:avLst/>
          </a:prstGeom>
          <a:solidFill>
            <a:srgbClr val="AAB2D4">
              <a:alpha val="58000"/>
            </a:srgbClr>
          </a:solidFill>
          <a:ln/>
        </p:spPr>
      </p:sp>
      <p:sp>
        <p:nvSpPr>
          <p:cNvPr id="8" name="Shape 6"/>
          <p:cNvSpPr/>
          <p:nvPr/>
        </p:nvSpPr>
        <p:spPr>
          <a:xfrm>
            <a:off x="2077313" y="6759369"/>
            <a:ext cx="27276" cy="27276"/>
          </a:xfrm>
          <a:prstGeom prst="ellipse">
            <a:avLst/>
          </a:prstGeom>
          <a:solidFill>
            <a:srgbClr val="AAB2D4">
              <a:alpha val="63000"/>
            </a:srgbClr>
          </a:solidFill>
          <a:ln/>
        </p:spPr>
      </p:sp>
      <p:sp>
        <p:nvSpPr>
          <p:cNvPr id="9" name="Shape 7"/>
          <p:cNvSpPr/>
          <p:nvPr/>
        </p:nvSpPr>
        <p:spPr>
          <a:xfrm>
            <a:off x="4027994" y="1053336"/>
            <a:ext cx="35796" cy="35796"/>
          </a:xfrm>
          <a:prstGeom prst="ellipse">
            <a:avLst/>
          </a:prstGeom>
          <a:solidFill>
            <a:srgbClr val="4FD1C5">
              <a:alpha val="50000"/>
            </a:srgbClr>
          </a:solidFill>
          <a:ln/>
        </p:spPr>
      </p:sp>
      <p:sp>
        <p:nvSpPr>
          <p:cNvPr id="10" name="Shape 8"/>
          <p:cNvSpPr/>
          <p:nvPr/>
        </p:nvSpPr>
        <p:spPr>
          <a:xfrm>
            <a:off x="970925" y="6352205"/>
            <a:ext cx="29491" cy="29491"/>
          </a:xfrm>
          <a:prstGeom prst="ellipse">
            <a:avLst/>
          </a:prstGeom>
          <a:solidFill>
            <a:srgbClr val="AAB2D4">
              <a:alpha val="71000"/>
            </a:srgbClr>
          </a:solidFill>
          <a:ln/>
        </p:spPr>
      </p:sp>
      <p:sp>
        <p:nvSpPr>
          <p:cNvPr id="11" name="Shape 9"/>
          <p:cNvSpPr/>
          <p:nvPr/>
        </p:nvSpPr>
        <p:spPr>
          <a:xfrm>
            <a:off x="2877706" y="4135144"/>
            <a:ext cx="33352" cy="33352"/>
          </a:xfrm>
          <a:prstGeom prst="ellipse">
            <a:avLst/>
          </a:prstGeom>
          <a:solidFill>
            <a:srgbClr val="AAB2D4">
              <a:alpha val="64000"/>
            </a:srgbClr>
          </a:solidFill>
          <a:ln/>
        </p:spPr>
      </p:sp>
      <p:sp>
        <p:nvSpPr>
          <p:cNvPr id="12" name="Shape 10"/>
          <p:cNvSpPr/>
          <p:nvPr/>
        </p:nvSpPr>
        <p:spPr>
          <a:xfrm>
            <a:off x="1658171" y="1535318"/>
            <a:ext cx="39181" cy="39181"/>
          </a:xfrm>
          <a:prstGeom prst="ellipse">
            <a:avLst/>
          </a:prstGeom>
          <a:solidFill>
            <a:srgbClr val="AAB2D4">
              <a:alpha val="62000"/>
            </a:srgbClr>
          </a:solidFill>
          <a:ln/>
        </p:spPr>
      </p:sp>
      <p:sp>
        <p:nvSpPr>
          <p:cNvPr id="13" name="Shape 11"/>
          <p:cNvSpPr/>
          <p:nvPr/>
        </p:nvSpPr>
        <p:spPr>
          <a:xfrm>
            <a:off x="5026200" y="4669896"/>
            <a:ext cx="19813" cy="19813"/>
          </a:xfrm>
          <a:prstGeom prst="ellipse">
            <a:avLst/>
          </a:prstGeom>
          <a:solidFill>
            <a:srgbClr val="F5D67D">
              <a:alpha val="55000"/>
            </a:srgbClr>
          </a:solidFill>
          <a:ln/>
        </p:spPr>
      </p:sp>
      <p:sp>
        <p:nvSpPr>
          <p:cNvPr id="14" name="Shape 12"/>
          <p:cNvSpPr/>
          <p:nvPr/>
        </p:nvSpPr>
        <p:spPr>
          <a:xfrm>
            <a:off x="5343169" y="3400043"/>
            <a:ext cx="28687" cy="28687"/>
          </a:xfrm>
          <a:prstGeom prst="ellipse">
            <a:avLst/>
          </a:prstGeom>
          <a:solidFill>
            <a:srgbClr val="AAB2D4">
              <a:alpha val="63000"/>
            </a:srgbClr>
          </a:solidFill>
          <a:ln/>
        </p:spPr>
      </p:sp>
      <p:sp>
        <p:nvSpPr>
          <p:cNvPr id="15" name="Shape 13"/>
          <p:cNvSpPr/>
          <p:nvPr/>
        </p:nvSpPr>
        <p:spPr>
          <a:xfrm>
            <a:off x="5355974" y="1810926"/>
            <a:ext cx="32713" cy="32713"/>
          </a:xfrm>
          <a:prstGeom prst="ellipse">
            <a:avLst/>
          </a:prstGeom>
          <a:solidFill>
            <a:srgbClr val="AAB2D4">
              <a:alpha val="71000"/>
            </a:srgbClr>
          </a:solidFill>
          <a:ln/>
        </p:spPr>
      </p:sp>
      <p:sp>
        <p:nvSpPr>
          <p:cNvPr id="16" name="Shape 14"/>
          <p:cNvSpPr/>
          <p:nvPr/>
        </p:nvSpPr>
        <p:spPr>
          <a:xfrm>
            <a:off x="3296064" y="5257712"/>
            <a:ext cx="22507" cy="22507"/>
          </a:xfrm>
          <a:prstGeom prst="ellipse">
            <a:avLst/>
          </a:prstGeom>
          <a:solidFill>
            <a:srgbClr val="AAB2D4">
              <a:alpha val="46000"/>
            </a:srgbClr>
          </a:solidFill>
          <a:ln/>
        </p:spPr>
      </p:sp>
      <p:sp>
        <p:nvSpPr>
          <p:cNvPr id="17" name="Shape 15"/>
          <p:cNvSpPr/>
          <p:nvPr/>
        </p:nvSpPr>
        <p:spPr>
          <a:xfrm>
            <a:off x="10489676" y="5125567"/>
            <a:ext cx="47951" cy="47951"/>
          </a:xfrm>
          <a:prstGeom prst="ellipse">
            <a:avLst/>
          </a:prstGeom>
          <a:solidFill>
            <a:srgbClr val="AAB2D4">
              <a:alpha val="55000"/>
            </a:srgbClr>
          </a:solidFill>
          <a:ln/>
        </p:spPr>
      </p:sp>
      <p:sp>
        <p:nvSpPr>
          <p:cNvPr id="18" name="Shape 16"/>
          <p:cNvSpPr/>
          <p:nvPr/>
        </p:nvSpPr>
        <p:spPr>
          <a:xfrm>
            <a:off x="3945682" y="2451659"/>
            <a:ext cx="19059" cy="19059"/>
          </a:xfrm>
          <a:prstGeom prst="ellipse">
            <a:avLst/>
          </a:prstGeom>
          <a:solidFill>
            <a:srgbClr val="AAB2D4">
              <a:alpha val="72000"/>
            </a:srgbClr>
          </a:solidFill>
          <a:ln/>
        </p:spPr>
      </p:sp>
      <p:sp>
        <p:nvSpPr>
          <p:cNvPr id="19" name="Shape 17"/>
          <p:cNvSpPr/>
          <p:nvPr/>
        </p:nvSpPr>
        <p:spPr>
          <a:xfrm>
            <a:off x="8988187" y="1829153"/>
            <a:ext cx="40239" cy="40239"/>
          </a:xfrm>
          <a:prstGeom prst="ellipse">
            <a:avLst/>
          </a:prstGeom>
          <a:solidFill>
            <a:srgbClr val="AAB2D4">
              <a:alpha val="42000"/>
            </a:srgbClr>
          </a:solidFill>
          <a:ln/>
        </p:spPr>
      </p:sp>
      <p:sp>
        <p:nvSpPr>
          <p:cNvPr id="20" name="Text 18"/>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02 · Ý NGHĨA THIẾT KẾ</a:t>
            </a:r>
            <a:endParaRPr lang="en-US" sz="1200" dirty="0"/>
          </a:p>
        </p:txBody>
      </p:sp>
      <p:sp>
        <p:nvSpPr>
          <p:cNvPr id="21" name="Text 19"/>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Vì sao là “Solace”?</a:t>
            </a:r>
            <a:endParaRPr lang="en-US" sz="3000" dirty="0"/>
          </a:p>
        </p:txBody>
      </p:sp>
      <p:sp>
        <p:nvSpPr>
          <p:cNvPr id="22" name="Shape 20"/>
          <p:cNvSpPr/>
          <p:nvPr/>
        </p:nvSpPr>
        <p:spPr>
          <a:xfrm>
            <a:off x="594360" y="1737360"/>
            <a:ext cx="11002975" cy="1051560"/>
          </a:xfrm>
          <a:prstGeom prst="roundRect">
            <a:avLst>
              <a:gd name="adj" fmla="val 8696"/>
            </a:avLst>
          </a:prstGeom>
          <a:solidFill>
            <a:srgbClr val="161D34"/>
          </a:solidFill>
          <a:ln w="12700">
            <a:solidFill>
              <a:srgbClr val="2A3358"/>
            </a:solidFill>
            <a:prstDash val="solid"/>
          </a:ln>
        </p:spPr>
      </p:sp>
      <p:sp>
        <p:nvSpPr>
          <p:cNvPr id="23" name="Text 21"/>
          <p:cNvSpPr/>
          <p:nvPr/>
        </p:nvSpPr>
        <p:spPr>
          <a:xfrm>
            <a:off x="960120" y="1965960"/>
            <a:ext cx="10271455" cy="594360"/>
          </a:xfrm>
          <a:prstGeom prst="rect">
            <a:avLst/>
          </a:prstGeom>
          <a:noFill/>
          <a:ln/>
        </p:spPr>
        <p:txBody>
          <a:bodyPr wrap="square" lIns="0" tIns="0" rIns="0" bIns="0" rtlCol="0" anchor="ctr"/>
          <a:lstStyle/>
          <a:p>
            <a:pPr algn="ctr" indent="0" marL="0">
              <a:buNone/>
            </a:pPr>
            <a:r>
              <a:rPr lang="en-US" sz="1700" b="1" i="1" dirty="0">
                <a:solidFill>
                  <a:srgbClr val="F5D67D"/>
                </a:solidFill>
                <a:latin typeface="Arial" pitchFamily="34" charset="0"/>
                <a:ea typeface="Arial" pitchFamily="34" charset="-122"/>
                <a:cs typeface="Arial" pitchFamily="34" charset="-120"/>
              </a:rPr>
              <a:t>“Solace”  (n.)  —  sự an ủi, niềm khuây khoả trong lúc đau buồn hoặc phiền muộn</a:t>
            </a:r>
            <a:endParaRPr lang="en-US" sz="1700" dirty="0"/>
          </a:p>
        </p:txBody>
      </p:sp>
      <p:sp>
        <p:nvSpPr>
          <p:cNvPr id="24" name="Text 22"/>
          <p:cNvSpPr/>
          <p:nvPr/>
        </p:nvSpPr>
        <p:spPr>
          <a:xfrm>
            <a:off x="594360" y="3063240"/>
            <a:ext cx="3423818" cy="685800"/>
          </a:xfrm>
          <a:prstGeom prst="rect">
            <a:avLst/>
          </a:prstGeom>
          <a:noFill/>
          <a:ln/>
        </p:spPr>
        <p:txBody>
          <a:bodyPr wrap="square" lIns="0" tIns="0" rIns="0" bIns="0" rtlCol="0" anchor="ctr"/>
          <a:lstStyle/>
          <a:p>
            <a:pPr indent="0" marL="0">
              <a:lnSpc>
                <a:spcPct val="110000"/>
              </a:lnSpc>
              <a:buNone/>
            </a:pPr>
            <a:r>
              <a:rPr lang="en-US" sz="1350" b="1" dirty="0">
                <a:solidFill>
                  <a:srgbClr val="F5F6FA"/>
                </a:solidFill>
                <a:latin typeface="Arial" pitchFamily="34" charset="0"/>
                <a:ea typeface="Arial" pitchFamily="34" charset="-122"/>
                <a:cs typeface="Arial" pitchFamily="34" charset="-120"/>
              </a:rPr>
              <a:t>Từ “Trạm Phát Sáng” đến “Solace”</a:t>
            </a:r>
            <a:endParaRPr lang="en-US" sz="1350" dirty="0"/>
          </a:p>
        </p:txBody>
      </p:sp>
      <p:sp>
        <p:nvSpPr>
          <p:cNvPr id="25" name="Text 23"/>
          <p:cNvSpPr/>
          <p:nvPr/>
        </p:nvSpPr>
        <p:spPr>
          <a:xfrm>
            <a:off x="594360" y="3794760"/>
            <a:ext cx="3423818" cy="1828800"/>
          </a:xfrm>
          <a:prstGeom prst="rect">
            <a:avLst/>
          </a:prstGeom>
          <a:noFill/>
          <a:ln/>
        </p:spPr>
        <p:txBody>
          <a:bodyPr wrap="square" lIns="0" tIns="0" rIns="0" bIns="0" rtlCol="0" anchor="ctr"/>
          <a:lstStyle/>
          <a:p>
            <a:pPr indent="0" marL="0">
              <a:lnSpc>
                <a:spcPct val="130000"/>
              </a:lnSpc>
              <a:buNone/>
            </a:pPr>
            <a:r>
              <a:rPr lang="en-US" sz="1150" dirty="0">
                <a:solidFill>
                  <a:srgbClr val="AAB2D4"/>
                </a:solidFill>
                <a:latin typeface="Calibri" pitchFamily="34" charset="0"/>
                <a:ea typeface="Calibri" pitchFamily="34" charset="-122"/>
                <a:cs typeface="Calibri" pitchFamily="34" charset="-120"/>
              </a:rPr>
              <a:t>Tên gọi ban đầu gợi hình ảnh cụ thể (trạm, ánh sáng); “Solace” chuyển trọng tâm sang cảm giác — sự an ủi, thay vì một địa điểm.</a:t>
            </a:r>
            <a:endParaRPr lang="en-US" sz="1150" dirty="0"/>
          </a:p>
        </p:txBody>
      </p:sp>
      <p:sp>
        <p:nvSpPr>
          <p:cNvPr id="26" name="Text 24"/>
          <p:cNvSpPr/>
          <p:nvPr/>
        </p:nvSpPr>
        <p:spPr>
          <a:xfrm>
            <a:off x="4383938" y="3063240"/>
            <a:ext cx="3423818" cy="685800"/>
          </a:xfrm>
          <a:prstGeom prst="rect">
            <a:avLst/>
          </a:prstGeom>
          <a:noFill/>
          <a:ln/>
        </p:spPr>
        <p:txBody>
          <a:bodyPr wrap="square" lIns="0" tIns="0" rIns="0" bIns="0" rtlCol="0" anchor="ctr"/>
          <a:lstStyle/>
          <a:p>
            <a:pPr indent="0" marL="0">
              <a:lnSpc>
                <a:spcPct val="110000"/>
              </a:lnSpc>
              <a:buNone/>
            </a:pPr>
            <a:r>
              <a:rPr lang="en-US" sz="1350" b="1" dirty="0">
                <a:solidFill>
                  <a:srgbClr val="F5F6FA"/>
                </a:solidFill>
                <a:latin typeface="Arial" pitchFamily="34" charset="0"/>
                <a:ea typeface="Arial" pitchFamily="34" charset="-122"/>
                <a:cs typeface="Arial" pitchFamily="34" charset="-120"/>
              </a:rPr>
              <a:t>Một từ, một lời hứa</a:t>
            </a:r>
            <a:endParaRPr lang="en-US" sz="1350" dirty="0"/>
          </a:p>
        </p:txBody>
      </p:sp>
      <p:sp>
        <p:nvSpPr>
          <p:cNvPr id="27" name="Text 25"/>
          <p:cNvSpPr/>
          <p:nvPr/>
        </p:nvSpPr>
        <p:spPr>
          <a:xfrm>
            <a:off x="4383938" y="3794760"/>
            <a:ext cx="3423818" cy="1828800"/>
          </a:xfrm>
          <a:prstGeom prst="rect">
            <a:avLst/>
          </a:prstGeom>
          <a:noFill/>
          <a:ln/>
        </p:spPr>
        <p:txBody>
          <a:bodyPr wrap="square" lIns="0" tIns="0" rIns="0" bIns="0" rtlCol="0" anchor="ctr"/>
          <a:lstStyle/>
          <a:p>
            <a:pPr indent="0" marL="0">
              <a:lnSpc>
                <a:spcPct val="130000"/>
              </a:lnSpc>
              <a:buNone/>
            </a:pPr>
            <a:r>
              <a:rPr lang="en-US" sz="1150" dirty="0">
                <a:solidFill>
                  <a:srgbClr val="AAB2D4"/>
                </a:solidFill>
                <a:latin typeface="Calibri" pitchFamily="34" charset="0"/>
                <a:ea typeface="Calibri" pitchFamily="34" charset="-122"/>
                <a:cs typeface="Calibri" pitchFamily="34" charset="-120"/>
              </a:rPr>
              <a:t>Solace không hứa “chữa khỏi” — chỉ hứa một khoảnh khắc được lắng nghe. Đúng với vai trò thực của sản phẩm: bạn đồng hành, không thay thế trị liệu.</a:t>
            </a:r>
            <a:endParaRPr lang="en-US" sz="1150" dirty="0"/>
          </a:p>
        </p:txBody>
      </p:sp>
      <p:sp>
        <p:nvSpPr>
          <p:cNvPr id="28" name="Text 26"/>
          <p:cNvSpPr/>
          <p:nvPr/>
        </p:nvSpPr>
        <p:spPr>
          <a:xfrm>
            <a:off x="8173517" y="3063240"/>
            <a:ext cx="3423818" cy="685800"/>
          </a:xfrm>
          <a:prstGeom prst="rect">
            <a:avLst/>
          </a:prstGeom>
          <a:noFill/>
          <a:ln/>
        </p:spPr>
        <p:txBody>
          <a:bodyPr wrap="square" lIns="0" tIns="0" rIns="0" bIns="0" rtlCol="0" anchor="ctr"/>
          <a:lstStyle/>
          <a:p>
            <a:pPr indent="0" marL="0">
              <a:lnSpc>
                <a:spcPct val="110000"/>
              </a:lnSpc>
              <a:buNone/>
            </a:pPr>
            <a:r>
              <a:rPr lang="en-US" sz="1350" b="1" dirty="0">
                <a:solidFill>
                  <a:srgbClr val="F5F6FA"/>
                </a:solidFill>
                <a:latin typeface="Arial" pitchFamily="34" charset="0"/>
                <a:ea typeface="Arial" pitchFamily="34" charset="-122"/>
                <a:cs typeface="Arial" pitchFamily="34" charset="-120"/>
              </a:rPr>
              <a:t>Tagline: “Nơi nỗi lòng được cất giữ”</a:t>
            </a:r>
            <a:endParaRPr lang="en-US" sz="1350" dirty="0"/>
          </a:p>
        </p:txBody>
      </p:sp>
      <p:sp>
        <p:nvSpPr>
          <p:cNvPr id="29" name="Text 27"/>
          <p:cNvSpPr/>
          <p:nvPr/>
        </p:nvSpPr>
        <p:spPr>
          <a:xfrm>
            <a:off x="8173517" y="3794760"/>
            <a:ext cx="3423818" cy="1828800"/>
          </a:xfrm>
          <a:prstGeom prst="rect">
            <a:avLst/>
          </a:prstGeom>
          <a:noFill/>
          <a:ln/>
        </p:spPr>
        <p:txBody>
          <a:bodyPr wrap="square" lIns="0" tIns="0" rIns="0" bIns="0" rtlCol="0" anchor="ctr"/>
          <a:lstStyle/>
          <a:p>
            <a:pPr indent="0" marL="0">
              <a:lnSpc>
                <a:spcPct val="130000"/>
              </a:lnSpc>
              <a:buNone/>
            </a:pPr>
            <a:r>
              <a:rPr lang="en-US" sz="1150" dirty="0">
                <a:solidFill>
                  <a:srgbClr val="AAB2D4"/>
                </a:solidFill>
                <a:latin typeface="Calibri" pitchFamily="34" charset="0"/>
                <a:ea typeface="Calibri" pitchFamily="34" charset="-122"/>
                <a:cs typeface="Calibri" pitchFamily="34" charset="-120"/>
              </a:rPr>
              <a:t>“Cất giữ” — không phải xoá bỏ. Cảm xúc được trân trọng, giữ gìn nhẹ nhàng, rồi khi sẵn sàng, được thả đi.</a:t>
            </a:r>
            <a:endParaRPr lang="en-US" sz="1150" dirty="0"/>
          </a:p>
        </p:txBody>
      </p:sp>
      <p:sp>
        <p:nvSpPr>
          <p:cNvPr id="30" name="Text 28"/>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02 · Ý NGHĨA THIẾT KẾ</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Vì sao là Bầu trời &amp; Đại dương?</a:t>
            </a:r>
            <a:endParaRPr lang="en-US" sz="3000" dirty="0"/>
          </a:p>
        </p:txBody>
      </p:sp>
      <p:sp>
        <p:nvSpPr>
          <p:cNvPr id="4" name="Text 2"/>
          <p:cNvSpPr/>
          <p:nvPr/>
        </p:nvSpPr>
        <p:spPr>
          <a:xfrm>
            <a:off x="594360" y="1481328"/>
            <a:ext cx="11002975" cy="411480"/>
          </a:xfrm>
          <a:prstGeom prst="rect">
            <a:avLst/>
          </a:prstGeom>
          <a:noFill/>
          <a:ln/>
        </p:spPr>
        <p:txBody>
          <a:bodyPr wrap="square" lIns="0" tIns="0" rIns="0" bIns="0" rtlCol="0" anchor="ctr"/>
          <a:lstStyle/>
          <a:p>
            <a:pPr indent="0" marL="0">
              <a:buNone/>
            </a:pPr>
            <a:r>
              <a:rPr lang="en-US" sz="1200" i="1" dirty="0">
                <a:solidFill>
                  <a:srgbClr val="747CA3"/>
                </a:solidFill>
                <a:latin typeface="Calibri" pitchFamily="34" charset="0"/>
                <a:ea typeface="Calibri" pitchFamily="34" charset="-122"/>
                <a:cs typeface="Calibri" pitchFamily="34" charset="-120"/>
              </a:rPr>
              <a:t>Hai không gian ẩn dụ xuyên suốt sản phẩm — không phải trang trí, mà là ngôn ngữ trị liệu: mỗi không gian tương ứng với một cách xử lý cảm xúc khác nhau.</a:t>
            </a:r>
            <a:endParaRPr lang="en-US" sz="1200" dirty="0"/>
          </a:p>
        </p:txBody>
      </p:sp>
      <p:sp>
        <p:nvSpPr>
          <p:cNvPr id="5" name="Shape 3"/>
          <p:cNvSpPr/>
          <p:nvPr/>
        </p:nvSpPr>
        <p:spPr>
          <a:xfrm>
            <a:off x="594360" y="2011680"/>
            <a:ext cx="5318608" cy="3977640"/>
          </a:xfrm>
          <a:prstGeom prst="roundRect">
            <a:avLst>
              <a:gd name="adj" fmla="val 2299"/>
            </a:avLst>
          </a:prstGeom>
          <a:solidFill>
            <a:srgbClr val="161D34"/>
          </a:solidFill>
          <a:ln w="12700">
            <a:solidFill>
              <a:srgbClr val="F5D67D">
                <a:alpha val="45000"/>
              </a:srgbClr>
            </a:solidFill>
            <a:prstDash val="solid"/>
          </a:ln>
        </p:spPr>
      </p:sp>
      <p:sp>
        <p:nvSpPr>
          <p:cNvPr id="6" name="Shape 4"/>
          <p:cNvSpPr/>
          <p:nvPr/>
        </p:nvSpPr>
        <p:spPr>
          <a:xfrm>
            <a:off x="672084" y="1997964"/>
            <a:ext cx="1261872" cy="1261872"/>
          </a:xfrm>
          <a:prstGeom prst="ellipse">
            <a:avLst/>
          </a:prstGeom>
          <a:solidFill>
            <a:srgbClr val="F5D67D">
              <a:alpha val="10000"/>
            </a:srgbClr>
          </a:solidFill>
          <a:ln/>
        </p:spPr>
      </p:sp>
      <p:sp>
        <p:nvSpPr>
          <p:cNvPr id="7" name="Shape 5"/>
          <p:cNvSpPr/>
          <p:nvPr/>
        </p:nvSpPr>
        <p:spPr>
          <a:xfrm>
            <a:off x="836676" y="2162556"/>
            <a:ext cx="932688" cy="932688"/>
          </a:xfrm>
          <a:prstGeom prst="ellipse">
            <a:avLst/>
          </a:prstGeom>
          <a:solidFill>
            <a:srgbClr val="F5D67D">
              <a:alpha val="20000"/>
            </a:srgbClr>
          </a:solidFill>
          <a:ln/>
        </p:spPr>
      </p:sp>
      <p:sp>
        <p:nvSpPr>
          <p:cNvPr id="8" name="Shape 6"/>
          <p:cNvSpPr/>
          <p:nvPr/>
        </p:nvSpPr>
        <p:spPr>
          <a:xfrm>
            <a:off x="960120" y="2286000"/>
            <a:ext cx="685800" cy="685800"/>
          </a:xfrm>
          <a:prstGeom prst="ellipse">
            <a:avLst/>
          </a:prstGeom>
          <a:solidFill>
            <a:srgbClr val="161D34"/>
          </a:solidFill>
          <a:ln w="15875">
            <a:solidFill>
              <a:srgbClr val="F5D67D">
                <a:alpha val="75000"/>
              </a:srgbClr>
            </a:solidFill>
            <a:prstDash val="solid"/>
          </a:ln>
        </p:spPr>
      </p:sp>
      <p:pic>
        <p:nvPicPr>
          <p:cNvPr id="9" name="Image 0" descr="preencoded.png">    </p:cNvPr>
          <p:cNvPicPr>
            <a:picLocks noChangeAspect="1"/>
          </p:cNvPicPr>
          <p:nvPr/>
        </p:nvPicPr>
        <p:blipFill>
          <a:blip r:embed="rId1"/>
          <a:stretch>
            <a:fillRect/>
          </a:stretch>
        </p:blipFill>
        <p:spPr>
          <a:xfrm>
            <a:off x="1145286" y="2471166"/>
            <a:ext cx="315468" cy="315468"/>
          </a:xfrm>
          <a:prstGeom prst="rect">
            <a:avLst/>
          </a:prstGeom>
        </p:spPr>
      </p:pic>
      <p:sp>
        <p:nvSpPr>
          <p:cNvPr id="10" name="Text 7"/>
          <p:cNvSpPr/>
          <p:nvPr/>
        </p:nvSpPr>
        <p:spPr>
          <a:xfrm>
            <a:off x="1828800" y="2331720"/>
            <a:ext cx="3855568" cy="411480"/>
          </a:xfrm>
          <a:prstGeom prst="rect">
            <a:avLst/>
          </a:prstGeom>
          <a:noFill/>
          <a:ln/>
        </p:spPr>
        <p:txBody>
          <a:bodyPr wrap="square" lIns="0" tIns="0" rIns="0" bIns="0" rtlCol="0" anchor="ctr"/>
          <a:lstStyle/>
          <a:p>
            <a:pPr indent="0" marL="0">
              <a:buNone/>
            </a:pPr>
            <a:r>
              <a:rPr lang="en-US" sz="1800" b="1" dirty="0">
                <a:solidFill>
                  <a:srgbClr val="F5F6FA"/>
                </a:solidFill>
                <a:latin typeface="Arial" pitchFamily="34" charset="0"/>
                <a:ea typeface="Arial" pitchFamily="34" charset="-122"/>
                <a:cs typeface="Arial" pitchFamily="34" charset="-120"/>
              </a:rPr>
              <a:t>Bầu trời</a:t>
            </a:r>
            <a:endParaRPr lang="en-US" sz="1800" dirty="0"/>
          </a:p>
        </p:txBody>
      </p:sp>
      <p:sp>
        <p:nvSpPr>
          <p:cNvPr id="11" name="Text 8"/>
          <p:cNvSpPr/>
          <p:nvPr/>
        </p:nvSpPr>
        <p:spPr>
          <a:xfrm>
            <a:off x="1828800" y="2724912"/>
            <a:ext cx="3855568" cy="320040"/>
          </a:xfrm>
          <a:prstGeom prst="rect">
            <a:avLst/>
          </a:prstGeom>
          <a:noFill/>
          <a:ln/>
        </p:spPr>
        <p:txBody>
          <a:bodyPr wrap="square" lIns="0" tIns="0" rIns="0" bIns="0" rtlCol="0" anchor="ctr"/>
          <a:lstStyle/>
          <a:p>
            <a:pPr indent="0" marL="0">
              <a:buNone/>
            </a:pPr>
            <a:r>
              <a:rPr lang="en-US" sz="1100" dirty="0">
                <a:solidFill>
                  <a:srgbClr val="F5D67D"/>
                </a:solidFill>
                <a:latin typeface="Calibri" pitchFamily="34" charset="0"/>
                <a:ea typeface="Calibri" pitchFamily="34" charset="-122"/>
                <a:cs typeface="Calibri" pitchFamily="34" charset="-120"/>
              </a:rPr>
              <a:t>Hướng lên · Giải phóng</a:t>
            </a:r>
            <a:endParaRPr lang="en-US" sz="1100" dirty="0"/>
          </a:p>
        </p:txBody>
      </p:sp>
      <p:sp>
        <p:nvSpPr>
          <p:cNvPr id="12" name="Text 9"/>
          <p:cNvSpPr/>
          <p:nvPr/>
        </p:nvSpPr>
        <p:spPr>
          <a:xfrm>
            <a:off x="960120" y="3200400"/>
            <a:ext cx="4587088" cy="2651760"/>
          </a:xfrm>
          <a:prstGeom prst="rect">
            <a:avLst/>
          </a:prstGeom>
          <a:noFill/>
          <a:ln/>
        </p:spPr>
        <p:txBody>
          <a:bodyPr wrap="square" lIns="0" tIns="0" rIns="0" bIns="0" rtlCol="0" anchor="ctr"/>
          <a:lstStyle/>
          <a:p>
            <a:pPr indent="0" marL="0">
              <a:lnSpc>
                <a:spcPct val="132000"/>
              </a:lnSpc>
              <a:buNone/>
            </a:pPr>
            <a:r>
              <a:rPr lang="en-US" sz="1200" dirty="0">
                <a:solidFill>
                  <a:srgbClr val="AAB2D4"/>
                </a:solidFill>
                <a:latin typeface="Calibri" pitchFamily="34" charset="0"/>
                <a:ea typeface="Calibri" pitchFamily="34" charset="-122"/>
                <a:cs typeface="Calibri" pitchFamily="34" charset="-120"/>
              </a:rPr>
              <a:t>Mỗi câu chuyện là một ngôi sao trong bầu trời chung. Viết ra và thả lên bầu trời nghĩa là để điều khó nói được tồn tại ngoài kia — không biến mất, nhưng không còn đè nặng trong lòng. Ánh sao gợi hy vọng: điều bạn trải qua có thể lấp lánh thay vì chỉ là gánh nặng, và người khác có thể “ngước lên” bắt gặp, đồng cảm.</a:t>
            </a:r>
            <a:endParaRPr lang="en-US" sz="1200" dirty="0"/>
          </a:p>
        </p:txBody>
      </p:sp>
      <p:sp>
        <p:nvSpPr>
          <p:cNvPr id="13" name="Shape 10"/>
          <p:cNvSpPr/>
          <p:nvPr/>
        </p:nvSpPr>
        <p:spPr>
          <a:xfrm>
            <a:off x="6278728" y="2011680"/>
            <a:ext cx="5318608" cy="3977640"/>
          </a:xfrm>
          <a:prstGeom prst="roundRect">
            <a:avLst>
              <a:gd name="adj" fmla="val 2299"/>
            </a:avLst>
          </a:prstGeom>
          <a:solidFill>
            <a:srgbClr val="161D34"/>
          </a:solidFill>
          <a:ln w="12700">
            <a:solidFill>
              <a:srgbClr val="4FD1C5">
                <a:alpha val="45000"/>
              </a:srgbClr>
            </a:solidFill>
            <a:prstDash val="solid"/>
          </a:ln>
        </p:spPr>
      </p:sp>
      <p:sp>
        <p:nvSpPr>
          <p:cNvPr id="14" name="Shape 11"/>
          <p:cNvSpPr/>
          <p:nvPr/>
        </p:nvSpPr>
        <p:spPr>
          <a:xfrm>
            <a:off x="6356452" y="1997964"/>
            <a:ext cx="1261872" cy="1261872"/>
          </a:xfrm>
          <a:prstGeom prst="ellipse">
            <a:avLst/>
          </a:prstGeom>
          <a:solidFill>
            <a:srgbClr val="4FD1C5">
              <a:alpha val="10000"/>
            </a:srgbClr>
          </a:solidFill>
          <a:ln/>
        </p:spPr>
      </p:sp>
      <p:sp>
        <p:nvSpPr>
          <p:cNvPr id="15" name="Shape 12"/>
          <p:cNvSpPr/>
          <p:nvPr/>
        </p:nvSpPr>
        <p:spPr>
          <a:xfrm>
            <a:off x="6521044" y="2162556"/>
            <a:ext cx="932688" cy="932688"/>
          </a:xfrm>
          <a:prstGeom prst="ellipse">
            <a:avLst/>
          </a:prstGeom>
          <a:solidFill>
            <a:srgbClr val="4FD1C5">
              <a:alpha val="20000"/>
            </a:srgbClr>
          </a:solidFill>
          <a:ln/>
        </p:spPr>
      </p:sp>
      <p:sp>
        <p:nvSpPr>
          <p:cNvPr id="16" name="Shape 13"/>
          <p:cNvSpPr/>
          <p:nvPr/>
        </p:nvSpPr>
        <p:spPr>
          <a:xfrm>
            <a:off x="6644488" y="2286000"/>
            <a:ext cx="685800" cy="685800"/>
          </a:xfrm>
          <a:prstGeom prst="ellipse">
            <a:avLst/>
          </a:prstGeom>
          <a:solidFill>
            <a:srgbClr val="161D34"/>
          </a:solidFill>
          <a:ln w="15875">
            <a:solidFill>
              <a:srgbClr val="4FD1C5">
                <a:alpha val="75000"/>
              </a:srgbClr>
            </a:solidFill>
            <a:prstDash val="solid"/>
          </a:ln>
        </p:spPr>
      </p:sp>
      <p:pic>
        <p:nvPicPr>
          <p:cNvPr id="17" name="Image 1" descr="preencoded.png">    </p:cNvPr>
          <p:cNvPicPr>
            <a:picLocks noChangeAspect="1"/>
          </p:cNvPicPr>
          <p:nvPr/>
        </p:nvPicPr>
        <p:blipFill>
          <a:blip r:embed="rId2"/>
          <a:stretch>
            <a:fillRect/>
          </a:stretch>
        </p:blipFill>
        <p:spPr>
          <a:xfrm>
            <a:off x="6829654" y="2471166"/>
            <a:ext cx="315468" cy="315468"/>
          </a:xfrm>
          <a:prstGeom prst="rect">
            <a:avLst/>
          </a:prstGeom>
        </p:spPr>
      </p:pic>
      <p:sp>
        <p:nvSpPr>
          <p:cNvPr id="18" name="Text 14"/>
          <p:cNvSpPr/>
          <p:nvPr/>
        </p:nvSpPr>
        <p:spPr>
          <a:xfrm>
            <a:off x="7513168" y="2331720"/>
            <a:ext cx="3855568" cy="411480"/>
          </a:xfrm>
          <a:prstGeom prst="rect">
            <a:avLst/>
          </a:prstGeom>
          <a:noFill/>
          <a:ln/>
        </p:spPr>
        <p:txBody>
          <a:bodyPr wrap="square" lIns="0" tIns="0" rIns="0" bIns="0" rtlCol="0" anchor="ctr"/>
          <a:lstStyle/>
          <a:p>
            <a:pPr indent="0" marL="0">
              <a:buNone/>
            </a:pPr>
            <a:r>
              <a:rPr lang="en-US" sz="1800" b="1" dirty="0">
                <a:solidFill>
                  <a:srgbClr val="F5F6FA"/>
                </a:solidFill>
                <a:latin typeface="Arial" pitchFamily="34" charset="0"/>
                <a:ea typeface="Arial" pitchFamily="34" charset="-122"/>
                <a:cs typeface="Arial" pitchFamily="34" charset="-120"/>
              </a:rPr>
              <a:t>Đại dương</a:t>
            </a:r>
            <a:endParaRPr lang="en-US" sz="1800" dirty="0"/>
          </a:p>
        </p:txBody>
      </p:sp>
      <p:sp>
        <p:nvSpPr>
          <p:cNvPr id="19" name="Text 15"/>
          <p:cNvSpPr/>
          <p:nvPr/>
        </p:nvSpPr>
        <p:spPr>
          <a:xfrm>
            <a:off x="7513168" y="2724912"/>
            <a:ext cx="3855568" cy="320040"/>
          </a:xfrm>
          <a:prstGeom prst="rect">
            <a:avLst/>
          </a:prstGeom>
          <a:noFill/>
          <a:ln/>
        </p:spPr>
        <p:txBody>
          <a:bodyPr wrap="square" lIns="0" tIns="0" rIns="0" bIns="0" rtlCol="0" anchor="ctr"/>
          <a:lstStyle/>
          <a:p>
            <a:pPr indent="0" marL="0">
              <a:buNone/>
            </a:pPr>
            <a:r>
              <a:rPr lang="en-US" sz="1100" dirty="0">
                <a:solidFill>
                  <a:srgbClr val="4FD1C5"/>
                </a:solidFill>
                <a:latin typeface="Calibri" pitchFamily="34" charset="0"/>
                <a:ea typeface="Calibri" pitchFamily="34" charset="-122"/>
                <a:cs typeface="Calibri" pitchFamily="34" charset="-120"/>
              </a:rPr>
              <a:t>Hướng xuống · Buông bỏ</a:t>
            </a:r>
            <a:endParaRPr lang="en-US" sz="1100" dirty="0"/>
          </a:p>
        </p:txBody>
      </p:sp>
      <p:sp>
        <p:nvSpPr>
          <p:cNvPr id="20" name="Text 16"/>
          <p:cNvSpPr/>
          <p:nvPr/>
        </p:nvSpPr>
        <p:spPr>
          <a:xfrm>
            <a:off x="6644488" y="3200400"/>
            <a:ext cx="4587088" cy="2651760"/>
          </a:xfrm>
          <a:prstGeom prst="rect">
            <a:avLst/>
          </a:prstGeom>
          <a:noFill/>
          <a:ln/>
        </p:spPr>
        <p:txBody>
          <a:bodyPr wrap="square" lIns="0" tIns="0" rIns="0" bIns="0" rtlCol="0" anchor="ctr"/>
          <a:lstStyle/>
          <a:p>
            <a:pPr indent="0" marL="0">
              <a:lnSpc>
                <a:spcPct val="132000"/>
              </a:lnSpc>
              <a:buNone/>
            </a:pPr>
            <a:r>
              <a:rPr lang="en-US" sz="1200" dirty="0">
                <a:solidFill>
                  <a:srgbClr val="AAB2D4"/>
                </a:solidFill>
                <a:latin typeface="Calibri" pitchFamily="34" charset="0"/>
                <a:ea typeface="Calibri" pitchFamily="34" charset="-122"/>
                <a:cs typeface="Calibri" pitchFamily="34" charset="-120"/>
              </a:rPr>
              <a:t>Cùng một câu chuyện có thể được thả như một bong bóng chìm dần vào đại dương — hình ảnh của việc để cảm xúc trôi đi, không cần cố gắng “giải quyết” ngay. Đại dương gợi sự rộng lớn, bao dung: nỗi buồn của bạn được tiếp nhận nhẹ nhàng, hoà vào một điều lớn hơn, không đơn độc.</a:t>
            </a:r>
            <a:endParaRPr lang="en-US" sz="1200" dirty="0"/>
          </a:p>
        </p:txBody>
      </p:sp>
      <p:sp>
        <p:nvSpPr>
          <p:cNvPr id="21" name="Text 17"/>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02 · Ý NGHĨA THIẾT KẾ</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Nghi thức “Thả” — Release Ritual</a:t>
            </a:r>
            <a:endParaRPr lang="en-US" sz="3000" dirty="0"/>
          </a:p>
        </p:txBody>
      </p:sp>
      <p:sp>
        <p:nvSpPr>
          <p:cNvPr id="4" name="Shape 2"/>
          <p:cNvSpPr/>
          <p:nvPr/>
        </p:nvSpPr>
        <p:spPr>
          <a:xfrm>
            <a:off x="229514" y="1372514"/>
            <a:ext cx="1598371" cy="1598371"/>
          </a:xfrm>
          <a:prstGeom prst="ellipse">
            <a:avLst/>
          </a:prstGeom>
          <a:solidFill>
            <a:srgbClr val="B389F5">
              <a:alpha val="10000"/>
            </a:srgbClr>
          </a:solidFill>
          <a:ln/>
        </p:spPr>
      </p:sp>
      <p:sp>
        <p:nvSpPr>
          <p:cNvPr id="5" name="Shape 3"/>
          <p:cNvSpPr/>
          <p:nvPr/>
        </p:nvSpPr>
        <p:spPr>
          <a:xfrm>
            <a:off x="437998" y="1580998"/>
            <a:ext cx="1181405" cy="1181405"/>
          </a:xfrm>
          <a:prstGeom prst="ellipse">
            <a:avLst/>
          </a:prstGeom>
          <a:solidFill>
            <a:srgbClr val="B389F5">
              <a:alpha val="20000"/>
            </a:srgbClr>
          </a:solidFill>
          <a:ln/>
        </p:spPr>
      </p:sp>
      <p:sp>
        <p:nvSpPr>
          <p:cNvPr id="6" name="Shape 4"/>
          <p:cNvSpPr/>
          <p:nvPr/>
        </p:nvSpPr>
        <p:spPr>
          <a:xfrm>
            <a:off x="594360" y="1737360"/>
            <a:ext cx="868680" cy="868680"/>
          </a:xfrm>
          <a:prstGeom prst="ellipse">
            <a:avLst/>
          </a:prstGeom>
          <a:solidFill>
            <a:srgbClr val="161D34"/>
          </a:solidFill>
          <a:ln w="15875">
            <a:solidFill>
              <a:srgbClr val="B389F5">
                <a:alpha val="75000"/>
              </a:srgbClr>
            </a:solidFill>
            <a:prstDash val="solid"/>
          </a:ln>
        </p:spPr>
      </p:sp>
      <p:pic>
        <p:nvPicPr>
          <p:cNvPr id="7" name="Image 0" descr="preencoded.png">    </p:cNvPr>
          <p:cNvPicPr>
            <a:picLocks noChangeAspect="1"/>
          </p:cNvPicPr>
          <p:nvPr/>
        </p:nvPicPr>
        <p:blipFill>
          <a:blip r:embed="rId1"/>
          <a:stretch>
            <a:fillRect/>
          </a:stretch>
        </p:blipFill>
        <p:spPr>
          <a:xfrm>
            <a:off x="828904" y="1971904"/>
            <a:ext cx="399593" cy="399593"/>
          </a:xfrm>
          <a:prstGeom prst="rect">
            <a:avLst/>
          </a:prstGeom>
        </p:spPr>
      </p:pic>
      <p:sp>
        <p:nvSpPr>
          <p:cNvPr id="8" name="Text 5"/>
          <p:cNvSpPr/>
          <p:nvPr/>
        </p:nvSpPr>
        <p:spPr>
          <a:xfrm>
            <a:off x="1783080" y="1783080"/>
            <a:ext cx="9814255" cy="1005840"/>
          </a:xfrm>
          <a:prstGeom prst="rect">
            <a:avLst/>
          </a:prstGeom>
          <a:noFill/>
          <a:ln/>
        </p:spPr>
        <p:txBody>
          <a:bodyPr wrap="square" lIns="0" tIns="0" rIns="0" bIns="0" rtlCol="0" anchor="ctr"/>
          <a:lstStyle/>
          <a:p>
            <a:pPr indent="0" marL="0">
              <a:lnSpc>
                <a:spcPct val="130000"/>
              </a:lnSpc>
              <a:buNone/>
            </a:pPr>
            <a:r>
              <a:rPr lang="en-US" sz="1350" dirty="0">
                <a:solidFill>
                  <a:srgbClr val="AAB2D4"/>
                </a:solidFill>
                <a:latin typeface="Calibri" pitchFamily="34" charset="0"/>
                <a:ea typeface="Calibri" pitchFamily="34" charset="-122"/>
                <a:cs typeface="Calibri" pitchFamily="34" charset="-120"/>
              </a:rPr>
              <a:t>Sau khi viết, người dùng thực hiện một cử chỉ kéo — chậm rãi, có chủ đích — để “thả” câu chuyện lên bầu trời hoặc xuống đại dương, thay vì một cú nhấn “Đăng” khô khan.</a:t>
            </a:r>
            <a:endParaRPr lang="en-US" sz="1350" dirty="0"/>
          </a:p>
        </p:txBody>
      </p:sp>
      <p:sp>
        <p:nvSpPr>
          <p:cNvPr id="9" name="Shape 6"/>
          <p:cNvSpPr/>
          <p:nvPr/>
        </p:nvSpPr>
        <p:spPr>
          <a:xfrm>
            <a:off x="594360" y="3108960"/>
            <a:ext cx="3454298" cy="2514600"/>
          </a:xfrm>
          <a:prstGeom prst="roundRect">
            <a:avLst>
              <a:gd name="adj" fmla="val 2909"/>
            </a:avLst>
          </a:prstGeom>
          <a:solidFill>
            <a:srgbClr val="161D34"/>
          </a:solidFill>
          <a:ln w="12700">
            <a:solidFill>
              <a:srgbClr val="2A3358"/>
            </a:solidFill>
            <a:prstDash val="solid"/>
          </a:ln>
        </p:spPr>
      </p:sp>
      <p:sp>
        <p:nvSpPr>
          <p:cNvPr id="10" name="Shape 7"/>
          <p:cNvSpPr/>
          <p:nvPr/>
        </p:nvSpPr>
        <p:spPr>
          <a:xfrm>
            <a:off x="619963" y="3107131"/>
            <a:ext cx="1009498" cy="1009498"/>
          </a:xfrm>
          <a:prstGeom prst="ellipse">
            <a:avLst/>
          </a:prstGeom>
          <a:solidFill>
            <a:srgbClr val="4FD1C5">
              <a:alpha val="10000"/>
            </a:srgbClr>
          </a:solidFill>
          <a:ln/>
        </p:spPr>
      </p:sp>
      <p:sp>
        <p:nvSpPr>
          <p:cNvPr id="11" name="Shape 8"/>
          <p:cNvSpPr/>
          <p:nvPr/>
        </p:nvSpPr>
        <p:spPr>
          <a:xfrm>
            <a:off x="751637" y="3238805"/>
            <a:ext cx="746150" cy="746150"/>
          </a:xfrm>
          <a:prstGeom prst="ellipse">
            <a:avLst/>
          </a:prstGeom>
          <a:solidFill>
            <a:srgbClr val="4FD1C5">
              <a:alpha val="20000"/>
            </a:srgbClr>
          </a:solidFill>
          <a:ln/>
        </p:spPr>
      </p:sp>
      <p:sp>
        <p:nvSpPr>
          <p:cNvPr id="12" name="Shape 9"/>
          <p:cNvSpPr/>
          <p:nvPr/>
        </p:nvSpPr>
        <p:spPr>
          <a:xfrm>
            <a:off x="850392" y="3337560"/>
            <a:ext cx="548640" cy="548640"/>
          </a:xfrm>
          <a:prstGeom prst="ellipse">
            <a:avLst/>
          </a:prstGeom>
          <a:solidFill>
            <a:srgbClr val="161D34"/>
          </a:solidFill>
          <a:ln w="15875">
            <a:solidFill>
              <a:srgbClr val="4FD1C5">
                <a:alpha val="75000"/>
              </a:srgbClr>
            </a:solidFill>
            <a:prstDash val="solid"/>
          </a:ln>
        </p:spPr>
      </p:sp>
      <p:pic>
        <p:nvPicPr>
          <p:cNvPr id="13" name="Image 1" descr="preencoded.png">    </p:cNvPr>
          <p:cNvPicPr>
            <a:picLocks noChangeAspect="1"/>
          </p:cNvPicPr>
          <p:nvPr/>
        </p:nvPicPr>
        <p:blipFill>
          <a:blip r:embed="rId2"/>
          <a:stretch>
            <a:fillRect/>
          </a:stretch>
        </p:blipFill>
        <p:spPr>
          <a:xfrm>
            <a:off x="998525" y="3485693"/>
            <a:ext cx="252374" cy="252374"/>
          </a:xfrm>
          <a:prstGeom prst="rect">
            <a:avLst/>
          </a:prstGeom>
        </p:spPr>
      </p:pic>
      <p:sp>
        <p:nvSpPr>
          <p:cNvPr id="14" name="Text 10"/>
          <p:cNvSpPr/>
          <p:nvPr/>
        </p:nvSpPr>
        <p:spPr>
          <a:xfrm>
            <a:off x="850392" y="3977640"/>
            <a:ext cx="2942234" cy="365760"/>
          </a:xfrm>
          <a:prstGeom prst="rect">
            <a:avLst/>
          </a:prstGeom>
          <a:noFill/>
          <a:ln/>
        </p:spPr>
        <p:txBody>
          <a:bodyPr wrap="square" lIns="0" tIns="0" rIns="0" bIns="0" rtlCol="0" anchor="ctr"/>
          <a:lstStyle/>
          <a:p>
            <a:pPr indent="0" marL="0">
              <a:buNone/>
            </a:pPr>
            <a:r>
              <a:rPr lang="en-US" sz="1300" b="1" dirty="0">
                <a:solidFill>
                  <a:srgbClr val="F5F6FA"/>
                </a:solidFill>
                <a:latin typeface="Arial" pitchFamily="34" charset="0"/>
                <a:ea typeface="Arial" pitchFamily="34" charset="-122"/>
                <a:cs typeface="Arial" pitchFamily="34" charset="-120"/>
              </a:rPr>
              <a:t>Externalization</a:t>
            </a:r>
            <a:endParaRPr lang="en-US" sz="1300" dirty="0"/>
          </a:p>
        </p:txBody>
      </p:sp>
      <p:sp>
        <p:nvSpPr>
          <p:cNvPr id="15" name="Text 11"/>
          <p:cNvSpPr/>
          <p:nvPr/>
        </p:nvSpPr>
        <p:spPr>
          <a:xfrm>
            <a:off x="850392" y="4343400"/>
            <a:ext cx="2942234" cy="118872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Tâm lý học trị liệu ghi nhận việc “đưa cảm xúc ra khỏi đầu” — bằng viết hoặc hành động — giúp giảm cường độ cảm xúc tiêu cực.</a:t>
            </a:r>
            <a:endParaRPr lang="en-US" sz="1050" dirty="0"/>
          </a:p>
        </p:txBody>
      </p:sp>
      <p:sp>
        <p:nvSpPr>
          <p:cNvPr id="16" name="Shape 12"/>
          <p:cNvSpPr/>
          <p:nvPr/>
        </p:nvSpPr>
        <p:spPr>
          <a:xfrm>
            <a:off x="4368698" y="3108960"/>
            <a:ext cx="3454298" cy="2514600"/>
          </a:xfrm>
          <a:prstGeom prst="roundRect">
            <a:avLst>
              <a:gd name="adj" fmla="val 2909"/>
            </a:avLst>
          </a:prstGeom>
          <a:solidFill>
            <a:srgbClr val="161D34"/>
          </a:solidFill>
          <a:ln w="12700">
            <a:solidFill>
              <a:srgbClr val="2A3358"/>
            </a:solidFill>
            <a:prstDash val="solid"/>
          </a:ln>
        </p:spPr>
      </p:sp>
      <p:sp>
        <p:nvSpPr>
          <p:cNvPr id="17" name="Shape 13"/>
          <p:cNvSpPr/>
          <p:nvPr/>
        </p:nvSpPr>
        <p:spPr>
          <a:xfrm>
            <a:off x="4394302" y="3107131"/>
            <a:ext cx="1009498" cy="1009498"/>
          </a:xfrm>
          <a:prstGeom prst="ellipse">
            <a:avLst/>
          </a:prstGeom>
          <a:solidFill>
            <a:srgbClr val="4FD1C5">
              <a:alpha val="10000"/>
            </a:srgbClr>
          </a:solidFill>
          <a:ln/>
        </p:spPr>
      </p:sp>
      <p:sp>
        <p:nvSpPr>
          <p:cNvPr id="18" name="Shape 14"/>
          <p:cNvSpPr/>
          <p:nvPr/>
        </p:nvSpPr>
        <p:spPr>
          <a:xfrm>
            <a:off x="4525975" y="3238805"/>
            <a:ext cx="746150" cy="746150"/>
          </a:xfrm>
          <a:prstGeom prst="ellipse">
            <a:avLst/>
          </a:prstGeom>
          <a:solidFill>
            <a:srgbClr val="4FD1C5">
              <a:alpha val="20000"/>
            </a:srgbClr>
          </a:solidFill>
          <a:ln/>
        </p:spPr>
      </p:sp>
      <p:sp>
        <p:nvSpPr>
          <p:cNvPr id="19" name="Shape 15"/>
          <p:cNvSpPr/>
          <p:nvPr/>
        </p:nvSpPr>
        <p:spPr>
          <a:xfrm>
            <a:off x="4624730" y="3337560"/>
            <a:ext cx="548640" cy="548640"/>
          </a:xfrm>
          <a:prstGeom prst="ellipse">
            <a:avLst/>
          </a:prstGeom>
          <a:solidFill>
            <a:srgbClr val="161D34"/>
          </a:solidFill>
          <a:ln w="15875">
            <a:solidFill>
              <a:srgbClr val="4FD1C5">
                <a:alpha val="75000"/>
              </a:srgbClr>
            </a:solidFill>
            <a:prstDash val="solid"/>
          </a:ln>
        </p:spPr>
      </p:sp>
      <p:pic>
        <p:nvPicPr>
          <p:cNvPr id="20" name="Image 2" descr="preencoded.png">    </p:cNvPr>
          <p:cNvPicPr>
            <a:picLocks noChangeAspect="1"/>
          </p:cNvPicPr>
          <p:nvPr/>
        </p:nvPicPr>
        <p:blipFill>
          <a:blip r:embed="rId3"/>
          <a:stretch>
            <a:fillRect/>
          </a:stretch>
        </p:blipFill>
        <p:spPr>
          <a:xfrm>
            <a:off x="4772863" y="3485693"/>
            <a:ext cx="252374" cy="252374"/>
          </a:xfrm>
          <a:prstGeom prst="rect">
            <a:avLst/>
          </a:prstGeom>
        </p:spPr>
      </p:pic>
      <p:sp>
        <p:nvSpPr>
          <p:cNvPr id="21" name="Text 16"/>
          <p:cNvSpPr/>
          <p:nvPr/>
        </p:nvSpPr>
        <p:spPr>
          <a:xfrm>
            <a:off x="4624730" y="3977640"/>
            <a:ext cx="2942234" cy="365760"/>
          </a:xfrm>
          <a:prstGeom prst="rect">
            <a:avLst/>
          </a:prstGeom>
          <a:noFill/>
          <a:ln/>
        </p:spPr>
        <p:txBody>
          <a:bodyPr wrap="square" lIns="0" tIns="0" rIns="0" bIns="0" rtlCol="0" anchor="ctr"/>
          <a:lstStyle/>
          <a:p>
            <a:pPr indent="0" marL="0">
              <a:buNone/>
            </a:pPr>
            <a:r>
              <a:rPr lang="en-US" sz="1300" b="1" dirty="0">
                <a:solidFill>
                  <a:srgbClr val="F5F6FA"/>
                </a:solidFill>
                <a:latin typeface="Arial" pitchFamily="34" charset="0"/>
                <a:ea typeface="Arial" pitchFamily="34" charset="-122"/>
                <a:cs typeface="Arial" pitchFamily="34" charset="-120"/>
              </a:rPr>
              <a:t>Chủ đích thay vì bốc đồng</a:t>
            </a:r>
            <a:endParaRPr lang="en-US" sz="1300" dirty="0"/>
          </a:p>
        </p:txBody>
      </p:sp>
      <p:sp>
        <p:nvSpPr>
          <p:cNvPr id="22" name="Text 17"/>
          <p:cNvSpPr/>
          <p:nvPr/>
        </p:nvSpPr>
        <p:spPr>
          <a:xfrm>
            <a:off x="4624730" y="4343400"/>
            <a:ext cx="2942234" cy="118872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Cử chỉ kéo chậm buộc một khoảng dừng — khác với việc đăng bài mạng xã hội theo phản xạ, dễ hối hận.</a:t>
            </a:r>
            <a:endParaRPr lang="en-US" sz="1050" dirty="0"/>
          </a:p>
        </p:txBody>
      </p:sp>
      <p:sp>
        <p:nvSpPr>
          <p:cNvPr id="23" name="Shape 18"/>
          <p:cNvSpPr/>
          <p:nvPr/>
        </p:nvSpPr>
        <p:spPr>
          <a:xfrm>
            <a:off x="8143037" y="3108960"/>
            <a:ext cx="3454298" cy="2514600"/>
          </a:xfrm>
          <a:prstGeom prst="roundRect">
            <a:avLst>
              <a:gd name="adj" fmla="val 2909"/>
            </a:avLst>
          </a:prstGeom>
          <a:solidFill>
            <a:srgbClr val="161D34"/>
          </a:solidFill>
          <a:ln w="12700">
            <a:solidFill>
              <a:srgbClr val="2A3358"/>
            </a:solidFill>
            <a:prstDash val="solid"/>
          </a:ln>
        </p:spPr>
      </p:sp>
      <p:sp>
        <p:nvSpPr>
          <p:cNvPr id="24" name="Shape 19"/>
          <p:cNvSpPr/>
          <p:nvPr/>
        </p:nvSpPr>
        <p:spPr>
          <a:xfrm>
            <a:off x="8168640" y="3107131"/>
            <a:ext cx="1009498" cy="1009498"/>
          </a:xfrm>
          <a:prstGeom prst="ellipse">
            <a:avLst/>
          </a:prstGeom>
          <a:solidFill>
            <a:srgbClr val="4FD1C5">
              <a:alpha val="10000"/>
            </a:srgbClr>
          </a:solidFill>
          <a:ln/>
        </p:spPr>
      </p:sp>
      <p:sp>
        <p:nvSpPr>
          <p:cNvPr id="25" name="Shape 20"/>
          <p:cNvSpPr/>
          <p:nvPr/>
        </p:nvSpPr>
        <p:spPr>
          <a:xfrm>
            <a:off x="8300314" y="3238805"/>
            <a:ext cx="746150" cy="746150"/>
          </a:xfrm>
          <a:prstGeom prst="ellipse">
            <a:avLst/>
          </a:prstGeom>
          <a:solidFill>
            <a:srgbClr val="4FD1C5">
              <a:alpha val="20000"/>
            </a:srgbClr>
          </a:solidFill>
          <a:ln/>
        </p:spPr>
      </p:sp>
      <p:sp>
        <p:nvSpPr>
          <p:cNvPr id="26" name="Shape 21"/>
          <p:cNvSpPr/>
          <p:nvPr/>
        </p:nvSpPr>
        <p:spPr>
          <a:xfrm>
            <a:off x="8399069" y="3337560"/>
            <a:ext cx="548640" cy="548640"/>
          </a:xfrm>
          <a:prstGeom prst="ellipse">
            <a:avLst/>
          </a:prstGeom>
          <a:solidFill>
            <a:srgbClr val="161D34"/>
          </a:solidFill>
          <a:ln w="15875">
            <a:solidFill>
              <a:srgbClr val="4FD1C5">
                <a:alpha val="75000"/>
              </a:srgbClr>
            </a:solidFill>
            <a:prstDash val="solid"/>
          </a:ln>
        </p:spPr>
      </p:sp>
      <p:pic>
        <p:nvPicPr>
          <p:cNvPr id="27" name="Image 3" descr="preencoded.png">    </p:cNvPr>
          <p:cNvPicPr>
            <a:picLocks noChangeAspect="1"/>
          </p:cNvPicPr>
          <p:nvPr/>
        </p:nvPicPr>
        <p:blipFill>
          <a:blip r:embed="rId4"/>
          <a:stretch>
            <a:fillRect/>
          </a:stretch>
        </p:blipFill>
        <p:spPr>
          <a:xfrm>
            <a:off x="8547202" y="3485693"/>
            <a:ext cx="252374" cy="252374"/>
          </a:xfrm>
          <a:prstGeom prst="rect">
            <a:avLst/>
          </a:prstGeom>
        </p:spPr>
      </p:pic>
      <p:sp>
        <p:nvSpPr>
          <p:cNvPr id="28" name="Text 22"/>
          <p:cNvSpPr/>
          <p:nvPr/>
        </p:nvSpPr>
        <p:spPr>
          <a:xfrm>
            <a:off x="8399069" y="3977640"/>
            <a:ext cx="2942234" cy="365760"/>
          </a:xfrm>
          <a:prstGeom prst="rect">
            <a:avLst/>
          </a:prstGeom>
          <a:noFill/>
          <a:ln/>
        </p:spPr>
        <p:txBody>
          <a:bodyPr wrap="square" lIns="0" tIns="0" rIns="0" bIns="0" rtlCol="0" anchor="ctr"/>
          <a:lstStyle/>
          <a:p>
            <a:pPr indent="0" marL="0">
              <a:buNone/>
            </a:pPr>
            <a:r>
              <a:rPr lang="en-US" sz="1300" b="1" dirty="0">
                <a:solidFill>
                  <a:srgbClr val="F5F6FA"/>
                </a:solidFill>
                <a:latin typeface="Arial" pitchFamily="34" charset="0"/>
                <a:ea typeface="Arial" pitchFamily="34" charset="-122"/>
                <a:cs typeface="Arial" pitchFamily="34" charset="-120"/>
              </a:rPr>
              <a:t>Cảm giác hoàn tất</a:t>
            </a:r>
            <a:endParaRPr lang="en-US" sz="1300" dirty="0"/>
          </a:p>
        </p:txBody>
      </p:sp>
      <p:sp>
        <p:nvSpPr>
          <p:cNvPr id="29" name="Text 23"/>
          <p:cNvSpPr/>
          <p:nvPr/>
        </p:nvSpPr>
        <p:spPr>
          <a:xfrm>
            <a:off x="8399069" y="4343400"/>
            <a:ext cx="2942234" cy="118872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Khoảnh khắc “thả” tạo cảm giác khép lại một chương, dù câu chuyện vẫn còn đó để người khác đồng cảm.</a:t>
            </a:r>
            <a:endParaRPr lang="en-US" sz="1050" dirty="0"/>
          </a:p>
        </p:txBody>
      </p:sp>
      <p:sp>
        <p:nvSpPr>
          <p:cNvPr id="30" name="Text 24"/>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02 · Ý NGHĨA THIẾT KẾ</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Giọng điệu &amp; câu chữ</a:t>
            </a:r>
            <a:endParaRPr lang="en-US" sz="3000" dirty="0"/>
          </a:p>
        </p:txBody>
      </p:sp>
      <p:sp>
        <p:nvSpPr>
          <p:cNvPr id="4" name="Text 2"/>
          <p:cNvSpPr/>
          <p:nvPr/>
        </p:nvSpPr>
        <p:spPr>
          <a:xfrm>
            <a:off x="594360" y="1463040"/>
            <a:ext cx="11002975" cy="365760"/>
          </a:xfrm>
          <a:prstGeom prst="rect">
            <a:avLst/>
          </a:prstGeom>
          <a:noFill/>
          <a:ln/>
        </p:spPr>
        <p:txBody>
          <a:bodyPr wrap="square" lIns="0" tIns="0" rIns="0" bIns="0" rtlCol="0" anchor="ctr"/>
          <a:lstStyle/>
          <a:p>
            <a:pPr indent="0" marL="0">
              <a:buNone/>
            </a:pPr>
            <a:r>
              <a:rPr lang="en-US" sz="1200" i="1" dirty="0">
                <a:solidFill>
                  <a:srgbClr val="747CA3"/>
                </a:solidFill>
                <a:latin typeface="Calibri" pitchFamily="34" charset="0"/>
                <a:ea typeface="Calibri" pitchFamily="34" charset="-122"/>
                <a:cs typeface="Calibri" pitchFamily="34" charset="-120"/>
              </a:rPr>
              <a:t>Mọi dòng chữ trong sản phẩm đều được viết như một người bạn đang thì thầm — không phải một hệ thống đang thông báo.</a:t>
            </a:r>
            <a:endParaRPr lang="en-US" sz="1200" dirty="0"/>
          </a:p>
        </p:txBody>
      </p:sp>
      <p:sp>
        <p:nvSpPr>
          <p:cNvPr id="5" name="Shape 3"/>
          <p:cNvSpPr/>
          <p:nvPr/>
        </p:nvSpPr>
        <p:spPr>
          <a:xfrm>
            <a:off x="594360" y="2011680"/>
            <a:ext cx="5341468" cy="1783080"/>
          </a:xfrm>
          <a:prstGeom prst="roundRect">
            <a:avLst>
              <a:gd name="adj" fmla="val 4103"/>
            </a:avLst>
          </a:prstGeom>
          <a:solidFill>
            <a:srgbClr val="161D34"/>
          </a:solidFill>
          <a:ln w="12700">
            <a:solidFill>
              <a:srgbClr val="2A3358"/>
            </a:solidFill>
            <a:prstDash val="solid"/>
          </a:ln>
        </p:spPr>
      </p:sp>
      <p:sp>
        <p:nvSpPr>
          <p:cNvPr id="6" name="Shape 4"/>
          <p:cNvSpPr/>
          <p:nvPr/>
        </p:nvSpPr>
        <p:spPr>
          <a:xfrm>
            <a:off x="639166" y="2056486"/>
            <a:ext cx="925373" cy="925373"/>
          </a:xfrm>
          <a:prstGeom prst="ellipse">
            <a:avLst/>
          </a:prstGeom>
          <a:solidFill>
            <a:srgbClr val="F5D67D">
              <a:alpha val="10000"/>
            </a:srgbClr>
          </a:solidFill>
          <a:ln/>
        </p:spPr>
      </p:sp>
      <p:sp>
        <p:nvSpPr>
          <p:cNvPr id="7" name="Shape 5"/>
          <p:cNvSpPr/>
          <p:nvPr/>
        </p:nvSpPr>
        <p:spPr>
          <a:xfrm>
            <a:off x="759866" y="2177186"/>
            <a:ext cx="683971" cy="683971"/>
          </a:xfrm>
          <a:prstGeom prst="ellipse">
            <a:avLst/>
          </a:prstGeom>
          <a:solidFill>
            <a:srgbClr val="F5D67D">
              <a:alpha val="20000"/>
            </a:srgbClr>
          </a:solidFill>
          <a:ln/>
        </p:spPr>
      </p:sp>
      <p:sp>
        <p:nvSpPr>
          <p:cNvPr id="8" name="Shape 6"/>
          <p:cNvSpPr/>
          <p:nvPr/>
        </p:nvSpPr>
        <p:spPr>
          <a:xfrm>
            <a:off x="850392" y="2267712"/>
            <a:ext cx="502920" cy="502920"/>
          </a:xfrm>
          <a:prstGeom prst="ellipse">
            <a:avLst/>
          </a:prstGeom>
          <a:solidFill>
            <a:srgbClr val="161D34"/>
          </a:solidFill>
          <a:ln w="15875">
            <a:solidFill>
              <a:srgbClr val="F5D67D">
                <a:alpha val="75000"/>
              </a:srgbClr>
            </a:solidFill>
            <a:prstDash val="solid"/>
          </a:ln>
        </p:spPr>
      </p:sp>
      <p:pic>
        <p:nvPicPr>
          <p:cNvPr id="9" name="Image 0" descr="preencoded.png">    </p:cNvPr>
          <p:cNvPicPr>
            <a:picLocks noChangeAspect="1"/>
          </p:cNvPicPr>
          <p:nvPr/>
        </p:nvPicPr>
        <p:blipFill>
          <a:blip r:embed="rId1"/>
          <a:stretch>
            <a:fillRect/>
          </a:stretch>
        </p:blipFill>
        <p:spPr>
          <a:xfrm>
            <a:off x="986180" y="2403500"/>
            <a:ext cx="231343" cy="231343"/>
          </a:xfrm>
          <a:prstGeom prst="rect">
            <a:avLst/>
          </a:prstGeom>
        </p:spPr>
      </p:pic>
      <p:sp>
        <p:nvSpPr>
          <p:cNvPr id="10" name="Text 7"/>
          <p:cNvSpPr/>
          <p:nvPr/>
        </p:nvSpPr>
        <p:spPr>
          <a:xfrm>
            <a:off x="1508760" y="2286000"/>
            <a:ext cx="4152748" cy="320040"/>
          </a:xfrm>
          <a:prstGeom prst="rect">
            <a:avLst/>
          </a:prstGeom>
          <a:noFill/>
          <a:ln/>
        </p:spPr>
        <p:txBody>
          <a:bodyPr wrap="square" lIns="0" tIns="0" rIns="0" bIns="0" rtlCol="0" anchor="ctr"/>
          <a:lstStyle/>
          <a:p>
            <a:pPr indent="0" marL="0">
              <a:buNone/>
            </a:pPr>
            <a:r>
              <a:rPr lang="en-US" sz="1050" dirty="0">
                <a:solidFill>
                  <a:srgbClr val="747CA3"/>
                </a:solidFill>
                <a:latin typeface="Calibri" pitchFamily="34" charset="0"/>
                <a:ea typeface="Calibri" pitchFamily="34" charset="-122"/>
                <a:cs typeface="Calibri" pitchFamily="34" charset="-120"/>
              </a:rPr>
              <a:t>Khi mời viết</a:t>
            </a:r>
            <a:endParaRPr lang="en-US" sz="1050" dirty="0"/>
          </a:p>
        </p:txBody>
      </p:sp>
      <p:sp>
        <p:nvSpPr>
          <p:cNvPr id="11" name="Text 8"/>
          <p:cNvSpPr/>
          <p:nvPr/>
        </p:nvSpPr>
        <p:spPr>
          <a:xfrm>
            <a:off x="868680" y="2880360"/>
            <a:ext cx="4792828" cy="777240"/>
          </a:xfrm>
          <a:prstGeom prst="rect">
            <a:avLst/>
          </a:prstGeom>
          <a:noFill/>
          <a:ln/>
        </p:spPr>
        <p:txBody>
          <a:bodyPr wrap="square" lIns="0" tIns="0" rIns="0" bIns="0" rtlCol="0" anchor="ctr"/>
          <a:lstStyle/>
          <a:p>
            <a:pPr indent="0" marL="0">
              <a:lnSpc>
                <a:spcPct val="120000"/>
              </a:lnSpc>
              <a:buNone/>
            </a:pPr>
            <a:r>
              <a:rPr lang="en-US" sz="1350" i="1" dirty="0">
                <a:solidFill>
                  <a:srgbClr val="F5F6FA"/>
                </a:solidFill>
                <a:latin typeface="Arial" pitchFamily="34" charset="0"/>
                <a:ea typeface="Arial" pitchFamily="34" charset="-122"/>
                <a:cs typeface="Arial" pitchFamily="34" charset="-120"/>
              </a:rPr>
              <a:t>“Điều gì đang nặng lòng bạn hôm nay?”</a:t>
            </a:r>
            <a:endParaRPr lang="en-US" sz="1350" dirty="0"/>
          </a:p>
        </p:txBody>
      </p:sp>
      <p:sp>
        <p:nvSpPr>
          <p:cNvPr id="12" name="Shape 9"/>
          <p:cNvSpPr/>
          <p:nvPr/>
        </p:nvSpPr>
        <p:spPr>
          <a:xfrm>
            <a:off x="6255868" y="2011680"/>
            <a:ext cx="5341468" cy="1783080"/>
          </a:xfrm>
          <a:prstGeom prst="roundRect">
            <a:avLst>
              <a:gd name="adj" fmla="val 4103"/>
            </a:avLst>
          </a:prstGeom>
          <a:solidFill>
            <a:srgbClr val="161D34"/>
          </a:solidFill>
          <a:ln w="12700">
            <a:solidFill>
              <a:srgbClr val="2A3358"/>
            </a:solidFill>
            <a:prstDash val="solid"/>
          </a:ln>
        </p:spPr>
      </p:sp>
      <p:sp>
        <p:nvSpPr>
          <p:cNvPr id="13" name="Shape 10"/>
          <p:cNvSpPr/>
          <p:nvPr/>
        </p:nvSpPr>
        <p:spPr>
          <a:xfrm>
            <a:off x="6300673" y="2056486"/>
            <a:ext cx="925373" cy="925373"/>
          </a:xfrm>
          <a:prstGeom prst="ellipse">
            <a:avLst/>
          </a:prstGeom>
          <a:solidFill>
            <a:srgbClr val="F5D67D">
              <a:alpha val="10000"/>
            </a:srgbClr>
          </a:solidFill>
          <a:ln/>
        </p:spPr>
      </p:sp>
      <p:sp>
        <p:nvSpPr>
          <p:cNvPr id="14" name="Shape 11"/>
          <p:cNvSpPr/>
          <p:nvPr/>
        </p:nvSpPr>
        <p:spPr>
          <a:xfrm>
            <a:off x="6421374" y="2177186"/>
            <a:ext cx="683971" cy="683971"/>
          </a:xfrm>
          <a:prstGeom prst="ellipse">
            <a:avLst/>
          </a:prstGeom>
          <a:solidFill>
            <a:srgbClr val="F5D67D">
              <a:alpha val="20000"/>
            </a:srgbClr>
          </a:solidFill>
          <a:ln/>
        </p:spPr>
      </p:sp>
      <p:sp>
        <p:nvSpPr>
          <p:cNvPr id="15" name="Shape 12"/>
          <p:cNvSpPr/>
          <p:nvPr/>
        </p:nvSpPr>
        <p:spPr>
          <a:xfrm>
            <a:off x="6511900" y="2267712"/>
            <a:ext cx="502920" cy="502920"/>
          </a:xfrm>
          <a:prstGeom prst="ellipse">
            <a:avLst/>
          </a:prstGeom>
          <a:solidFill>
            <a:srgbClr val="161D34"/>
          </a:solidFill>
          <a:ln w="15875">
            <a:solidFill>
              <a:srgbClr val="F5D67D">
                <a:alpha val="75000"/>
              </a:srgbClr>
            </a:solidFill>
            <a:prstDash val="solid"/>
          </a:ln>
        </p:spPr>
      </p:sp>
      <p:pic>
        <p:nvPicPr>
          <p:cNvPr id="16" name="Image 1" descr="preencoded.png">    </p:cNvPr>
          <p:cNvPicPr>
            <a:picLocks noChangeAspect="1"/>
          </p:cNvPicPr>
          <p:nvPr/>
        </p:nvPicPr>
        <p:blipFill>
          <a:blip r:embed="rId2"/>
          <a:stretch>
            <a:fillRect/>
          </a:stretch>
        </p:blipFill>
        <p:spPr>
          <a:xfrm>
            <a:off x="6647688" y="2403500"/>
            <a:ext cx="231343" cy="231343"/>
          </a:xfrm>
          <a:prstGeom prst="rect">
            <a:avLst/>
          </a:prstGeom>
        </p:spPr>
      </p:pic>
      <p:sp>
        <p:nvSpPr>
          <p:cNvPr id="17" name="Text 13"/>
          <p:cNvSpPr/>
          <p:nvPr/>
        </p:nvSpPr>
        <p:spPr>
          <a:xfrm>
            <a:off x="7170268" y="2286000"/>
            <a:ext cx="4152748" cy="320040"/>
          </a:xfrm>
          <a:prstGeom prst="rect">
            <a:avLst/>
          </a:prstGeom>
          <a:noFill/>
          <a:ln/>
        </p:spPr>
        <p:txBody>
          <a:bodyPr wrap="square" lIns="0" tIns="0" rIns="0" bIns="0" rtlCol="0" anchor="ctr"/>
          <a:lstStyle/>
          <a:p>
            <a:pPr indent="0" marL="0">
              <a:buNone/>
            </a:pPr>
            <a:r>
              <a:rPr lang="en-US" sz="1050" dirty="0">
                <a:solidFill>
                  <a:srgbClr val="747CA3"/>
                </a:solidFill>
                <a:latin typeface="Calibri" pitchFamily="34" charset="0"/>
                <a:ea typeface="Calibri" pitchFamily="34" charset="-122"/>
                <a:cs typeface="Calibri" pitchFamily="34" charset="-120"/>
              </a:rPr>
              <a:t>Khi thả câu chuyện</a:t>
            </a:r>
            <a:endParaRPr lang="en-US" sz="1050" dirty="0"/>
          </a:p>
        </p:txBody>
      </p:sp>
      <p:sp>
        <p:nvSpPr>
          <p:cNvPr id="18" name="Text 14"/>
          <p:cNvSpPr/>
          <p:nvPr/>
        </p:nvSpPr>
        <p:spPr>
          <a:xfrm>
            <a:off x="6530188" y="2880360"/>
            <a:ext cx="4792828" cy="777240"/>
          </a:xfrm>
          <a:prstGeom prst="rect">
            <a:avLst/>
          </a:prstGeom>
          <a:noFill/>
          <a:ln/>
        </p:spPr>
        <p:txBody>
          <a:bodyPr wrap="square" lIns="0" tIns="0" rIns="0" bIns="0" rtlCol="0" anchor="ctr"/>
          <a:lstStyle/>
          <a:p>
            <a:pPr indent="0" marL="0">
              <a:lnSpc>
                <a:spcPct val="120000"/>
              </a:lnSpc>
              <a:buNone/>
            </a:pPr>
            <a:r>
              <a:rPr lang="en-US" sz="1350" i="1" dirty="0">
                <a:solidFill>
                  <a:srgbClr val="F5F6FA"/>
                </a:solidFill>
                <a:latin typeface="Arial" pitchFamily="34" charset="0"/>
                <a:ea typeface="Arial" pitchFamily="34" charset="-122"/>
                <a:cs typeface="Arial" pitchFamily="34" charset="-120"/>
              </a:rPr>
              <a:t>“Bạn không cần phải giữ mãi đâu — thả nó đi.”</a:t>
            </a:r>
            <a:endParaRPr lang="en-US" sz="1350" dirty="0"/>
          </a:p>
        </p:txBody>
      </p:sp>
      <p:sp>
        <p:nvSpPr>
          <p:cNvPr id="19" name="Shape 15"/>
          <p:cNvSpPr/>
          <p:nvPr/>
        </p:nvSpPr>
        <p:spPr>
          <a:xfrm>
            <a:off x="594360" y="4023360"/>
            <a:ext cx="5341468" cy="1783080"/>
          </a:xfrm>
          <a:prstGeom prst="roundRect">
            <a:avLst>
              <a:gd name="adj" fmla="val 4103"/>
            </a:avLst>
          </a:prstGeom>
          <a:solidFill>
            <a:srgbClr val="161D34"/>
          </a:solidFill>
          <a:ln w="12700">
            <a:solidFill>
              <a:srgbClr val="2A3358"/>
            </a:solidFill>
            <a:prstDash val="solid"/>
          </a:ln>
        </p:spPr>
      </p:sp>
      <p:sp>
        <p:nvSpPr>
          <p:cNvPr id="20" name="Shape 16"/>
          <p:cNvSpPr/>
          <p:nvPr/>
        </p:nvSpPr>
        <p:spPr>
          <a:xfrm>
            <a:off x="639166" y="4068166"/>
            <a:ext cx="925373" cy="925373"/>
          </a:xfrm>
          <a:prstGeom prst="ellipse">
            <a:avLst/>
          </a:prstGeom>
          <a:solidFill>
            <a:srgbClr val="F5D67D">
              <a:alpha val="10000"/>
            </a:srgbClr>
          </a:solidFill>
          <a:ln/>
        </p:spPr>
      </p:sp>
      <p:sp>
        <p:nvSpPr>
          <p:cNvPr id="21" name="Shape 17"/>
          <p:cNvSpPr/>
          <p:nvPr/>
        </p:nvSpPr>
        <p:spPr>
          <a:xfrm>
            <a:off x="759866" y="4188866"/>
            <a:ext cx="683971" cy="683971"/>
          </a:xfrm>
          <a:prstGeom prst="ellipse">
            <a:avLst/>
          </a:prstGeom>
          <a:solidFill>
            <a:srgbClr val="F5D67D">
              <a:alpha val="20000"/>
            </a:srgbClr>
          </a:solidFill>
          <a:ln/>
        </p:spPr>
      </p:sp>
      <p:sp>
        <p:nvSpPr>
          <p:cNvPr id="22" name="Shape 18"/>
          <p:cNvSpPr/>
          <p:nvPr/>
        </p:nvSpPr>
        <p:spPr>
          <a:xfrm>
            <a:off x="850392" y="4279392"/>
            <a:ext cx="502920" cy="502920"/>
          </a:xfrm>
          <a:prstGeom prst="ellipse">
            <a:avLst/>
          </a:prstGeom>
          <a:solidFill>
            <a:srgbClr val="161D34"/>
          </a:solidFill>
          <a:ln w="15875">
            <a:solidFill>
              <a:srgbClr val="F5D67D">
                <a:alpha val="75000"/>
              </a:srgbClr>
            </a:solidFill>
            <a:prstDash val="solid"/>
          </a:ln>
        </p:spPr>
      </p:sp>
      <p:pic>
        <p:nvPicPr>
          <p:cNvPr id="23" name="Image 2" descr="preencoded.png">    </p:cNvPr>
          <p:cNvPicPr>
            <a:picLocks noChangeAspect="1"/>
          </p:cNvPicPr>
          <p:nvPr/>
        </p:nvPicPr>
        <p:blipFill>
          <a:blip r:embed="rId3"/>
          <a:stretch>
            <a:fillRect/>
          </a:stretch>
        </p:blipFill>
        <p:spPr>
          <a:xfrm>
            <a:off x="986180" y="4415180"/>
            <a:ext cx="231343" cy="231343"/>
          </a:xfrm>
          <a:prstGeom prst="rect">
            <a:avLst/>
          </a:prstGeom>
        </p:spPr>
      </p:pic>
      <p:sp>
        <p:nvSpPr>
          <p:cNvPr id="24" name="Text 19"/>
          <p:cNvSpPr/>
          <p:nvPr/>
        </p:nvSpPr>
        <p:spPr>
          <a:xfrm>
            <a:off x="1508760" y="4297680"/>
            <a:ext cx="4152748" cy="320040"/>
          </a:xfrm>
          <a:prstGeom prst="rect">
            <a:avLst/>
          </a:prstGeom>
          <a:noFill/>
          <a:ln/>
        </p:spPr>
        <p:txBody>
          <a:bodyPr wrap="square" lIns="0" tIns="0" rIns="0" bIns="0" rtlCol="0" anchor="ctr"/>
          <a:lstStyle/>
          <a:p>
            <a:pPr indent="0" marL="0">
              <a:buNone/>
            </a:pPr>
            <a:r>
              <a:rPr lang="en-US" sz="1050" dirty="0">
                <a:solidFill>
                  <a:srgbClr val="747CA3"/>
                </a:solidFill>
                <a:latin typeface="Calibri" pitchFamily="34" charset="0"/>
                <a:ea typeface="Calibri" pitchFamily="34" charset="-122"/>
                <a:cs typeface="Calibri" pitchFamily="34" charset="-120"/>
              </a:rPr>
              <a:t>Khi ghi nhận cảm xúc</a:t>
            </a:r>
            <a:endParaRPr lang="en-US" sz="1050" dirty="0"/>
          </a:p>
        </p:txBody>
      </p:sp>
      <p:sp>
        <p:nvSpPr>
          <p:cNvPr id="25" name="Text 20"/>
          <p:cNvSpPr/>
          <p:nvPr/>
        </p:nvSpPr>
        <p:spPr>
          <a:xfrm>
            <a:off x="868680" y="4892040"/>
            <a:ext cx="4792828" cy="777240"/>
          </a:xfrm>
          <a:prstGeom prst="rect">
            <a:avLst/>
          </a:prstGeom>
          <a:noFill/>
          <a:ln/>
        </p:spPr>
        <p:txBody>
          <a:bodyPr wrap="square" lIns="0" tIns="0" rIns="0" bIns="0" rtlCol="0" anchor="ctr"/>
          <a:lstStyle/>
          <a:p>
            <a:pPr indent="0" marL="0">
              <a:lnSpc>
                <a:spcPct val="120000"/>
              </a:lnSpc>
              <a:buNone/>
            </a:pPr>
            <a:r>
              <a:rPr lang="en-US" sz="1350" i="1" dirty="0">
                <a:solidFill>
                  <a:srgbClr val="F5F6FA"/>
                </a:solidFill>
                <a:latin typeface="Arial" pitchFamily="34" charset="0"/>
                <a:ea typeface="Arial" pitchFamily="34" charset="-122"/>
                <a:cs typeface="Arial" pitchFamily="34" charset="-120"/>
              </a:rPr>
              <a:t>“Cảm ơn vì đã thành thật, kể cả khi mọi thứ đang rất nặng.”</a:t>
            </a:r>
            <a:endParaRPr lang="en-US" sz="1350" dirty="0"/>
          </a:p>
        </p:txBody>
      </p:sp>
      <p:sp>
        <p:nvSpPr>
          <p:cNvPr id="26" name="Shape 21"/>
          <p:cNvSpPr/>
          <p:nvPr/>
        </p:nvSpPr>
        <p:spPr>
          <a:xfrm>
            <a:off x="6255868" y="4023360"/>
            <a:ext cx="5341468" cy="1783080"/>
          </a:xfrm>
          <a:prstGeom prst="roundRect">
            <a:avLst>
              <a:gd name="adj" fmla="val 4103"/>
            </a:avLst>
          </a:prstGeom>
          <a:solidFill>
            <a:srgbClr val="161D34"/>
          </a:solidFill>
          <a:ln w="12700">
            <a:solidFill>
              <a:srgbClr val="2A3358"/>
            </a:solidFill>
            <a:prstDash val="solid"/>
          </a:ln>
        </p:spPr>
      </p:sp>
      <p:sp>
        <p:nvSpPr>
          <p:cNvPr id="27" name="Shape 22"/>
          <p:cNvSpPr/>
          <p:nvPr/>
        </p:nvSpPr>
        <p:spPr>
          <a:xfrm>
            <a:off x="6300673" y="4068166"/>
            <a:ext cx="925373" cy="925373"/>
          </a:xfrm>
          <a:prstGeom prst="ellipse">
            <a:avLst/>
          </a:prstGeom>
          <a:solidFill>
            <a:srgbClr val="F5D67D">
              <a:alpha val="10000"/>
            </a:srgbClr>
          </a:solidFill>
          <a:ln/>
        </p:spPr>
      </p:sp>
      <p:sp>
        <p:nvSpPr>
          <p:cNvPr id="28" name="Shape 23"/>
          <p:cNvSpPr/>
          <p:nvPr/>
        </p:nvSpPr>
        <p:spPr>
          <a:xfrm>
            <a:off x="6421374" y="4188866"/>
            <a:ext cx="683971" cy="683971"/>
          </a:xfrm>
          <a:prstGeom prst="ellipse">
            <a:avLst/>
          </a:prstGeom>
          <a:solidFill>
            <a:srgbClr val="F5D67D">
              <a:alpha val="20000"/>
            </a:srgbClr>
          </a:solidFill>
          <a:ln/>
        </p:spPr>
      </p:sp>
      <p:sp>
        <p:nvSpPr>
          <p:cNvPr id="29" name="Shape 24"/>
          <p:cNvSpPr/>
          <p:nvPr/>
        </p:nvSpPr>
        <p:spPr>
          <a:xfrm>
            <a:off x="6511900" y="4279392"/>
            <a:ext cx="502920" cy="502920"/>
          </a:xfrm>
          <a:prstGeom prst="ellipse">
            <a:avLst/>
          </a:prstGeom>
          <a:solidFill>
            <a:srgbClr val="161D34"/>
          </a:solidFill>
          <a:ln w="15875">
            <a:solidFill>
              <a:srgbClr val="F5D67D">
                <a:alpha val="75000"/>
              </a:srgbClr>
            </a:solidFill>
            <a:prstDash val="solid"/>
          </a:ln>
        </p:spPr>
      </p:sp>
      <p:pic>
        <p:nvPicPr>
          <p:cNvPr id="30" name="Image 3" descr="preencoded.png">    </p:cNvPr>
          <p:cNvPicPr>
            <a:picLocks noChangeAspect="1"/>
          </p:cNvPicPr>
          <p:nvPr/>
        </p:nvPicPr>
        <p:blipFill>
          <a:blip r:embed="rId4"/>
          <a:stretch>
            <a:fillRect/>
          </a:stretch>
        </p:blipFill>
        <p:spPr>
          <a:xfrm>
            <a:off x="6647688" y="4415180"/>
            <a:ext cx="231343" cy="231343"/>
          </a:xfrm>
          <a:prstGeom prst="rect">
            <a:avLst/>
          </a:prstGeom>
        </p:spPr>
      </p:pic>
      <p:sp>
        <p:nvSpPr>
          <p:cNvPr id="31" name="Text 25"/>
          <p:cNvSpPr/>
          <p:nvPr/>
        </p:nvSpPr>
        <p:spPr>
          <a:xfrm>
            <a:off x="7170268" y="4297680"/>
            <a:ext cx="4152748" cy="320040"/>
          </a:xfrm>
          <a:prstGeom prst="rect">
            <a:avLst/>
          </a:prstGeom>
          <a:noFill/>
          <a:ln/>
        </p:spPr>
        <p:txBody>
          <a:bodyPr wrap="square" lIns="0" tIns="0" rIns="0" bIns="0" rtlCol="0" anchor="ctr"/>
          <a:lstStyle/>
          <a:p>
            <a:pPr indent="0" marL="0">
              <a:buNone/>
            </a:pPr>
            <a:r>
              <a:rPr lang="en-US" sz="1050" dirty="0">
                <a:solidFill>
                  <a:srgbClr val="747CA3"/>
                </a:solidFill>
                <a:latin typeface="Calibri" pitchFamily="34" charset="0"/>
                <a:ea typeface="Calibri" pitchFamily="34" charset="-122"/>
                <a:cs typeface="Calibri" pitchFamily="34" charset="-120"/>
              </a:rPr>
              <a:t>Khi biết mình không đơn độc</a:t>
            </a:r>
            <a:endParaRPr lang="en-US" sz="1050" dirty="0"/>
          </a:p>
        </p:txBody>
      </p:sp>
      <p:sp>
        <p:nvSpPr>
          <p:cNvPr id="32" name="Text 26"/>
          <p:cNvSpPr/>
          <p:nvPr/>
        </p:nvSpPr>
        <p:spPr>
          <a:xfrm>
            <a:off x="6530188" y="4892040"/>
            <a:ext cx="4792828" cy="777240"/>
          </a:xfrm>
          <a:prstGeom prst="rect">
            <a:avLst/>
          </a:prstGeom>
          <a:noFill/>
          <a:ln/>
        </p:spPr>
        <p:txBody>
          <a:bodyPr wrap="square" lIns="0" tIns="0" rIns="0" bIns="0" rtlCol="0" anchor="ctr"/>
          <a:lstStyle/>
          <a:p>
            <a:pPr indent="0" marL="0">
              <a:lnSpc>
                <a:spcPct val="120000"/>
              </a:lnSpc>
              <a:buNone/>
            </a:pPr>
            <a:r>
              <a:rPr lang="en-US" sz="1350" i="1" dirty="0">
                <a:solidFill>
                  <a:srgbClr val="F5F6FA"/>
                </a:solidFill>
                <a:latin typeface="Arial" pitchFamily="34" charset="0"/>
                <a:ea typeface="Arial" pitchFamily="34" charset="-122"/>
                <a:cs typeface="Arial" pitchFamily="34" charset="-120"/>
              </a:rPr>
              <a:t>“Đêm nay, có rất nhiều người khác cũng đang mang một nỗi lòng tương tự.”</a:t>
            </a:r>
            <a:endParaRPr lang="en-US" sz="1350" dirty="0"/>
          </a:p>
        </p:txBody>
      </p:sp>
      <p:sp>
        <p:nvSpPr>
          <p:cNvPr id="33" name="Text 27"/>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02 · Ý NGHĨA THIẾT KẾ</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Danh tính ẩn danh &amp; cá nhân hoá</a:t>
            </a:r>
            <a:endParaRPr lang="en-US" sz="3000" dirty="0"/>
          </a:p>
        </p:txBody>
      </p:sp>
      <p:sp>
        <p:nvSpPr>
          <p:cNvPr id="4" name="Text 2"/>
          <p:cNvSpPr/>
          <p:nvPr/>
        </p:nvSpPr>
        <p:spPr>
          <a:xfrm>
            <a:off x="594360" y="1508760"/>
            <a:ext cx="11002975" cy="411480"/>
          </a:xfrm>
          <a:prstGeom prst="rect">
            <a:avLst/>
          </a:prstGeom>
          <a:noFill/>
          <a:ln/>
        </p:spPr>
        <p:txBody>
          <a:bodyPr wrap="square" lIns="0" tIns="0" rIns="0" bIns="0" rtlCol="0" anchor="ctr"/>
          <a:lstStyle/>
          <a:p>
            <a:pPr indent="0" marL="0">
              <a:buNone/>
            </a:pPr>
            <a:r>
              <a:rPr lang="en-US" sz="1250" dirty="0">
                <a:solidFill>
                  <a:srgbClr val="AAB2D4"/>
                </a:solidFill>
                <a:latin typeface="Calibri" pitchFamily="34" charset="0"/>
                <a:ea typeface="Calibri" pitchFamily="34" charset="-122"/>
                <a:cs typeface="Calibri" pitchFamily="34" charset="-120"/>
              </a:rPr>
              <a:t>Người dùng không có khuôn mặt hay tên thật trong Solace — nhưng vẫn có một “bản sắc” đủ để cảm thấy đó là của riêng mình.</a:t>
            </a:r>
            <a:endParaRPr lang="en-US" sz="1250" dirty="0"/>
          </a:p>
        </p:txBody>
      </p:sp>
      <p:sp>
        <p:nvSpPr>
          <p:cNvPr id="5" name="Shape 3"/>
          <p:cNvSpPr/>
          <p:nvPr/>
        </p:nvSpPr>
        <p:spPr>
          <a:xfrm>
            <a:off x="594360" y="2057400"/>
            <a:ext cx="5318608" cy="3931920"/>
          </a:xfrm>
          <a:prstGeom prst="roundRect">
            <a:avLst>
              <a:gd name="adj" fmla="val 2326"/>
            </a:avLst>
          </a:prstGeom>
          <a:solidFill>
            <a:srgbClr val="161D34"/>
          </a:solidFill>
          <a:ln w="12700">
            <a:solidFill>
              <a:srgbClr val="2A3358"/>
            </a:solidFill>
            <a:prstDash val="solid"/>
          </a:ln>
        </p:spPr>
      </p:sp>
      <p:sp>
        <p:nvSpPr>
          <p:cNvPr id="6" name="Shape 4"/>
          <p:cNvSpPr/>
          <p:nvPr/>
        </p:nvSpPr>
        <p:spPr>
          <a:xfrm>
            <a:off x="683971" y="2055571"/>
            <a:ext cx="1009498" cy="1009498"/>
          </a:xfrm>
          <a:prstGeom prst="ellipse">
            <a:avLst/>
          </a:prstGeom>
          <a:solidFill>
            <a:srgbClr val="4FD1C5">
              <a:alpha val="10000"/>
            </a:srgbClr>
          </a:solidFill>
          <a:ln/>
        </p:spPr>
      </p:sp>
      <p:sp>
        <p:nvSpPr>
          <p:cNvPr id="7" name="Shape 5"/>
          <p:cNvSpPr/>
          <p:nvPr/>
        </p:nvSpPr>
        <p:spPr>
          <a:xfrm>
            <a:off x="815645" y="2187245"/>
            <a:ext cx="746150" cy="746150"/>
          </a:xfrm>
          <a:prstGeom prst="ellipse">
            <a:avLst/>
          </a:prstGeom>
          <a:solidFill>
            <a:srgbClr val="4FD1C5">
              <a:alpha val="20000"/>
            </a:srgbClr>
          </a:solidFill>
          <a:ln/>
        </p:spPr>
      </p:sp>
      <p:sp>
        <p:nvSpPr>
          <p:cNvPr id="8" name="Shape 6"/>
          <p:cNvSpPr/>
          <p:nvPr/>
        </p:nvSpPr>
        <p:spPr>
          <a:xfrm>
            <a:off x="914400" y="2286000"/>
            <a:ext cx="548640" cy="548640"/>
          </a:xfrm>
          <a:prstGeom prst="ellipse">
            <a:avLst/>
          </a:prstGeom>
          <a:solidFill>
            <a:srgbClr val="161D34"/>
          </a:solidFill>
          <a:ln w="15875">
            <a:solidFill>
              <a:srgbClr val="4FD1C5">
                <a:alpha val="75000"/>
              </a:srgbClr>
            </a:solidFill>
            <a:prstDash val="solid"/>
          </a:ln>
        </p:spPr>
      </p:sp>
      <p:pic>
        <p:nvPicPr>
          <p:cNvPr id="9" name="Image 0" descr="preencoded.png">    </p:cNvPr>
          <p:cNvPicPr>
            <a:picLocks noChangeAspect="1"/>
          </p:cNvPicPr>
          <p:nvPr/>
        </p:nvPicPr>
        <p:blipFill>
          <a:blip r:embed="rId1"/>
          <a:stretch>
            <a:fillRect/>
          </a:stretch>
        </p:blipFill>
        <p:spPr>
          <a:xfrm>
            <a:off x="1062533" y="2434133"/>
            <a:ext cx="252374" cy="252374"/>
          </a:xfrm>
          <a:prstGeom prst="rect">
            <a:avLst/>
          </a:prstGeom>
        </p:spPr>
      </p:pic>
      <p:sp>
        <p:nvSpPr>
          <p:cNvPr id="10" name="Text 7"/>
          <p:cNvSpPr/>
          <p:nvPr/>
        </p:nvSpPr>
        <p:spPr>
          <a:xfrm>
            <a:off x="1600200" y="2331720"/>
            <a:ext cx="4038448" cy="365760"/>
          </a:xfrm>
          <a:prstGeom prst="rect">
            <a:avLst/>
          </a:prstGeom>
          <a:noFill/>
          <a:ln/>
        </p:spPr>
        <p:txBody>
          <a:bodyPr wrap="square" lIns="0" tIns="0" rIns="0" bIns="0" rtlCol="0" anchor="ctr"/>
          <a:lstStyle/>
          <a:p>
            <a:pPr indent="0" marL="0">
              <a:buNone/>
            </a:pPr>
            <a:r>
              <a:rPr lang="en-US" sz="1500" b="1" dirty="0">
                <a:solidFill>
                  <a:srgbClr val="F5F6FA"/>
                </a:solidFill>
                <a:latin typeface="Arial" pitchFamily="34" charset="0"/>
                <a:ea typeface="Arial" pitchFamily="34" charset="-122"/>
                <a:cs typeface="Arial" pitchFamily="34" charset="-120"/>
              </a:rPr>
              <a:t>Khách (Guest)</a:t>
            </a:r>
            <a:endParaRPr lang="en-US" sz="1500" dirty="0"/>
          </a:p>
        </p:txBody>
      </p:sp>
      <p:sp>
        <p:nvSpPr>
          <p:cNvPr id="11" name="Text 8"/>
          <p:cNvSpPr/>
          <p:nvPr/>
        </p:nvSpPr>
        <p:spPr>
          <a:xfrm>
            <a:off x="914400" y="2880360"/>
            <a:ext cx="4678528" cy="914400"/>
          </a:xfrm>
          <a:prstGeom prst="rect">
            <a:avLst/>
          </a:prstGeom>
          <a:noFill/>
          <a:ln/>
        </p:spPr>
        <p:txBody>
          <a:bodyPr wrap="square" lIns="0" tIns="0" rIns="0" bIns="0" rtlCol="0" anchor="ctr"/>
          <a:lstStyle/>
          <a:p>
            <a:pPr indent="0" marL="0">
              <a:lnSpc>
                <a:spcPct val="125000"/>
              </a:lnSpc>
              <a:buNone/>
            </a:pPr>
            <a:r>
              <a:rPr lang="en-US" sz="1150" dirty="0">
                <a:solidFill>
                  <a:srgbClr val="AAB2D4"/>
                </a:solidFill>
                <a:latin typeface="Calibri" pitchFamily="34" charset="0"/>
                <a:ea typeface="Calibri" pitchFamily="34" charset="-122"/>
                <a:cs typeface="Calibri" pitchFamily="34" charset="-120"/>
              </a:rPr>
              <a:t>Đọc, viết, phản hồi hoàn toàn tự do — không cần tài khoản. Đây là mặc định, đúng nguyên tắc “ẩn danh trước tiên”.</a:t>
            </a:r>
            <a:endParaRPr lang="en-US" sz="1150" dirty="0"/>
          </a:p>
        </p:txBody>
      </p:sp>
      <p:sp>
        <p:nvSpPr>
          <p:cNvPr id="12" name="Shape 9"/>
          <p:cNvSpPr/>
          <p:nvPr/>
        </p:nvSpPr>
        <p:spPr>
          <a:xfrm>
            <a:off x="683971" y="3747211"/>
            <a:ext cx="1009498" cy="1009498"/>
          </a:xfrm>
          <a:prstGeom prst="ellipse">
            <a:avLst/>
          </a:prstGeom>
          <a:solidFill>
            <a:srgbClr val="F5D67D">
              <a:alpha val="10000"/>
            </a:srgbClr>
          </a:solidFill>
          <a:ln/>
        </p:spPr>
      </p:sp>
      <p:sp>
        <p:nvSpPr>
          <p:cNvPr id="13" name="Shape 10"/>
          <p:cNvSpPr/>
          <p:nvPr/>
        </p:nvSpPr>
        <p:spPr>
          <a:xfrm>
            <a:off x="815645" y="3878885"/>
            <a:ext cx="746150" cy="746150"/>
          </a:xfrm>
          <a:prstGeom prst="ellipse">
            <a:avLst/>
          </a:prstGeom>
          <a:solidFill>
            <a:srgbClr val="F5D67D">
              <a:alpha val="20000"/>
            </a:srgbClr>
          </a:solidFill>
          <a:ln/>
        </p:spPr>
      </p:sp>
      <p:sp>
        <p:nvSpPr>
          <p:cNvPr id="14" name="Shape 11"/>
          <p:cNvSpPr/>
          <p:nvPr/>
        </p:nvSpPr>
        <p:spPr>
          <a:xfrm>
            <a:off x="914400" y="3977640"/>
            <a:ext cx="548640" cy="548640"/>
          </a:xfrm>
          <a:prstGeom prst="ellipse">
            <a:avLst/>
          </a:prstGeom>
          <a:solidFill>
            <a:srgbClr val="161D34"/>
          </a:solidFill>
          <a:ln w="15875">
            <a:solidFill>
              <a:srgbClr val="F5D67D">
                <a:alpha val="75000"/>
              </a:srgbClr>
            </a:solidFill>
            <a:prstDash val="solid"/>
          </a:ln>
        </p:spPr>
      </p:sp>
      <p:pic>
        <p:nvPicPr>
          <p:cNvPr id="15" name="Image 1" descr="preencoded.png">    </p:cNvPr>
          <p:cNvPicPr>
            <a:picLocks noChangeAspect="1"/>
          </p:cNvPicPr>
          <p:nvPr/>
        </p:nvPicPr>
        <p:blipFill>
          <a:blip r:embed="rId2"/>
          <a:stretch>
            <a:fillRect/>
          </a:stretch>
        </p:blipFill>
        <p:spPr>
          <a:xfrm>
            <a:off x="1062533" y="4125773"/>
            <a:ext cx="252374" cy="252374"/>
          </a:xfrm>
          <a:prstGeom prst="rect">
            <a:avLst/>
          </a:prstGeom>
        </p:spPr>
      </p:pic>
      <p:sp>
        <p:nvSpPr>
          <p:cNvPr id="16" name="Text 12"/>
          <p:cNvSpPr/>
          <p:nvPr/>
        </p:nvSpPr>
        <p:spPr>
          <a:xfrm>
            <a:off x="1600200" y="4023360"/>
            <a:ext cx="4038448" cy="365760"/>
          </a:xfrm>
          <a:prstGeom prst="rect">
            <a:avLst/>
          </a:prstGeom>
          <a:noFill/>
          <a:ln/>
        </p:spPr>
        <p:txBody>
          <a:bodyPr wrap="square" lIns="0" tIns="0" rIns="0" bIns="0" rtlCol="0" anchor="ctr"/>
          <a:lstStyle/>
          <a:p>
            <a:pPr indent="0" marL="0">
              <a:buNone/>
            </a:pPr>
            <a:r>
              <a:rPr lang="en-US" sz="1500" b="1" dirty="0">
                <a:solidFill>
                  <a:srgbClr val="F5F6FA"/>
                </a:solidFill>
                <a:latin typeface="Arial" pitchFamily="34" charset="0"/>
                <a:ea typeface="Arial" pitchFamily="34" charset="-122"/>
                <a:cs typeface="Arial" pitchFamily="34" charset="-120"/>
              </a:rPr>
              <a:t>Đã đăng ký</a:t>
            </a:r>
            <a:endParaRPr lang="en-US" sz="1500" dirty="0"/>
          </a:p>
        </p:txBody>
      </p:sp>
      <p:sp>
        <p:nvSpPr>
          <p:cNvPr id="17" name="Text 13"/>
          <p:cNvSpPr/>
          <p:nvPr/>
        </p:nvSpPr>
        <p:spPr>
          <a:xfrm>
            <a:off x="914400" y="4572000"/>
            <a:ext cx="4678528" cy="1097280"/>
          </a:xfrm>
          <a:prstGeom prst="rect">
            <a:avLst/>
          </a:prstGeom>
          <a:noFill/>
          <a:ln/>
        </p:spPr>
        <p:txBody>
          <a:bodyPr wrap="square" lIns="0" tIns="0" rIns="0" bIns="0" rtlCol="0" anchor="ctr"/>
          <a:lstStyle/>
          <a:p>
            <a:pPr indent="0" marL="0">
              <a:lnSpc>
                <a:spcPct val="125000"/>
              </a:lnSpc>
              <a:buNone/>
            </a:pPr>
            <a:r>
              <a:rPr lang="en-US" sz="1150" dirty="0">
                <a:solidFill>
                  <a:srgbClr val="AAB2D4"/>
                </a:solidFill>
                <a:latin typeface="Calibri" pitchFamily="34" charset="0"/>
                <a:ea typeface="Calibri" pitchFamily="34" charset="-122"/>
                <a:cs typeface="Calibri" pitchFamily="34" charset="-120"/>
              </a:rPr>
              <a:t>Chỉ cần khi muốn: đăng câu chuyện (để nhận thông báo tương tác), đồng bộ nhiều thiết bị, xem Dashboard cá nhân.</a:t>
            </a:r>
            <a:endParaRPr lang="en-US" sz="1150" dirty="0"/>
          </a:p>
        </p:txBody>
      </p:sp>
      <p:sp>
        <p:nvSpPr>
          <p:cNvPr id="18" name="Shape 14"/>
          <p:cNvSpPr/>
          <p:nvPr/>
        </p:nvSpPr>
        <p:spPr>
          <a:xfrm>
            <a:off x="6278728" y="2057400"/>
            <a:ext cx="5318608" cy="3931920"/>
          </a:xfrm>
          <a:prstGeom prst="roundRect">
            <a:avLst>
              <a:gd name="adj" fmla="val 2326"/>
            </a:avLst>
          </a:prstGeom>
          <a:solidFill>
            <a:srgbClr val="161D34"/>
          </a:solidFill>
          <a:ln w="12700">
            <a:solidFill>
              <a:srgbClr val="2A3358"/>
            </a:solidFill>
            <a:prstDash val="solid"/>
          </a:ln>
        </p:spPr>
      </p:sp>
      <p:sp>
        <p:nvSpPr>
          <p:cNvPr id="19" name="Text 15"/>
          <p:cNvSpPr/>
          <p:nvPr/>
        </p:nvSpPr>
        <p:spPr>
          <a:xfrm>
            <a:off x="6553048" y="2240280"/>
            <a:ext cx="4769968" cy="365760"/>
          </a:xfrm>
          <a:prstGeom prst="rect">
            <a:avLst/>
          </a:prstGeom>
          <a:noFill/>
          <a:ln/>
        </p:spPr>
        <p:txBody>
          <a:bodyPr wrap="square" lIns="0" tIns="0" rIns="0" bIns="0" rtlCol="0" anchor="ctr"/>
          <a:lstStyle/>
          <a:p>
            <a:pPr indent="0" marL="0">
              <a:buNone/>
            </a:pPr>
            <a:r>
              <a:rPr lang="en-US" sz="1400" b="1" dirty="0">
                <a:solidFill>
                  <a:srgbClr val="F5F6FA"/>
                </a:solidFill>
                <a:latin typeface="Arial" pitchFamily="34" charset="0"/>
                <a:ea typeface="Arial" pitchFamily="34" charset="-122"/>
                <a:cs typeface="Arial" pitchFamily="34" charset="-120"/>
              </a:rPr>
              <a:t>4 “vibe” cảm xúc cá nhân hoá</a:t>
            </a:r>
            <a:endParaRPr lang="en-US" sz="1400" dirty="0"/>
          </a:p>
        </p:txBody>
      </p:sp>
      <p:sp>
        <p:nvSpPr>
          <p:cNvPr id="20" name="Shape 16"/>
          <p:cNvSpPr/>
          <p:nvPr/>
        </p:nvSpPr>
        <p:spPr>
          <a:xfrm>
            <a:off x="6353343" y="2543495"/>
            <a:ext cx="874898" cy="874898"/>
          </a:xfrm>
          <a:prstGeom prst="ellipse">
            <a:avLst/>
          </a:prstGeom>
          <a:solidFill>
            <a:srgbClr val="F5D67D">
              <a:alpha val="10000"/>
            </a:srgbClr>
          </a:solidFill>
          <a:ln/>
        </p:spPr>
      </p:sp>
      <p:sp>
        <p:nvSpPr>
          <p:cNvPr id="21" name="Shape 17"/>
          <p:cNvSpPr/>
          <p:nvPr/>
        </p:nvSpPr>
        <p:spPr>
          <a:xfrm>
            <a:off x="6467460" y="2657612"/>
            <a:ext cx="646664" cy="646664"/>
          </a:xfrm>
          <a:prstGeom prst="ellipse">
            <a:avLst/>
          </a:prstGeom>
          <a:solidFill>
            <a:srgbClr val="F5D67D">
              <a:alpha val="20000"/>
            </a:srgbClr>
          </a:solidFill>
          <a:ln/>
        </p:spPr>
      </p:sp>
      <p:sp>
        <p:nvSpPr>
          <p:cNvPr id="22" name="Shape 18"/>
          <p:cNvSpPr/>
          <p:nvPr/>
        </p:nvSpPr>
        <p:spPr>
          <a:xfrm>
            <a:off x="6553048" y="2743200"/>
            <a:ext cx="475488" cy="475488"/>
          </a:xfrm>
          <a:prstGeom prst="ellipse">
            <a:avLst/>
          </a:prstGeom>
          <a:solidFill>
            <a:srgbClr val="161D34"/>
          </a:solidFill>
          <a:ln w="15875">
            <a:solidFill>
              <a:srgbClr val="F5D67D">
                <a:alpha val="75000"/>
              </a:srgbClr>
            </a:solidFill>
            <a:prstDash val="solid"/>
          </a:ln>
        </p:spPr>
      </p:sp>
      <p:pic>
        <p:nvPicPr>
          <p:cNvPr id="23" name="Image 2" descr="preencoded.png">    </p:cNvPr>
          <p:cNvPicPr>
            <a:picLocks noChangeAspect="1"/>
          </p:cNvPicPr>
          <p:nvPr/>
        </p:nvPicPr>
        <p:blipFill>
          <a:blip r:embed="rId3"/>
          <a:stretch>
            <a:fillRect/>
          </a:stretch>
        </p:blipFill>
        <p:spPr>
          <a:xfrm>
            <a:off x="6681429" y="2871582"/>
            <a:ext cx="218724" cy="218724"/>
          </a:xfrm>
          <a:prstGeom prst="rect">
            <a:avLst/>
          </a:prstGeom>
        </p:spPr>
      </p:pic>
      <p:sp>
        <p:nvSpPr>
          <p:cNvPr id="24" name="Text 19"/>
          <p:cNvSpPr/>
          <p:nvPr/>
        </p:nvSpPr>
        <p:spPr>
          <a:xfrm>
            <a:off x="7193128" y="2743200"/>
            <a:ext cx="4129888" cy="274320"/>
          </a:xfrm>
          <a:prstGeom prst="rect">
            <a:avLst/>
          </a:prstGeom>
          <a:noFill/>
          <a:ln/>
        </p:spPr>
        <p:txBody>
          <a:bodyPr wrap="square" lIns="0" tIns="0" rIns="0" bIns="0" rtlCol="0" anchor="ctr"/>
          <a:lstStyle/>
          <a:p>
            <a:pPr indent="0" marL="0">
              <a:buNone/>
            </a:pPr>
            <a:r>
              <a:rPr lang="en-US" sz="1250" b="1" dirty="0">
                <a:solidFill>
                  <a:srgbClr val="F5F6FA"/>
                </a:solidFill>
                <a:latin typeface="Arial" pitchFamily="34" charset="0"/>
                <a:ea typeface="Arial" pitchFamily="34" charset="-122"/>
                <a:cs typeface="Arial" pitchFamily="34" charset="-120"/>
              </a:rPr>
              <a:t>Hy vọng</a:t>
            </a:r>
            <a:endParaRPr lang="en-US" sz="1250" dirty="0"/>
          </a:p>
        </p:txBody>
      </p:sp>
      <p:sp>
        <p:nvSpPr>
          <p:cNvPr id="25" name="Text 20"/>
          <p:cNvSpPr/>
          <p:nvPr/>
        </p:nvSpPr>
        <p:spPr>
          <a:xfrm>
            <a:off x="7193128" y="2999232"/>
            <a:ext cx="4129888" cy="274320"/>
          </a:xfrm>
          <a:prstGeom prst="rect">
            <a:avLst/>
          </a:prstGeom>
          <a:noFill/>
          <a:ln/>
        </p:spPr>
        <p:txBody>
          <a:bodyPr wrap="square" lIns="0" tIns="0" rIns="0" bIns="0" rtlCol="0" anchor="ctr"/>
          <a:lstStyle/>
          <a:p>
            <a:pPr indent="0" marL="0">
              <a:buNone/>
            </a:pPr>
            <a:r>
              <a:rPr lang="en-US" sz="1000" dirty="0">
                <a:solidFill>
                  <a:srgbClr val="AAB2D4"/>
                </a:solidFill>
                <a:latin typeface="Calibri" pitchFamily="34" charset="0"/>
                <a:ea typeface="Calibri" pitchFamily="34" charset="-122"/>
                <a:cs typeface="Calibri" pitchFamily="34" charset="-120"/>
              </a:rPr>
              <a:t>Sắc ấm, ánh sáng dịu</a:t>
            </a:r>
            <a:endParaRPr lang="en-US" sz="1000" dirty="0"/>
          </a:p>
        </p:txBody>
      </p:sp>
      <p:sp>
        <p:nvSpPr>
          <p:cNvPr id="26" name="Shape 21"/>
          <p:cNvSpPr/>
          <p:nvPr/>
        </p:nvSpPr>
        <p:spPr>
          <a:xfrm>
            <a:off x="6353343" y="3275015"/>
            <a:ext cx="874898" cy="874898"/>
          </a:xfrm>
          <a:prstGeom prst="ellipse">
            <a:avLst/>
          </a:prstGeom>
          <a:solidFill>
            <a:srgbClr val="B389F5">
              <a:alpha val="10000"/>
            </a:srgbClr>
          </a:solidFill>
          <a:ln/>
        </p:spPr>
      </p:sp>
      <p:sp>
        <p:nvSpPr>
          <p:cNvPr id="27" name="Shape 22"/>
          <p:cNvSpPr/>
          <p:nvPr/>
        </p:nvSpPr>
        <p:spPr>
          <a:xfrm>
            <a:off x="6467460" y="3389132"/>
            <a:ext cx="646664" cy="646664"/>
          </a:xfrm>
          <a:prstGeom prst="ellipse">
            <a:avLst/>
          </a:prstGeom>
          <a:solidFill>
            <a:srgbClr val="B389F5">
              <a:alpha val="20000"/>
            </a:srgbClr>
          </a:solidFill>
          <a:ln/>
        </p:spPr>
      </p:sp>
      <p:sp>
        <p:nvSpPr>
          <p:cNvPr id="28" name="Shape 23"/>
          <p:cNvSpPr/>
          <p:nvPr/>
        </p:nvSpPr>
        <p:spPr>
          <a:xfrm>
            <a:off x="6553048" y="3474720"/>
            <a:ext cx="475488" cy="475488"/>
          </a:xfrm>
          <a:prstGeom prst="ellipse">
            <a:avLst/>
          </a:prstGeom>
          <a:solidFill>
            <a:srgbClr val="161D34"/>
          </a:solidFill>
          <a:ln w="15875">
            <a:solidFill>
              <a:srgbClr val="B389F5">
                <a:alpha val="75000"/>
              </a:srgbClr>
            </a:solidFill>
            <a:prstDash val="solid"/>
          </a:ln>
        </p:spPr>
      </p:sp>
      <p:pic>
        <p:nvPicPr>
          <p:cNvPr id="29" name="Image 3" descr="preencoded.png">    </p:cNvPr>
          <p:cNvPicPr>
            <a:picLocks noChangeAspect="1"/>
          </p:cNvPicPr>
          <p:nvPr/>
        </p:nvPicPr>
        <p:blipFill>
          <a:blip r:embed="rId4"/>
          <a:stretch>
            <a:fillRect/>
          </a:stretch>
        </p:blipFill>
        <p:spPr>
          <a:xfrm>
            <a:off x="6681429" y="3603102"/>
            <a:ext cx="218724" cy="218724"/>
          </a:xfrm>
          <a:prstGeom prst="rect">
            <a:avLst/>
          </a:prstGeom>
        </p:spPr>
      </p:pic>
      <p:sp>
        <p:nvSpPr>
          <p:cNvPr id="30" name="Text 24"/>
          <p:cNvSpPr/>
          <p:nvPr/>
        </p:nvSpPr>
        <p:spPr>
          <a:xfrm>
            <a:off x="7193128" y="3474720"/>
            <a:ext cx="4129888" cy="274320"/>
          </a:xfrm>
          <a:prstGeom prst="rect">
            <a:avLst/>
          </a:prstGeom>
          <a:noFill/>
          <a:ln/>
        </p:spPr>
        <p:txBody>
          <a:bodyPr wrap="square" lIns="0" tIns="0" rIns="0" bIns="0" rtlCol="0" anchor="ctr"/>
          <a:lstStyle/>
          <a:p>
            <a:pPr indent="0" marL="0">
              <a:buNone/>
            </a:pPr>
            <a:r>
              <a:rPr lang="en-US" sz="1250" b="1" dirty="0">
                <a:solidFill>
                  <a:srgbClr val="F5F6FA"/>
                </a:solidFill>
                <a:latin typeface="Arial" pitchFamily="34" charset="0"/>
                <a:ea typeface="Arial" pitchFamily="34" charset="-122"/>
                <a:cs typeface="Arial" pitchFamily="34" charset="-120"/>
              </a:rPr>
              <a:t>Tĩnh lặng</a:t>
            </a:r>
            <a:endParaRPr lang="en-US" sz="1250" dirty="0"/>
          </a:p>
        </p:txBody>
      </p:sp>
      <p:sp>
        <p:nvSpPr>
          <p:cNvPr id="31" name="Text 25"/>
          <p:cNvSpPr/>
          <p:nvPr/>
        </p:nvSpPr>
        <p:spPr>
          <a:xfrm>
            <a:off x="7193128" y="3730752"/>
            <a:ext cx="4129888" cy="274320"/>
          </a:xfrm>
          <a:prstGeom prst="rect">
            <a:avLst/>
          </a:prstGeom>
          <a:noFill/>
          <a:ln/>
        </p:spPr>
        <p:txBody>
          <a:bodyPr wrap="square" lIns="0" tIns="0" rIns="0" bIns="0" rtlCol="0" anchor="ctr"/>
          <a:lstStyle/>
          <a:p>
            <a:pPr indent="0" marL="0">
              <a:buNone/>
            </a:pPr>
            <a:r>
              <a:rPr lang="en-US" sz="1000" dirty="0">
                <a:solidFill>
                  <a:srgbClr val="AAB2D4"/>
                </a:solidFill>
                <a:latin typeface="Calibri" pitchFamily="34" charset="0"/>
                <a:ea typeface="Calibri" pitchFamily="34" charset="-122"/>
                <a:cs typeface="Calibri" pitchFamily="34" charset="-120"/>
              </a:rPr>
              <a:t>Tông tím xanh, chậm rãi</a:t>
            </a:r>
            <a:endParaRPr lang="en-US" sz="1000" dirty="0"/>
          </a:p>
        </p:txBody>
      </p:sp>
      <p:sp>
        <p:nvSpPr>
          <p:cNvPr id="32" name="Shape 26"/>
          <p:cNvSpPr/>
          <p:nvPr/>
        </p:nvSpPr>
        <p:spPr>
          <a:xfrm>
            <a:off x="6353343" y="4006535"/>
            <a:ext cx="874898" cy="874898"/>
          </a:xfrm>
          <a:prstGeom prst="ellipse">
            <a:avLst/>
          </a:prstGeom>
          <a:solidFill>
            <a:srgbClr val="4FD1C5">
              <a:alpha val="10000"/>
            </a:srgbClr>
          </a:solidFill>
          <a:ln/>
        </p:spPr>
      </p:sp>
      <p:sp>
        <p:nvSpPr>
          <p:cNvPr id="33" name="Shape 27"/>
          <p:cNvSpPr/>
          <p:nvPr/>
        </p:nvSpPr>
        <p:spPr>
          <a:xfrm>
            <a:off x="6467460" y="4120652"/>
            <a:ext cx="646664" cy="646664"/>
          </a:xfrm>
          <a:prstGeom prst="ellipse">
            <a:avLst/>
          </a:prstGeom>
          <a:solidFill>
            <a:srgbClr val="4FD1C5">
              <a:alpha val="20000"/>
            </a:srgbClr>
          </a:solidFill>
          <a:ln/>
        </p:spPr>
      </p:sp>
      <p:sp>
        <p:nvSpPr>
          <p:cNvPr id="34" name="Shape 28"/>
          <p:cNvSpPr/>
          <p:nvPr/>
        </p:nvSpPr>
        <p:spPr>
          <a:xfrm>
            <a:off x="6553048" y="4206240"/>
            <a:ext cx="475488" cy="475488"/>
          </a:xfrm>
          <a:prstGeom prst="ellipse">
            <a:avLst/>
          </a:prstGeom>
          <a:solidFill>
            <a:srgbClr val="161D34"/>
          </a:solidFill>
          <a:ln w="15875">
            <a:solidFill>
              <a:srgbClr val="4FD1C5">
                <a:alpha val="75000"/>
              </a:srgbClr>
            </a:solidFill>
            <a:prstDash val="solid"/>
          </a:ln>
        </p:spPr>
      </p:sp>
      <p:pic>
        <p:nvPicPr>
          <p:cNvPr id="35" name="Image 4" descr="preencoded.png">    </p:cNvPr>
          <p:cNvPicPr>
            <a:picLocks noChangeAspect="1"/>
          </p:cNvPicPr>
          <p:nvPr/>
        </p:nvPicPr>
        <p:blipFill>
          <a:blip r:embed="rId5"/>
          <a:stretch>
            <a:fillRect/>
          </a:stretch>
        </p:blipFill>
        <p:spPr>
          <a:xfrm>
            <a:off x="6681429" y="4334622"/>
            <a:ext cx="218724" cy="218724"/>
          </a:xfrm>
          <a:prstGeom prst="rect">
            <a:avLst/>
          </a:prstGeom>
        </p:spPr>
      </p:pic>
      <p:sp>
        <p:nvSpPr>
          <p:cNvPr id="36" name="Text 29"/>
          <p:cNvSpPr/>
          <p:nvPr/>
        </p:nvSpPr>
        <p:spPr>
          <a:xfrm>
            <a:off x="7193128" y="4206240"/>
            <a:ext cx="4129888" cy="274320"/>
          </a:xfrm>
          <a:prstGeom prst="rect">
            <a:avLst/>
          </a:prstGeom>
          <a:noFill/>
          <a:ln/>
        </p:spPr>
        <p:txBody>
          <a:bodyPr wrap="square" lIns="0" tIns="0" rIns="0" bIns="0" rtlCol="0" anchor="ctr"/>
          <a:lstStyle/>
          <a:p>
            <a:pPr indent="0" marL="0">
              <a:buNone/>
            </a:pPr>
            <a:r>
              <a:rPr lang="en-US" sz="1250" b="1" dirty="0">
                <a:solidFill>
                  <a:srgbClr val="F5F6FA"/>
                </a:solidFill>
                <a:latin typeface="Arial" pitchFamily="34" charset="0"/>
                <a:ea typeface="Arial" pitchFamily="34" charset="-122"/>
                <a:cs typeface="Arial" pitchFamily="34" charset="-120"/>
              </a:rPr>
              <a:t>Suy tư</a:t>
            </a:r>
            <a:endParaRPr lang="en-US" sz="1250" dirty="0"/>
          </a:p>
        </p:txBody>
      </p:sp>
      <p:sp>
        <p:nvSpPr>
          <p:cNvPr id="37" name="Text 30"/>
          <p:cNvSpPr/>
          <p:nvPr/>
        </p:nvSpPr>
        <p:spPr>
          <a:xfrm>
            <a:off x="7193128" y="4462272"/>
            <a:ext cx="4129888" cy="274320"/>
          </a:xfrm>
          <a:prstGeom prst="rect">
            <a:avLst/>
          </a:prstGeom>
          <a:noFill/>
          <a:ln/>
        </p:spPr>
        <p:txBody>
          <a:bodyPr wrap="square" lIns="0" tIns="0" rIns="0" bIns="0" rtlCol="0" anchor="ctr"/>
          <a:lstStyle/>
          <a:p>
            <a:pPr indent="0" marL="0">
              <a:buNone/>
            </a:pPr>
            <a:r>
              <a:rPr lang="en-US" sz="1000" dirty="0">
                <a:solidFill>
                  <a:srgbClr val="AAB2D4"/>
                </a:solidFill>
                <a:latin typeface="Calibri" pitchFamily="34" charset="0"/>
                <a:ea typeface="Calibri" pitchFamily="34" charset="-122"/>
                <a:cs typeface="Calibri" pitchFamily="34" charset="-120"/>
              </a:rPr>
              <a:t>Xanh sâu, gợn sóng nhẹ</a:t>
            </a:r>
            <a:endParaRPr lang="en-US" sz="1000" dirty="0"/>
          </a:p>
        </p:txBody>
      </p:sp>
      <p:sp>
        <p:nvSpPr>
          <p:cNvPr id="38" name="Shape 31"/>
          <p:cNvSpPr/>
          <p:nvPr/>
        </p:nvSpPr>
        <p:spPr>
          <a:xfrm>
            <a:off x="6353343" y="4738055"/>
            <a:ext cx="874898" cy="874898"/>
          </a:xfrm>
          <a:prstGeom prst="ellipse">
            <a:avLst/>
          </a:prstGeom>
          <a:solidFill>
            <a:srgbClr val="AAB2D4">
              <a:alpha val="10000"/>
            </a:srgbClr>
          </a:solidFill>
          <a:ln/>
        </p:spPr>
      </p:sp>
      <p:sp>
        <p:nvSpPr>
          <p:cNvPr id="39" name="Shape 32"/>
          <p:cNvSpPr/>
          <p:nvPr/>
        </p:nvSpPr>
        <p:spPr>
          <a:xfrm>
            <a:off x="6467460" y="4852172"/>
            <a:ext cx="646664" cy="646664"/>
          </a:xfrm>
          <a:prstGeom prst="ellipse">
            <a:avLst/>
          </a:prstGeom>
          <a:solidFill>
            <a:srgbClr val="AAB2D4">
              <a:alpha val="20000"/>
            </a:srgbClr>
          </a:solidFill>
          <a:ln/>
        </p:spPr>
      </p:sp>
      <p:sp>
        <p:nvSpPr>
          <p:cNvPr id="40" name="Shape 33"/>
          <p:cNvSpPr/>
          <p:nvPr/>
        </p:nvSpPr>
        <p:spPr>
          <a:xfrm>
            <a:off x="6553048" y="4937760"/>
            <a:ext cx="475488" cy="475488"/>
          </a:xfrm>
          <a:prstGeom prst="ellipse">
            <a:avLst/>
          </a:prstGeom>
          <a:solidFill>
            <a:srgbClr val="161D34"/>
          </a:solidFill>
          <a:ln w="15875">
            <a:solidFill>
              <a:srgbClr val="AAB2D4">
                <a:alpha val="75000"/>
              </a:srgbClr>
            </a:solidFill>
            <a:prstDash val="solid"/>
          </a:ln>
        </p:spPr>
      </p:sp>
      <p:pic>
        <p:nvPicPr>
          <p:cNvPr id="41" name="Image 5" descr="preencoded.png">    </p:cNvPr>
          <p:cNvPicPr>
            <a:picLocks noChangeAspect="1"/>
          </p:cNvPicPr>
          <p:nvPr/>
        </p:nvPicPr>
        <p:blipFill>
          <a:blip r:embed="rId6"/>
          <a:stretch>
            <a:fillRect/>
          </a:stretch>
        </p:blipFill>
        <p:spPr>
          <a:xfrm>
            <a:off x="6681429" y="5066142"/>
            <a:ext cx="218724" cy="218724"/>
          </a:xfrm>
          <a:prstGeom prst="rect">
            <a:avLst/>
          </a:prstGeom>
        </p:spPr>
      </p:pic>
      <p:sp>
        <p:nvSpPr>
          <p:cNvPr id="42" name="Text 34"/>
          <p:cNvSpPr/>
          <p:nvPr/>
        </p:nvSpPr>
        <p:spPr>
          <a:xfrm>
            <a:off x="7193128" y="4937760"/>
            <a:ext cx="4129888" cy="274320"/>
          </a:xfrm>
          <a:prstGeom prst="rect">
            <a:avLst/>
          </a:prstGeom>
          <a:noFill/>
          <a:ln/>
        </p:spPr>
        <p:txBody>
          <a:bodyPr wrap="square" lIns="0" tIns="0" rIns="0" bIns="0" rtlCol="0" anchor="ctr"/>
          <a:lstStyle/>
          <a:p>
            <a:pPr indent="0" marL="0">
              <a:buNone/>
            </a:pPr>
            <a:r>
              <a:rPr lang="en-US" sz="1250" b="1" dirty="0">
                <a:solidFill>
                  <a:srgbClr val="F5F6FA"/>
                </a:solidFill>
                <a:latin typeface="Arial" pitchFamily="34" charset="0"/>
                <a:ea typeface="Arial" pitchFamily="34" charset="-122"/>
                <a:cs typeface="Arial" pitchFamily="34" charset="-120"/>
              </a:rPr>
              <a:t>Trung tính</a:t>
            </a:r>
            <a:endParaRPr lang="en-US" sz="1250" dirty="0"/>
          </a:p>
        </p:txBody>
      </p:sp>
      <p:sp>
        <p:nvSpPr>
          <p:cNvPr id="43" name="Text 35"/>
          <p:cNvSpPr/>
          <p:nvPr/>
        </p:nvSpPr>
        <p:spPr>
          <a:xfrm>
            <a:off x="7193128" y="5193792"/>
            <a:ext cx="4129888" cy="274320"/>
          </a:xfrm>
          <a:prstGeom prst="rect">
            <a:avLst/>
          </a:prstGeom>
          <a:noFill/>
          <a:ln/>
        </p:spPr>
        <p:txBody>
          <a:bodyPr wrap="square" lIns="0" tIns="0" rIns="0" bIns="0" rtlCol="0" anchor="ctr"/>
          <a:lstStyle/>
          <a:p>
            <a:pPr indent="0" marL="0">
              <a:buNone/>
            </a:pPr>
            <a:r>
              <a:rPr lang="en-US" sz="1000" dirty="0">
                <a:solidFill>
                  <a:srgbClr val="AAB2D4"/>
                </a:solidFill>
                <a:latin typeface="Calibri" pitchFamily="34" charset="0"/>
                <a:ea typeface="Calibri" pitchFamily="34" charset="-122"/>
                <a:cs typeface="Calibri" pitchFamily="34" charset="-120"/>
              </a:rPr>
              <a:t>Cân bằng, không thiên lệch</a:t>
            </a:r>
            <a:endParaRPr lang="en-US" sz="1000" dirty="0"/>
          </a:p>
        </p:txBody>
      </p:sp>
      <p:sp>
        <p:nvSpPr>
          <p:cNvPr id="44" name="Text 36"/>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05 · WORKFLOW</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Luồng trải nghiệm hiện tại</a:t>
            </a:r>
            <a:endParaRPr lang="en-US" sz="3000" dirty="0"/>
          </a:p>
        </p:txBody>
      </p:sp>
      <p:sp>
        <p:nvSpPr>
          <p:cNvPr id="4" name="Shape 2"/>
          <p:cNvSpPr/>
          <p:nvPr/>
        </p:nvSpPr>
        <p:spPr>
          <a:xfrm>
            <a:off x="594360" y="2286000"/>
            <a:ext cx="1783080" cy="1965960"/>
          </a:xfrm>
          <a:prstGeom prst="roundRect">
            <a:avLst>
              <a:gd name="adj" fmla="val 4615"/>
            </a:avLst>
          </a:prstGeom>
          <a:solidFill>
            <a:srgbClr val="161D34"/>
          </a:solidFill>
          <a:ln w="12700">
            <a:solidFill>
              <a:srgbClr val="2A3358"/>
            </a:solidFill>
            <a:prstDash val="solid"/>
          </a:ln>
        </p:spPr>
      </p:sp>
      <p:sp>
        <p:nvSpPr>
          <p:cNvPr id="5" name="Shape 3"/>
          <p:cNvSpPr/>
          <p:nvPr/>
        </p:nvSpPr>
        <p:spPr>
          <a:xfrm>
            <a:off x="981151" y="2256739"/>
            <a:ext cx="1009498" cy="1009498"/>
          </a:xfrm>
          <a:prstGeom prst="ellipse">
            <a:avLst/>
          </a:prstGeom>
          <a:solidFill>
            <a:srgbClr val="4FD1C5">
              <a:alpha val="10000"/>
            </a:srgbClr>
          </a:solidFill>
          <a:ln/>
        </p:spPr>
      </p:sp>
      <p:sp>
        <p:nvSpPr>
          <p:cNvPr id="6" name="Shape 4"/>
          <p:cNvSpPr/>
          <p:nvPr/>
        </p:nvSpPr>
        <p:spPr>
          <a:xfrm>
            <a:off x="1112825" y="2388413"/>
            <a:ext cx="746150" cy="746150"/>
          </a:xfrm>
          <a:prstGeom prst="ellipse">
            <a:avLst/>
          </a:prstGeom>
          <a:solidFill>
            <a:srgbClr val="4FD1C5">
              <a:alpha val="20000"/>
            </a:srgbClr>
          </a:solidFill>
          <a:ln/>
        </p:spPr>
      </p:sp>
      <p:sp>
        <p:nvSpPr>
          <p:cNvPr id="7" name="Shape 5"/>
          <p:cNvSpPr/>
          <p:nvPr/>
        </p:nvSpPr>
        <p:spPr>
          <a:xfrm>
            <a:off x="1211580" y="2487168"/>
            <a:ext cx="548640" cy="548640"/>
          </a:xfrm>
          <a:prstGeom prst="ellipse">
            <a:avLst/>
          </a:prstGeom>
          <a:solidFill>
            <a:srgbClr val="161D34"/>
          </a:solidFill>
          <a:ln w="15875">
            <a:solidFill>
              <a:srgbClr val="4FD1C5">
                <a:alpha val="75000"/>
              </a:srgbClr>
            </a:solidFill>
            <a:prstDash val="solid"/>
          </a:ln>
        </p:spPr>
      </p:sp>
      <p:pic>
        <p:nvPicPr>
          <p:cNvPr id="8" name="Image 0" descr="preencoded.png">    </p:cNvPr>
          <p:cNvPicPr>
            <a:picLocks noChangeAspect="1"/>
          </p:cNvPicPr>
          <p:nvPr/>
        </p:nvPicPr>
        <p:blipFill>
          <a:blip r:embed="rId1"/>
          <a:stretch>
            <a:fillRect/>
          </a:stretch>
        </p:blipFill>
        <p:spPr>
          <a:xfrm>
            <a:off x="1359713" y="2635301"/>
            <a:ext cx="252374" cy="252374"/>
          </a:xfrm>
          <a:prstGeom prst="rect">
            <a:avLst/>
          </a:prstGeom>
        </p:spPr>
      </p:pic>
      <p:sp>
        <p:nvSpPr>
          <p:cNvPr id="9" name="Text 6"/>
          <p:cNvSpPr/>
          <p:nvPr/>
        </p:nvSpPr>
        <p:spPr>
          <a:xfrm>
            <a:off x="685800" y="3154680"/>
            <a:ext cx="1600200" cy="457200"/>
          </a:xfrm>
          <a:prstGeom prst="rect">
            <a:avLst/>
          </a:prstGeom>
          <a:noFill/>
          <a:ln/>
        </p:spPr>
        <p:txBody>
          <a:bodyPr wrap="square" lIns="0" tIns="0" rIns="0" bIns="0" rtlCol="0" anchor="ctr"/>
          <a:lstStyle/>
          <a:p>
            <a:pPr algn="ctr" indent="0" marL="0">
              <a:lnSpc>
                <a:spcPct val="105000"/>
              </a:lnSpc>
              <a:buNone/>
            </a:pPr>
            <a:r>
              <a:rPr lang="en-US" sz="1150" b="1" dirty="0">
                <a:solidFill>
                  <a:srgbClr val="F5F6FA"/>
                </a:solidFill>
                <a:latin typeface="Arial" pitchFamily="34" charset="0"/>
                <a:ea typeface="Arial" pitchFamily="34" charset="-122"/>
                <a:cs typeface="Arial" pitchFamily="34" charset="-120"/>
              </a:rPr>
              <a:t>Vào thẳng /explore</a:t>
            </a:r>
            <a:endParaRPr lang="en-US" sz="1150" dirty="0"/>
          </a:p>
        </p:txBody>
      </p:sp>
      <p:sp>
        <p:nvSpPr>
          <p:cNvPr id="10" name="Text 7"/>
          <p:cNvSpPr/>
          <p:nvPr/>
        </p:nvSpPr>
        <p:spPr>
          <a:xfrm>
            <a:off x="685800" y="3611880"/>
            <a:ext cx="1600200" cy="594360"/>
          </a:xfrm>
          <a:prstGeom prst="rect">
            <a:avLst/>
          </a:prstGeom>
          <a:noFill/>
          <a:ln/>
        </p:spPr>
        <p:txBody>
          <a:bodyPr wrap="square" lIns="0" tIns="0" rIns="0" bIns="0" rtlCol="0" anchor="ctr"/>
          <a:lstStyle/>
          <a:p>
            <a:pPr algn="ctr" indent="0" marL="0">
              <a:lnSpc>
                <a:spcPct val="115000"/>
              </a:lnSpc>
              <a:buNone/>
            </a:pPr>
            <a:r>
              <a:rPr lang="en-US" sz="900" dirty="0">
                <a:solidFill>
                  <a:srgbClr val="AAB2D4"/>
                </a:solidFill>
                <a:latin typeface="Calibri" pitchFamily="34" charset="0"/>
                <a:ea typeface="Calibri" pitchFamily="34" charset="-122"/>
                <a:cs typeface="Calibri" pitchFamily="34" charset="-120"/>
              </a:rPr>
              <a:t>Không ép đăng nhập hay onboarding</a:t>
            </a:r>
            <a:endParaRPr lang="en-US" sz="900" dirty="0"/>
          </a:p>
        </p:txBody>
      </p:sp>
      <p:sp>
        <p:nvSpPr>
          <p:cNvPr id="11" name="Text 8"/>
          <p:cNvSpPr/>
          <p:nvPr/>
        </p:nvSpPr>
        <p:spPr>
          <a:xfrm>
            <a:off x="2377440" y="2926080"/>
            <a:ext cx="521894" cy="457200"/>
          </a:xfrm>
          <a:prstGeom prst="rect">
            <a:avLst/>
          </a:prstGeom>
          <a:noFill/>
          <a:ln/>
        </p:spPr>
        <p:txBody>
          <a:bodyPr wrap="square" lIns="0" tIns="0" rIns="0" bIns="0" rtlCol="0" anchor="ctr"/>
          <a:lstStyle/>
          <a:p>
            <a:pPr algn="ctr" indent="0" marL="0">
              <a:buNone/>
            </a:pPr>
            <a:r>
              <a:rPr lang="en-US" sz="2000" dirty="0">
                <a:solidFill>
                  <a:srgbClr val="747CA3"/>
                </a:solidFill>
                <a:latin typeface="Arial" pitchFamily="34" charset="0"/>
                <a:ea typeface="Arial" pitchFamily="34" charset="-122"/>
                <a:cs typeface="Arial" pitchFamily="34" charset="-120"/>
              </a:rPr>
              <a:t>→</a:t>
            </a:r>
            <a:endParaRPr lang="en-US" sz="2000" dirty="0"/>
          </a:p>
        </p:txBody>
      </p:sp>
      <p:sp>
        <p:nvSpPr>
          <p:cNvPr id="12" name="Shape 9"/>
          <p:cNvSpPr/>
          <p:nvPr/>
        </p:nvSpPr>
        <p:spPr>
          <a:xfrm>
            <a:off x="2899334" y="2286000"/>
            <a:ext cx="1783080" cy="1965960"/>
          </a:xfrm>
          <a:prstGeom prst="roundRect">
            <a:avLst>
              <a:gd name="adj" fmla="val 4615"/>
            </a:avLst>
          </a:prstGeom>
          <a:solidFill>
            <a:srgbClr val="161D34"/>
          </a:solidFill>
          <a:ln w="12700">
            <a:solidFill>
              <a:srgbClr val="2A3358"/>
            </a:solidFill>
            <a:prstDash val="solid"/>
          </a:ln>
        </p:spPr>
      </p:sp>
      <p:sp>
        <p:nvSpPr>
          <p:cNvPr id="13" name="Shape 10"/>
          <p:cNvSpPr/>
          <p:nvPr/>
        </p:nvSpPr>
        <p:spPr>
          <a:xfrm>
            <a:off x="3286125" y="2256739"/>
            <a:ext cx="1009498" cy="1009498"/>
          </a:xfrm>
          <a:prstGeom prst="ellipse">
            <a:avLst/>
          </a:prstGeom>
          <a:solidFill>
            <a:srgbClr val="4FD1C5">
              <a:alpha val="10000"/>
            </a:srgbClr>
          </a:solidFill>
          <a:ln/>
        </p:spPr>
      </p:sp>
      <p:sp>
        <p:nvSpPr>
          <p:cNvPr id="14" name="Shape 11"/>
          <p:cNvSpPr/>
          <p:nvPr/>
        </p:nvSpPr>
        <p:spPr>
          <a:xfrm>
            <a:off x="3417799" y="2388413"/>
            <a:ext cx="746150" cy="746150"/>
          </a:xfrm>
          <a:prstGeom prst="ellipse">
            <a:avLst/>
          </a:prstGeom>
          <a:solidFill>
            <a:srgbClr val="4FD1C5">
              <a:alpha val="20000"/>
            </a:srgbClr>
          </a:solidFill>
          <a:ln/>
        </p:spPr>
      </p:sp>
      <p:sp>
        <p:nvSpPr>
          <p:cNvPr id="15" name="Shape 12"/>
          <p:cNvSpPr/>
          <p:nvPr/>
        </p:nvSpPr>
        <p:spPr>
          <a:xfrm>
            <a:off x="3516554" y="2487168"/>
            <a:ext cx="548640" cy="548640"/>
          </a:xfrm>
          <a:prstGeom prst="ellipse">
            <a:avLst/>
          </a:prstGeom>
          <a:solidFill>
            <a:srgbClr val="161D34"/>
          </a:solidFill>
          <a:ln w="15875">
            <a:solidFill>
              <a:srgbClr val="4FD1C5">
                <a:alpha val="75000"/>
              </a:srgbClr>
            </a:solidFill>
            <a:prstDash val="solid"/>
          </a:ln>
        </p:spPr>
      </p:sp>
      <p:pic>
        <p:nvPicPr>
          <p:cNvPr id="16" name="Image 1" descr="preencoded.png">    </p:cNvPr>
          <p:cNvPicPr>
            <a:picLocks noChangeAspect="1"/>
          </p:cNvPicPr>
          <p:nvPr/>
        </p:nvPicPr>
        <p:blipFill>
          <a:blip r:embed="rId2"/>
          <a:stretch>
            <a:fillRect/>
          </a:stretch>
        </p:blipFill>
        <p:spPr>
          <a:xfrm>
            <a:off x="3664687" y="2635301"/>
            <a:ext cx="252374" cy="252374"/>
          </a:xfrm>
          <a:prstGeom prst="rect">
            <a:avLst/>
          </a:prstGeom>
        </p:spPr>
      </p:pic>
      <p:sp>
        <p:nvSpPr>
          <p:cNvPr id="17" name="Text 13"/>
          <p:cNvSpPr/>
          <p:nvPr/>
        </p:nvSpPr>
        <p:spPr>
          <a:xfrm>
            <a:off x="2990774" y="3154680"/>
            <a:ext cx="1600200" cy="457200"/>
          </a:xfrm>
          <a:prstGeom prst="rect">
            <a:avLst/>
          </a:prstGeom>
          <a:noFill/>
          <a:ln/>
        </p:spPr>
        <p:txBody>
          <a:bodyPr wrap="square" lIns="0" tIns="0" rIns="0" bIns="0" rtlCol="0" anchor="ctr"/>
          <a:lstStyle/>
          <a:p>
            <a:pPr algn="ctr" indent="0" marL="0">
              <a:lnSpc>
                <a:spcPct val="105000"/>
              </a:lnSpc>
              <a:buNone/>
            </a:pPr>
            <a:r>
              <a:rPr lang="en-US" sz="1150" b="1" dirty="0">
                <a:solidFill>
                  <a:srgbClr val="F5F6FA"/>
                </a:solidFill>
                <a:latin typeface="Arial" pitchFamily="34" charset="0"/>
                <a:ea typeface="Arial" pitchFamily="34" charset="-122"/>
                <a:cs typeface="Arial" pitchFamily="34" charset="-120"/>
              </a:rPr>
              <a:t>Check-in (tuỳ chọn)</a:t>
            </a:r>
            <a:endParaRPr lang="en-US" sz="1150" dirty="0"/>
          </a:p>
        </p:txBody>
      </p:sp>
      <p:sp>
        <p:nvSpPr>
          <p:cNvPr id="18" name="Text 14"/>
          <p:cNvSpPr/>
          <p:nvPr/>
        </p:nvSpPr>
        <p:spPr>
          <a:xfrm>
            <a:off x="2990774" y="3611880"/>
            <a:ext cx="1600200" cy="594360"/>
          </a:xfrm>
          <a:prstGeom prst="rect">
            <a:avLst/>
          </a:prstGeom>
          <a:noFill/>
          <a:ln/>
        </p:spPr>
        <p:txBody>
          <a:bodyPr wrap="square" lIns="0" tIns="0" rIns="0" bIns="0" rtlCol="0" anchor="ctr"/>
          <a:lstStyle/>
          <a:p>
            <a:pPr algn="ctr" indent="0" marL="0">
              <a:lnSpc>
                <a:spcPct val="115000"/>
              </a:lnSpc>
              <a:buNone/>
            </a:pPr>
            <a:r>
              <a:rPr lang="en-US" sz="900" dirty="0">
                <a:solidFill>
                  <a:srgbClr val="AAB2D4"/>
                </a:solidFill>
                <a:latin typeface="Calibri" pitchFamily="34" charset="0"/>
                <a:ea typeface="Calibri" pitchFamily="34" charset="-122"/>
                <a:cs typeface="Calibri" pitchFamily="34" charset="-120"/>
              </a:rPr>
              <a:t>Ghi nhận cảm xúc trong 10 giây</a:t>
            </a:r>
            <a:endParaRPr lang="en-US" sz="900" dirty="0"/>
          </a:p>
        </p:txBody>
      </p:sp>
      <p:sp>
        <p:nvSpPr>
          <p:cNvPr id="19" name="Text 15"/>
          <p:cNvSpPr/>
          <p:nvPr/>
        </p:nvSpPr>
        <p:spPr>
          <a:xfrm>
            <a:off x="4682414" y="2926080"/>
            <a:ext cx="521894" cy="457200"/>
          </a:xfrm>
          <a:prstGeom prst="rect">
            <a:avLst/>
          </a:prstGeom>
          <a:noFill/>
          <a:ln/>
        </p:spPr>
        <p:txBody>
          <a:bodyPr wrap="square" lIns="0" tIns="0" rIns="0" bIns="0" rtlCol="0" anchor="ctr"/>
          <a:lstStyle/>
          <a:p>
            <a:pPr algn="ctr" indent="0" marL="0">
              <a:buNone/>
            </a:pPr>
            <a:r>
              <a:rPr lang="en-US" sz="2000" dirty="0">
                <a:solidFill>
                  <a:srgbClr val="747CA3"/>
                </a:solidFill>
                <a:latin typeface="Arial" pitchFamily="34" charset="0"/>
                <a:ea typeface="Arial" pitchFamily="34" charset="-122"/>
                <a:cs typeface="Arial" pitchFamily="34" charset="-120"/>
              </a:rPr>
              <a:t>→</a:t>
            </a:r>
            <a:endParaRPr lang="en-US" sz="2000" dirty="0"/>
          </a:p>
        </p:txBody>
      </p:sp>
      <p:sp>
        <p:nvSpPr>
          <p:cNvPr id="20" name="Shape 16"/>
          <p:cNvSpPr/>
          <p:nvPr/>
        </p:nvSpPr>
        <p:spPr>
          <a:xfrm>
            <a:off x="5204308" y="2286000"/>
            <a:ext cx="1783080" cy="1965960"/>
          </a:xfrm>
          <a:prstGeom prst="roundRect">
            <a:avLst>
              <a:gd name="adj" fmla="val 4615"/>
            </a:avLst>
          </a:prstGeom>
          <a:solidFill>
            <a:srgbClr val="161D34"/>
          </a:solidFill>
          <a:ln w="12700">
            <a:solidFill>
              <a:srgbClr val="2A3358"/>
            </a:solidFill>
            <a:prstDash val="solid"/>
          </a:ln>
        </p:spPr>
      </p:sp>
      <p:sp>
        <p:nvSpPr>
          <p:cNvPr id="21" name="Shape 17"/>
          <p:cNvSpPr/>
          <p:nvPr/>
        </p:nvSpPr>
        <p:spPr>
          <a:xfrm>
            <a:off x="5591099" y="2256739"/>
            <a:ext cx="1009498" cy="1009498"/>
          </a:xfrm>
          <a:prstGeom prst="ellipse">
            <a:avLst/>
          </a:prstGeom>
          <a:solidFill>
            <a:srgbClr val="4FD1C5">
              <a:alpha val="10000"/>
            </a:srgbClr>
          </a:solidFill>
          <a:ln/>
        </p:spPr>
      </p:sp>
      <p:sp>
        <p:nvSpPr>
          <p:cNvPr id="22" name="Shape 18"/>
          <p:cNvSpPr/>
          <p:nvPr/>
        </p:nvSpPr>
        <p:spPr>
          <a:xfrm>
            <a:off x="5722772" y="2388413"/>
            <a:ext cx="746150" cy="746150"/>
          </a:xfrm>
          <a:prstGeom prst="ellipse">
            <a:avLst/>
          </a:prstGeom>
          <a:solidFill>
            <a:srgbClr val="4FD1C5">
              <a:alpha val="20000"/>
            </a:srgbClr>
          </a:solidFill>
          <a:ln/>
        </p:spPr>
      </p:sp>
      <p:sp>
        <p:nvSpPr>
          <p:cNvPr id="23" name="Shape 19"/>
          <p:cNvSpPr/>
          <p:nvPr/>
        </p:nvSpPr>
        <p:spPr>
          <a:xfrm>
            <a:off x="5821528" y="2487168"/>
            <a:ext cx="548640" cy="548640"/>
          </a:xfrm>
          <a:prstGeom prst="ellipse">
            <a:avLst/>
          </a:prstGeom>
          <a:solidFill>
            <a:srgbClr val="161D34"/>
          </a:solidFill>
          <a:ln w="15875">
            <a:solidFill>
              <a:srgbClr val="4FD1C5">
                <a:alpha val="75000"/>
              </a:srgbClr>
            </a:solidFill>
            <a:prstDash val="solid"/>
          </a:ln>
        </p:spPr>
      </p:sp>
      <p:pic>
        <p:nvPicPr>
          <p:cNvPr id="24" name="Image 2" descr="preencoded.png">    </p:cNvPr>
          <p:cNvPicPr>
            <a:picLocks noChangeAspect="1"/>
          </p:cNvPicPr>
          <p:nvPr/>
        </p:nvPicPr>
        <p:blipFill>
          <a:blip r:embed="rId3"/>
          <a:stretch>
            <a:fillRect/>
          </a:stretch>
        </p:blipFill>
        <p:spPr>
          <a:xfrm>
            <a:off x="5969660" y="2635301"/>
            <a:ext cx="252374" cy="252374"/>
          </a:xfrm>
          <a:prstGeom prst="rect">
            <a:avLst/>
          </a:prstGeom>
        </p:spPr>
      </p:pic>
      <p:sp>
        <p:nvSpPr>
          <p:cNvPr id="25" name="Text 20"/>
          <p:cNvSpPr/>
          <p:nvPr/>
        </p:nvSpPr>
        <p:spPr>
          <a:xfrm>
            <a:off x="5295748" y="3154680"/>
            <a:ext cx="1600200" cy="457200"/>
          </a:xfrm>
          <a:prstGeom prst="rect">
            <a:avLst/>
          </a:prstGeom>
          <a:noFill/>
          <a:ln/>
        </p:spPr>
        <p:txBody>
          <a:bodyPr wrap="square" lIns="0" tIns="0" rIns="0" bIns="0" rtlCol="0" anchor="ctr"/>
          <a:lstStyle/>
          <a:p>
            <a:pPr algn="ctr" indent="0" marL="0">
              <a:lnSpc>
                <a:spcPct val="105000"/>
              </a:lnSpc>
              <a:buNone/>
            </a:pPr>
            <a:r>
              <a:rPr lang="en-US" sz="1150" b="1" dirty="0">
                <a:solidFill>
                  <a:srgbClr val="F5F6FA"/>
                </a:solidFill>
                <a:latin typeface="Arial" pitchFamily="34" charset="0"/>
                <a:ea typeface="Arial" pitchFamily="34" charset="-122"/>
                <a:cs typeface="Arial" pitchFamily="34" charset="-120"/>
              </a:rPr>
              <a:t>/write — Viết ra</a:t>
            </a:r>
            <a:endParaRPr lang="en-US" sz="1150" dirty="0"/>
          </a:p>
        </p:txBody>
      </p:sp>
      <p:sp>
        <p:nvSpPr>
          <p:cNvPr id="26" name="Text 21"/>
          <p:cNvSpPr/>
          <p:nvPr/>
        </p:nvSpPr>
        <p:spPr>
          <a:xfrm>
            <a:off x="5295748" y="3611880"/>
            <a:ext cx="1600200" cy="594360"/>
          </a:xfrm>
          <a:prstGeom prst="rect">
            <a:avLst/>
          </a:prstGeom>
          <a:noFill/>
          <a:ln/>
        </p:spPr>
        <p:txBody>
          <a:bodyPr wrap="square" lIns="0" tIns="0" rIns="0" bIns="0" rtlCol="0" anchor="ctr"/>
          <a:lstStyle/>
          <a:p>
            <a:pPr algn="ctr" indent="0" marL="0">
              <a:lnSpc>
                <a:spcPct val="115000"/>
              </a:lnSpc>
              <a:buNone/>
            </a:pPr>
            <a:r>
              <a:rPr lang="en-US" sz="900" dirty="0">
                <a:solidFill>
                  <a:srgbClr val="AAB2D4"/>
                </a:solidFill>
                <a:latin typeface="Calibri" pitchFamily="34" charset="0"/>
                <a:ea typeface="Calibri" pitchFamily="34" charset="-122"/>
                <a:cs typeface="Calibri" pitchFamily="34" charset="-120"/>
              </a:rPr>
              <a:t>Soạn tự do, không cần tài khoản</a:t>
            </a:r>
            <a:endParaRPr lang="en-US" sz="900" dirty="0"/>
          </a:p>
        </p:txBody>
      </p:sp>
      <p:sp>
        <p:nvSpPr>
          <p:cNvPr id="27" name="Text 22"/>
          <p:cNvSpPr/>
          <p:nvPr/>
        </p:nvSpPr>
        <p:spPr>
          <a:xfrm>
            <a:off x="6987388" y="2926080"/>
            <a:ext cx="521894" cy="457200"/>
          </a:xfrm>
          <a:prstGeom prst="rect">
            <a:avLst/>
          </a:prstGeom>
          <a:noFill/>
          <a:ln/>
        </p:spPr>
        <p:txBody>
          <a:bodyPr wrap="square" lIns="0" tIns="0" rIns="0" bIns="0" rtlCol="0" anchor="ctr"/>
          <a:lstStyle/>
          <a:p>
            <a:pPr algn="ctr" indent="0" marL="0">
              <a:buNone/>
            </a:pPr>
            <a:r>
              <a:rPr lang="en-US" sz="2000" dirty="0">
                <a:solidFill>
                  <a:srgbClr val="747CA3"/>
                </a:solidFill>
                <a:latin typeface="Arial" pitchFamily="34" charset="0"/>
                <a:ea typeface="Arial" pitchFamily="34" charset="-122"/>
                <a:cs typeface="Arial" pitchFamily="34" charset="-120"/>
              </a:rPr>
              <a:t>→</a:t>
            </a:r>
            <a:endParaRPr lang="en-US" sz="2000" dirty="0"/>
          </a:p>
        </p:txBody>
      </p:sp>
      <p:sp>
        <p:nvSpPr>
          <p:cNvPr id="28" name="Shape 23"/>
          <p:cNvSpPr/>
          <p:nvPr/>
        </p:nvSpPr>
        <p:spPr>
          <a:xfrm>
            <a:off x="7509281" y="2286000"/>
            <a:ext cx="1783080" cy="1965960"/>
          </a:xfrm>
          <a:prstGeom prst="roundRect">
            <a:avLst>
              <a:gd name="adj" fmla="val 4615"/>
            </a:avLst>
          </a:prstGeom>
          <a:solidFill>
            <a:srgbClr val="161D34"/>
          </a:solidFill>
          <a:ln w="15875">
            <a:solidFill>
              <a:srgbClr val="F5D67D"/>
            </a:solidFill>
            <a:prstDash val="solid"/>
          </a:ln>
        </p:spPr>
      </p:sp>
      <p:sp>
        <p:nvSpPr>
          <p:cNvPr id="29" name="Shape 24"/>
          <p:cNvSpPr/>
          <p:nvPr/>
        </p:nvSpPr>
        <p:spPr>
          <a:xfrm>
            <a:off x="7896073" y="2256739"/>
            <a:ext cx="1009498" cy="1009498"/>
          </a:xfrm>
          <a:prstGeom prst="ellipse">
            <a:avLst/>
          </a:prstGeom>
          <a:solidFill>
            <a:srgbClr val="F5D67D">
              <a:alpha val="10000"/>
            </a:srgbClr>
          </a:solidFill>
          <a:ln/>
        </p:spPr>
      </p:sp>
      <p:sp>
        <p:nvSpPr>
          <p:cNvPr id="30" name="Shape 25"/>
          <p:cNvSpPr/>
          <p:nvPr/>
        </p:nvSpPr>
        <p:spPr>
          <a:xfrm>
            <a:off x="8027746" y="2388413"/>
            <a:ext cx="746150" cy="746150"/>
          </a:xfrm>
          <a:prstGeom prst="ellipse">
            <a:avLst/>
          </a:prstGeom>
          <a:solidFill>
            <a:srgbClr val="F5D67D">
              <a:alpha val="20000"/>
            </a:srgbClr>
          </a:solidFill>
          <a:ln/>
        </p:spPr>
      </p:sp>
      <p:sp>
        <p:nvSpPr>
          <p:cNvPr id="31" name="Shape 26"/>
          <p:cNvSpPr/>
          <p:nvPr/>
        </p:nvSpPr>
        <p:spPr>
          <a:xfrm>
            <a:off x="8126501" y="2487168"/>
            <a:ext cx="548640" cy="548640"/>
          </a:xfrm>
          <a:prstGeom prst="ellipse">
            <a:avLst/>
          </a:prstGeom>
          <a:solidFill>
            <a:srgbClr val="161D34"/>
          </a:solidFill>
          <a:ln w="15875">
            <a:solidFill>
              <a:srgbClr val="F5D67D">
                <a:alpha val="75000"/>
              </a:srgbClr>
            </a:solidFill>
            <a:prstDash val="solid"/>
          </a:ln>
        </p:spPr>
      </p:sp>
      <p:pic>
        <p:nvPicPr>
          <p:cNvPr id="32" name="Image 3" descr="preencoded.png">    </p:cNvPr>
          <p:cNvPicPr>
            <a:picLocks noChangeAspect="1"/>
          </p:cNvPicPr>
          <p:nvPr/>
        </p:nvPicPr>
        <p:blipFill>
          <a:blip r:embed="rId4"/>
          <a:stretch>
            <a:fillRect/>
          </a:stretch>
        </p:blipFill>
        <p:spPr>
          <a:xfrm>
            <a:off x="8274634" y="2635301"/>
            <a:ext cx="252374" cy="252374"/>
          </a:xfrm>
          <a:prstGeom prst="rect">
            <a:avLst/>
          </a:prstGeom>
        </p:spPr>
      </p:pic>
      <p:sp>
        <p:nvSpPr>
          <p:cNvPr id="33" name="Text 27"/>
          <p:cNvSpPr/>
          <p:nvPr/>
        </p:nvSpPr>
        <p:spPr>
          <a:xfrm>
            <a:off x="7600721" y="3154680"/>
            <a:ext cx="1600200" cy="457200"/>
          </a:xfrm>
          <a:prstGeom prst="rect">
            <a:avLst/>
          </a:prstGeom>
          <a:noFill/>
          <a:ln/>
        </p:spPr>
        <p:txBody>
          <a:bodyPr wrap="square" lIns="0" tIns="0" rIns="0" bIns="0" rtlCol="0" anchor="ctr"/>
          <a:lstStyle/>
          <a:p>
            <a:pPr algn="ctr" indent="0" marL="0">
              <a:lnSpc>
                <a:spcPct val="105000"/>
              </a:lnSpc>
              <a:buNone/>
            </a:pPr>
            <a:r>
              <a:rPr lang="en-US" sz="1150" b="1" dirty="0">
                <a:solidFill>
                  <a:srgbClr val="F5F6FA"/>
                </a:solidFill>
                <a:latin typeface="Arial" pitchFamily="34" charset="0"/>
                <a:ea typeface="Arial" pitchFamily="34" charset="-122"/>
                <a:cs typeface="Arial" pitchFamily="34" charset="-120"/>
              </a:rPr>
              <a:t>/ritual — Thả đi</a:t>
            </a:r>
            <a:endParaRPr lang="en-US" sz="1150" dirty="0"/>
          </a:p>
        </p:txBody>
      </p:sp>
      <p:sp>
        <p:nvSpPr>
          <p:cNvPr id="34" name="Text 28"/>
          <p:cNvSpPr/>
          <p:nvPr/>
        </p:nvSpPr>
        <p:spPr>
          <a:xfrm>
            <a:off x="7600721" y="3611880"/>
            <a:ext cx="1600200" cy="594360"/>
          </a:xfrm>
          <a:prstGeom prst="rect">
            <a:avLst/>
          </a:prstGeom>
          <a:noFill/>
          <a:ln/>
        </p:spPr>
        <p:txBody>
          <a:bodyPr wrap="square" lIns="0" tIns="0" rIns="0" bIns="0" rtlCol="0" anchor="ctr"/>
          <a:lstStyle/>
          <a:p>
            <a:pPr algn="ctr" indent="0" marL="0">
              <a:lnSpc>
                <a:spcPct val="115000"/>
              </a:lnSpc>
              <a:buNone/>
            </a:pPr>
            <a:r>
              <a:rPr lang="en-US" sz="900" dirty="0">
                <a:solidFill>
                  <a:srgbClr val="AAB2D4"/>
                </a:solidFill>
                <a:latin typeface="Calibri" pitchFamily="34" charset="0"/>
                <a:ea typeface="Calibri" pitchFamily="34" charset="-122"/>
                <a:cs typeface="Calibri" pitchFamily="34" charset="-120"/>
              </a:rPr>
              <a:t>Cần đăng nhập để nhận thông báo tương tác</a:t>
            </a:r>
            <a:endParaRPr lang="en-US" sz="900" dirty="0"/>
          </a:p>
        </p:txBody>
      </p:sp>
      <p:sp>
        <p:nvSpPr>
          <p:cNvPr id="35" name="Text 29"/>
          <p:cNvSpPr/>
          <p:nvPr/>
        </p:nvSpPr>
        <p:spPr>
          <a:xfrm>
            <a:off x="9292361" y="2926080"/>
            <a:ext cx="521894" cy="457200"/>
          </a:xfrm>
          <a:prstGeom prst="rect">
            <a:avLst/>
          </a:prstGeom>
          <a:noFill/>
          <a:ln/>
        </p:spPr>
        <p:txBody>
          <a:bodyPr wrap="square" lIns="0" tIns="0" rIns="0" bIns="0" rtlCol="0" anchor="ctr"/>
          <a:lstStyle/>
          <a:p>
            <a:pPr algn="ctr" indent="0" marL="0">
              <a:buNone/>
            </a:pPr>
            <a:r>
              <a:rPr lang="en-US" sz="2000" dirty="0">
                <a:solidFill>
                  <a:srgbClr val="747CA3"/>
                </a:solidFill>
                <a:latin typeface="Arial" pitchFamily="34" charset="0"/>
                <a:ea typeface="Arial" pitchFamily="34" charset="-122"/>
                <a:cs typeface="Arial" pitchFamily="34" charset="-120"/>
              </a:rPr>
              <a:t>→</a:t>
            </a:r>
            <a:endParaRPr lang="en-US" sz="2000" dirty="0"/>
          </a:p>
        </p:txBody>
      </p:sp>
      <p:sp>
        <p:nvSpPr>
          <p:cNvPr id="36" name="Shape 30"/>
          <p:cNvSpPr/>
          <p:nvPr/>
        </p:nvSpPr>
        <p:spPr>
          <a:xfrm>
            <a:off x="9814255" y="2286000"/>
            <a:ext cx="1783080" cy="1965960"/>
          </a:xfrm>
          <a:prstGeom prst="roundRect">
            <a:avLst>
              <a:gd name="adj" fmla="val 4615"/>
            </a:avLst>
          </a:prstGeom>
          <a:solidFill>
            <a:srgbClr val="161D34"/>
          </a:solidFill>
          <a:ln w="12700">
            <a:solidFill>
              <a:srgbClr val="2A3358"/>
            </a:solidFill>
            <a:prstDash val="solid"/>
          </a:ln>
        </p:spPr>
      </p:sp>
      <p:sp>
        <p:nvSpPr>
          <p:cNvPr id="37" name="Shape 31"/>
          <p:cNvSpPr/>
          <p:nvPr/>
        </p:nvSpPr>
        <p:spPr>
          <a:xfrm>
            <a:off x="10201046" y="2256739"/>
            <a:ext cx="1009498" cy="1009498"/>
          </a:xfrm>
          <a:prstGeom prst="ellipse">
            <a:avLst/>
          </a:prstGeom>
          <a:solidFill>
            <a:srgbClr val="4FD1C5">
              <a:alpha val="10000"/>
            </a:srgbClr>
          </a:solidFill>
          <a:ln/>
        </p:spPr>
      </p:sp>
      <p:sp>
        <p:nvSpPr>
          <p:cNvPr id="38" name="Shape 32"/>
          <p:cNvSpPr/>
          <p:nvPr/>
        </p:nvSpPr>
        <p:spPr>
          <a:xfrm>
            <a:off x="10332720" y="2388413"/>
            <a:ext cx="746150" cy="746150"/>
          </a:xfrm>
          <a:prstGeom prst="ellipse">
            <a:avLst/>
          </a:prstGeom>
          <a:solidFill>
            <a:srgbClr val="4FD1C5">
              <a:alpha val="20000"/>
            </a:srgbClr>
          </a:solidFill>
          <a:ln/>
        </p:spPr>
      </p:sp>
      <p:sp>
        <p:nvSpPr>
          <p:cNvPr id="39" name="Shape 33"/>
          <p:cNvSpPr/>
          <p:nvPr/>
        </p:nvSpPr>
        <p:spPr>
          <a:xfrm>
            <a:off x="10431475" y="2487168"/>
            <a:ext cx="548640" cy="548640"/>
          </a:xfrm>
          <a:prstGeom prst="ellipse">
            <a:avLst/>
          </a:prstGeom>
          <a:solidFill>
            <a:srgbClr val="161D34"/>
          </a:solidFill>
          <a:ln w="15875">
            <a:solidFill>
              <a:srgbClr val="4FD1C5">
                <a:alpha val="75000"/>
              </a:srgbClr>
            </a:solidFill>
            <a:prstDash val="solid"/>
          </a:ln>
        </p:spPr>
      </p:sp>
      <p:pic>
        <p:nvPicPr>
          <p:cNvPr id="40" name="Image 4" descr="preencoded.png">    </p:cNvPr>
          <p:cNvPicPr>
            <a:picLocks noChangeAspect="1"/>
          </p:cNvPicPr>
          <p:nvPr/>
        </p:nvPicPr>
        <p:blipFill>
          <a:blip r:embed="rId5"/>
          <a:stretch>
            <a:fillRect/>
          </a:stretch>
        </p:blipFill>
        <p:spPr>
          <a:xfrm>
            <a:off x="10579608" y="2635301"/>
            <a:ext cx="252374" cy="252374"/>
          </a:xfrm>
          <a:prstGeom prst="rect">
            <a:avLst/>
          </a:prstGeom>
        </p:spPr>
      </p:pic>
      <p:sp>
        <p:nvSpPr>
          <p:cNvPr id="41" name="Text 34"/>
          <p:cNvSpPr/>
          <p:nvPr/>
        </p:nvSpPr>
        <p:spPr>
          <a:xfrm>
            <a:off x="9905695" y="3154680"/>
            <a:ext cx="1600200" cy="457200"/>
          </a:xfrm>
          <a:prstGeom prst="rect">
            <a:avLst/>
          </a:prstGeom>
          <a:noFill/>
          <a:ln/>
        </p:spPr>
        <p:txBody>
          <a:bodyPr wrap="square" lIns="0" tIns="0" rIns="0" bIns="0" rtlCol="0" anchor="ctr"/>
          <a:lstStyle/>
          <a:p>
            <a:pPr algn="ctr" indent="0" marL="0">
              <a:lnSpc>
                <a:spcPct val="105000"/>
              </a:lnSpc>
              <a:buNone/>
            </a:pPr>
            <a:r>
              <a:rPr lang="en-US" sz="1150" b="1" dirty="0">
                <a:solidFill>
                  <a:srgbClr val="F5F6FA"/>
                </a:solidFill>
                <a:latin typeface="Arial" pitchFamily="34" charset="0"/>
                <a:ea typeface="Arial" pitchFamily="34" charset="-122"/>
                <a:cs typeface="Arial" pitchFamily="34" charset="-120"/>
              </a:rPr>
              <a:t>Quay lại /explore</a:t>
            </a:r>
            <a:endParaRPr lang="en-US" sz="1150" dirty="0"/>
          </a:p>
        </p:txBody>
      </p:sp>
      <p:sp>
        <p:nvSpPr>
          <p:cNvPr id="42" name="Text 35"/>
          <p:cNvSpPr/>
          <p:nvPr/>
        </p:nvSpPr>
        <p:spPr>
          <a:xfrm>
            <a:off x="9905695" y="3611880"/>
            <a:ext cx="1600200" cy="594360"/>
          </a:xfrm>
          <a:prstGeom prst="rect">
            <a:avLst/>
          </a:prstGeom>
          <a:noFill/>
          <a:ln/>
        </p:spPr>
        <p:txBody>
          <a:bodyPr wrap="square" lIns="0" tIns="0" rIns="0" bIns="0" rtlCol="0" anchor="ctr"/>
          <a:lstStyle/>
          <a:p>
            <a:pPr algn="ctr" indent="0" marL="0">
              <a:lnSpc>
                <a:spcPct val="115000"/>
              </a:lnSpc>
              <a:buNone/>
            </a:pPr>
            <a:r>
              <a:rPr lang="en-US" sz="900" dirty="0">
                <a:solidFill>
                  <a:srgbClr val="AAB2D4"/>
                </a:solidFill>
                <a:latin typeface="Calibri" pitchFamily="34" charset="0"/>
                <a:ea typeface="Calibri" pitchFamily="34" charset="-122"/>
                <a:cs typeface="Calibri" pitchFamily="34" charset="-120"/>
              </a:rPr>
              <a:t>Đọc, phản hồi câu chuyện của người khác</a:t>
            </a:r>
            <a:endParaRPr lang="en-US" sz="900" dirty="0"/>
          </a:p>
        </p:txBody>
      </p:sp>
      <p:sp>
        <p:nvSpPr>
          <p:cNvPr id="43" name="Text 36"/>
          <p:cNvSpPr/>
          <p:nvPr/>
        </p:nvSpPr>
        <p:spPr>
          <a:xfrm>
            <a:off x="594360" y="4617720"/>
            <a:ext cx="11002975" cy="822960"/>
          </a:xfrm>
          <a:prstGeom prst="rect">
            <a:avLst/>
          </a:prstGeom>
          <a:noFill/>
          <a:ln/>
        </p:spPr>
        <p:txBody>
          <a:bodyPr wrap="square" lIns="0" tIns="0" rIns="0" bIns="0" rtlCol="0" anchor="ctr"/>
          <a:lstStyle/>
          <a:p>
            <a:pPr indent="0" marL="0">
              <a:lnSpc>
                <a:spcPct val="130000"/>
              </a:lnSpc>
              <a:buNone/>
            </a:pPr>
            <a:r>
              <a:rPr lang="en-US" sz="1200" i="1" dirty="0">
                <a:solidFill>
                  <a:srgbClr val="747CA3"/>
                </a:solidFill>
                <a:latin typeface="Calibri" pitchFamily="34" charset="0"/>
                <a:ea typeface="Calibri" pitchFamily="34" charset="-122"/>
                <a:cs typeface="Calibri" pitchFamily="34" charset="-120"/>
              </a:rPr>
              <a:t>Thay đổi lớn nhất so với thiết kế ban đầu: bỏ chuỗi bắt buộc /auth → /profile-setup → /checkin trước khi vào sản phẩm. Đăng nhập giờ chỉ xuất hiện đúng một lần — ở bước có lý do rõ ràng nhất.</a:t>
            </a:r>
            <a:endParaRPr lang="en-US" sz="1200" dirty="0"/>
          </a:p>
        </p:txBody>
      </p:sp>
      <p:sp>
        <p:nvSpPr>
          <p:cNvPr id="44" name="Text 37"/>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03 · HIỆU QUẢ SẢN PHẨM</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Những chi tiết “chạm” cảm xúc</a:t>
            </a:r>
            <a:endParaRPr lang="en-US" sz="3000" dirty="0"/>
          </a:p>
        </p:txBody>
      </p:sp>
      <p:sp>
        <p:nvSpPr>
          <p:cNvPr id="4" name="Shape 2"/>
          <p:cNvSpPr/>
          <p:nvPr/>
        </p:nvSpPr>
        <p:spPr>
          <a:xfrm>
            <a:off x="594360" y="1645920"/>
            <a:ext cx="3484778" cy="1737360"/>
          </a:xfrm>
          <a:prstGeom prst="roundRect">
            <a:avLst>
              <a:gd name="adj" fmla="val 4211"/>
            </a:avLst>
          </a:prstGeom>
          <a:solidFill>
            <a:srgbClr val="161D34"/>
          </a:solidFill>
          <a:ln w="12700">
            <a:solidFill>
              <a:srgbClr val="2A3358"/>
            </a:solidFill>
            <a:prstDash val="solid"/>
          </a:ln>
        </p:spPr>
      </p:sp>
      <p:sp>
        <p:nvSpPr>
          <p:cNvPr id="5" name="Shape 3"/>
          <p:cNvSpPr/>
          <p:nvPr/>
        </p:nvSpPr>
        <p:spPr>
          <a:xfrm>
            <a:off x="611734" y="1635862"/>
            <a:ext cx="925373" cy="925373"/>
          </a:xfrm>
          <a:prstGeom prst="ellipse">
            <a:avLst/>
          </a:prstGeom>
          <a:solidFill>
            <a:srgbClr val="B389F5">
              <a:alpha val="10000"/>
            </a:srgbClr>
          </a:solidFill>
          <a:ln/>
        </p:spPr>
      </p:sp>
      <p:sp>
        <p:nvSpPr>
          <p:cNvPr id="6" name="Shape 4"/>
          <p:cNvSpPr/>
          <p:nvPr/>
        </p:nvSpPr>
        <p:spPr>
          <a:xfrm>
            <a:off x="732434" y="1756562"/>
            <a:ext cx="683971" cy="683971"/>
          </a:xfrm>
          <a:prstGeom prst="ellipse">
            <a:avLst/>
          </a:prstGeom>
          <a:solidFill>
            <a:srgbClr val="B389F5">
              <a:alpha val="20000"/>
            </a:srgbClr>
          </a:solidFill>
          <a:ln/>
        </p:spPr>
      </p:sp>
      <p:sp>
        <p:nvSpPr>
          <p:cNvPr id="7" name="Shape 5"/>
          <p:cNvSpPr/>
          <p:nvPr/>
        </p:nvSpPr>
        <p:spPr>
          <a:xfrm>
            <a:off x="822960" y="1847088"/>
            <a:ext cx="502920" cy="502920"/>
          </a:xfrm>
          <a:prstGeom prst="ellipse">
            <a:avLst/>
          </a:prstGeom>
          <a:solidFill>
            <a:srgbClr val="161D34"/>
          </a:solidFill>
          <a:ln w="15875">
            <a:solidFill>
              <a:srgbClr val="B389F5">
                <a:alpha val="75000"/>
              </a:srgbClr>
            </a:solidFill>
            <a:prstDash val="solid"/>
          </a:ln>
        </p:spPr>
      </p:sp>
      <p:pic>
        <p:nvPicPr>
          <p:cNvPr id="8" name="Image 0" descr="preencoded.png">    </p:cNvPr>
          <p:cNvPicPr>
            <a:picLocks noChangeAspect="1"/>
          </p:cNvPicPr>
          <p:nvPr/>
        </p:nvPicPr>
        <p:blipFill>
          <a:blip r:embed="rId1"/>
          <a:stretch>
            <a:fillRect/>
          </a:stretch>
        </p:blipFill>
        <p:spPr>
          <a:xfrm>
            <a:off x="958748" y="1982876"/>
            <a:ext cx="231343" cy="231343"/>
          </a:xfrm>
          <a:prstGeom prst="rect">
            <a:avLst/>
          </a:prstGeom>
        </p:spPr>
      </p:pic>
      <p:sp>
        <p:nvSpPr>
          <p:cNvPr id="9" name="Text 6"/>
          <p:cNvSpPr/>
          <p:nvPr/>
        </p:nvSpPr>
        <p:spPr>
          <a:xfrm>
            <a:off x="822960" y="2468880"/>
            <a:ext cx="3027578" cy="320040"/>
          </a:xfrm>
          <a:prstGeom prst="rect">
            <a:avLst/>
          </a:prstGeom>
          <a:noFill/>
          <a:ln/>
        </p:spPr>
        <p:txBody>
          <a:bodyPr wrap="square" lIns="0" tIns="0" rIns="0" bIns="0" rtlCol="0" anchor="ctr"/>
          <a:lstStyle/>
          <a:p>
            <a:pPr indent="0" marL="0">
              <a:buNone/>
            </a:pPr>
            <a:r>
              <a:rPr lang="en-US" sz="1200" b="1" dirty="0">
                <a:solidFill>
                  <a:srgbClr val="F5F6FA"/>
                </a:solidFill>
                <a:latin typeface="Arial" pitchFamily="34" charset="0"/>
                <a:ea typeface="Arial" pitchFamily="34" charset="-122"/>
                <a:cs typeface="Arial" pitchFamily="34" charset="-120"/>
              </a:rPr>
              <a:t>Lượt xem thầm lặng</a:t>
            </a:r>
            <a:endParaRPr lang="en-US" sz="1200" dirty="0"/>
          </a:p>
        </p:txBody>
      </p:sp>
      <p:sp>
        <p:nvSpPr>
          <p:cNvPr id="10" name="Text 7"/>
          <p:cNvSpPr/>
          <p:nvPr/>
        </p:nvSpPr>
        <p:spPr>
          <a:xfrm>
            <a:off x="822960" y="2779776"/>
            <a:ext cx="3027578" cy="548640"/>
          </a:xfrm>
          <a:prstGeom prst="rect">
            <a:avLst/>
          </a:prstGeom>
          <a:noFill/>
          <a:ln/>
        </p:spPr>
        <p:txBody>
          <a:bodyPr wrap="square" lIns="0" tIns="0" rIns="0" bIns="0" rtlCol="0" anchor="ctr"/>
          <a:lstStyle/>
          <a:p>
            <a:pPr indent="0" marL="0">
              <a:lnSpc>
                <a:spcPct val="120000"/>
              </a:lnSpc>
              <a:buNone/>
            </a:pPr>
            <a:r>
              <a:rPr lang="en-US" sz="950" dirty="0">
                <a:solidFill>
                  <a:srgbClr val="AAB2D4"/>
                </a:solidFill>
                <a:latin typeface="Calibri" pitchFamily="34" charset="0"/>
                <a:ea typeface="Calibri" pitchFamily="34" charset="-122"/>
                <a:cs typeface="Calibri" pitchFamily="34" charset="-120"/>
              </a:rPr>
              <a:t>“Quiet views” — biết có người đã đọc, không cần bình luận.</a:t>
            </a:r>
            <a:endParaRPr lang="en-US" sz="950" dirty="0"/>
          </a:p>
        </p:txBody>
      </p:sp>
      <p:sp>
        <p:nvSpPr>
          <p:cNvPr id="11" name="Shape 8"/>
          <p:cNvSpPr/>
          <p:nvPr/>
        </p:nvSpPr>
        <p:spPr>
          <a:xfrm>
            <a:off x="4353458" y="1645920"/>
            <a:ext cx="3484778" cy="1737360"/>
          </a:xfrm>
          <a:prstGeom prst="roundRect">
            <a:avLst>
              <a:gd name="adj" fmla="val 4211"/>
            </a:avLst>
          </a:prstGeom>
          <a:solidFill>
            <a:srgbClr val="161D34"/>
          </a:solidFill>
          <a:ln w="12700">
            <a:solidFill>
              <a:srgbClr val="2A3358"/>
            </a:solidFill>
            <a:prstDash val="solid"/>
          </a:ln>
        </p:spPr>
      </p:sp>
      <p:sp>
        <p:nvSpPr>
          <p:cNvPr id="12" name="Shape 9"/>
          <p:cNvSpPr/>
          <p:nvPr/>
        </p:nvSpPr>
        <p:spPr>
          <a:xfrm>
            <a:off x="4370832" y="1635862"/>
            <a:ext cx="925373" cy="925373"/>
          </a:xfrm>
          <a:prstGeom prst="ellipse">
            <a:avLst/>
          </a:prstGeom>
          <a:solidFill>
            <a:srgbClr val="B389F5">
              <a:alpha val="10000"/>
            </a:srgbClr>
          </a:solidFill>
          <a:ln/>
        </p:spPr>
      </p:sp>
      <p:sp>
        <p:nvSpPr>
          <p:cNvPr id="13" name="Shape 10"/>
          <p:cNvSpPr/>
          <p:nvPr/>
        </p:nvSpPr>
        <p:spPr>
          <a:xfrm>
            <a:off x="4491533" y="1756562"/>
            <a:ext cx="683971" cy="683971"/>
          </a:xfrm>
          <a:prstGeom prst="ellipse">
            <a:avLst/>
          </a:prstGeom>
          <a:solidFill>
            <a:srgbClr val="B389F5">
              <a:alpha val="20000"/>
            </a:srgbClr>
          </a:solidFill>
          <a:ln/>
        </p:spPr>
      </p:sp>
      <p:sp>
        <p:nvSpPr>
          <p:cNvPr id="14" name="Shape 11"/>
          <p:cNvSpPr/>
          <p:nvPr/>
        </p:nvSpPr>
        <p:spPr>
          <a:xfrm>
            <a:off x="4582058" y="1847088"/>
            <a:ext cx="502920" cy="502920"/>
          </a:xfrm>
          <a:prstGeom prst="ellipse">
            <a:avLst/>
          </a:prstGeom>
          <a:solidFill>
            <a:srgbClr val="161D34"/>
          </a:solidFill>
          <a:ln w="15875">
            <a:solidFill>
              <a:srgbClr val="B389F5">
                <a:alpha val="75000"/>
              </a:srgbClr>
            </a:solidFill>
            <a:prstDash val="solid"/>
          </a:ln>
        </p:spPr>
      </p:sp>
      <p:pic>
        <p:nvPicPr>
          <p:cNvPr id="15" name="Image 1" descr="preencoded.png">    </p:cNvPr>
          <p:cNvPicPr>
            <a:picLocks noChangeAspect="1"/>
          </p:cNvPicPr>
          <p:nvPr/>
        </p:nvPicPr>
        <p:blipFill>
          <a:blip r:embed="rId2"/>
          <a:stretch>
            <a:fillRect/>
          </a:stretch>
        </p:blipFill>
        <p:spPr>
          <a:xfrm>
            <a:off x="4717847" y="1982876"/>
            <a:ext cx="231343" cy="231343"/>
          </a:xfrm>
          <a:prstGeom prst="rect">
            <a:avLst/>
          </a:prstGeom>
        </p:spPr>
      </p:pic>
      <p:sp>
        <p:nvSpPr>
          <p:cNvPr id="16" name="Text 12"/>
          <p:cNvSpPr/>
          <p:nvPr/>
        </p:nvSpPr>
        <p:spPr>
          <a:xfrm>
            <a:off x="4582058" y="2468880"/>
            <a:ext cx="3027578" cy="320040"/>
          </a:xfrm>
          <a:prstGeom prst="rect">
            <a:avLst/>
          </a:prstGeom>
          <a:noFill/>
          <a:ln/>
        </p:spPr>
        <p:txBody>
          <a:bodyPr wrap="square" lIns="0" tIns="0" rIns="0" bIns="0" rtlCol="0" anchor="ctr"/>
          <a:lstStyle/>
          <a:p>
            <a:pPr indent="0" marL="0">
              <a:buNone/>
            </a:pPr>
            <a:r>
              <a:rPr lang="en-US" sz="1200" b="1" dirty="0">
                <a:solidFill>
                  <a:srgbClr val="F5F6FA"/>
                </a:solidFill>
                <a:latin typeface="Arial" pitchFamily="34" charset="0"/>
                <a:ea typeface="Arial" pitchFamily="34" charset="-122"/>
                <a:cs typeface="Arial" pitchFamily="34" charset="-120"/>
              </a:rPr>
              <a:t>“Vọng” (Echo)</a:t>
            </a:r>
            <a:endParaRPr lang="en-US" sz="1200" dirty="0"/>
          </a:p>
        </p:txBody>
      </p:sp>
      <p:sp>
        <p:nvSpPr>
          <p:cNvPr id="17" name="Text 13"/>
          <p:cNvSpPr/>
          <p:nvPr/>
        </p:nvSpPr>
        <p:spPr>
          <a:xfrm>
            <a:off x="4582058" y="2779776"/>
            <a:ext cx="3027578" cy="548640"/>
          </a:xfrm>
          <a:prstGeom prst="rect">
            <a:avLst/>
          </a:prstGeom>
          <a:noFill/>
          <a:ln/>
        </p:spPr>
        <p:txBody>
          <a:bodyPr wrap="square" lIns="0" tIns="0" rIns="0" bIns="0" rtlCol="0" anchor="ctr"/>
          <a:lstStyle/>
          <a:p>
            <a:pPr indent="0" marL="0">
              <a:lnSpc>
                <a:spcPct val="120000"/>
              </a:lnSpc>
              <a:buNone/>
            </a:pPr>
            <a:r>
              <a:rPr lang="en-US" sz="950" dirty="0">
                <a:solidFill>
                  <a:srgbClr val="AAB2D4"/>
                </a:solidFill>
                <a:latin typeface="Calibri" pitchFamily="34" charset="0"/>
                <a:ea typeface="Calibri" pitchFamily="34" charset="-122"/>
                <a:cs typeface="Calibri" pitchFamily="34" charset="-120"/>
              </a:rPr>
              <a:t>Tín hiệu nhẹ khi một câu chuyện cũ gây cộng hưởng trở lại.</a:t>
            </a:r>
            <a:endParaRPr lang="en-US" sz="950" dirty="0"/>
          </a:p>
        </p:txBody>
      </p:sp>
      <p:sp>
        <p:nvSpPr>
          <p:cNvPr id="18" name="Shape 14"/>
          <p:cNvSpPr/>
          <p:nvPr/>
        </p:nvSpPr>
        <p:spPr>
          <a:xfrm>
            <a:off x="8112557" y="1645920"/>
            <a:ext cx="3484778" cy="1737360"/>
          </a:xfrm>
          <a:prstGeom prst="roundRect">
            <a:avLst>
              <a:gd name="adj" fmla="val 4211"/>
            </a:avLst>
          </a:prstGeom>
          <a:solidFill>
            <a:srgbClr val="161D34"/>
          </a:solidFill>
          <a:ln w="12700">
            <a:solidFill>
              <a:srgbClr val="2A3358"/>
            </a:solidFill>
            <a:prstDash val="solid"/>
          </a:ln>
        </p:spPr>
      </p:sp>
      <p:sp>
        <p:nvSpPr>
          <p:cNvPr id="19" name="Shape 15"/>
          <p:cNvSpPr/>
          <p:nvPr/>
        </p:nvSpPr>
        <p:spPr>
          <a:xfrm>
            <a:off x="8129930" y="1635862"/>
            <a:ext cx="925373" cy="925373"/>
          </a:xfrm>
          <a:prstGeom prst="ellipse">
            <a:avLst/>
          </a:prstGeom>
          <a:solidFill>
            <a:srgbClr val="B389F5">
              <a:alpha val="10000"/>
            </a:srgbClr>
          </a:solidFill>
          <a:ln/>
        </p:spPr>
      </p:sp>
      <p:sp>
        <p:nvSpPr>
          <p:cNvPr id="20" name="Shape 16"/>
          <p:cNvSpPr/>
          <p:nvPr/>
        </p:nvSpPr>
        <p:spPr>
          <a:xfrm>
            <a:off x="8250631" y="1756562"/>
            <a:ext cx="683971" cy="683971"/>
          </a:xfrm>
          <a:prstGeom prst="ellipse">
            <a:avLst/>
          </a:prstGeom>
          <a:solidFill>
            <a:srgbClr val="B389F5">
              <a:alpha val="20000"/>
            </a:srgbClr>
          </a:solidFill>
          <a:ln/>
        </p:spPr>
      </p:sp>
      <p:sp>
        <p:nvSpPr>
          <p:cNvPr id="21" name="Shape 17"/>
          <p:cNvSpPr/>
          <p:nvPr/>
        </p:nvSpPr>
        <p:spPr>
          <a:xfrm>
            <a:off x="8341157" y="1847088"/>
            <a:ext cx="502920" cy="502920"/>
          </a:xfrm>
          <a:prstGeom prst="ellipse">
            <a:avLst/>
          </a:prstGeom>
          <a:solidFill>
            <a:srgbClr val="161D34"/>
          </a:solidFill>
          <a:ln w="15875">
            <a:solidFill>
              <a:srgbClr val="B389F5">
                <a:alpha val="75000"/>
              </a:srgbClr>
            </a:solidFill>
            <a:prstDash val="solid"/>
          </a:ln>
        </p:spPr>
      </p:sp>
      <p:pic>
        <p:nvPicPr>
          <p:cNvPr id="22" name="Image 2" descr="preencoded.png">    </p:cNvPr>
          <p:cNvPicPr>
            <a:picLocks noChangeAspect="1"/>
          </p:cNvPicPr>
          <p:nvPr/>
        </p:nvPicPr>
        <p:blipFill>
          <a:blip r:embed="rId3"/>
          <a:stretch>
            <a:fillRect/>
          </a:stretch>
        </p:blipFill>
        <p:spPr>
          <a:xfrm>
            <a:off x="8476945" y="1982876"/>
            <a:ext cx="231343" cy="231343"/>
          </a:xfrm>
          <a:prstGeom prst="rect">
            <a:avLst/>
          </a:prstGeom>
        </p:spPr>
      </p:pic>
      <p:sp>
        <p:nvSpPr>
          <p:cNvPr id="23" name="Text 18"/>
          <p:cNvSpPr/>
          <p:nvPr/>
        </p:nvSpPr>
        <p:spPr>
          <a:xfrm>
            <a:off x="8341157" y="2468880"/>
            <a:ext cx="3027578" cy="320040"/>
          </a:xfrm>
          <a:prstGeom prst="rect">
            <a:avLst/>
          </a:prstGeom>
          <a:noFill/>
          <a:ln/>
        </p:spPr>
        <p:txBody>
          <a:bodyPr wrap="square" lIns="0" tIns="0" rIns="0" bIns="0" rtlCol="0" anchor="ctr"/>
          <a:lstStyle/>
          <a:p>
            <a:pPr indent="0" marL="0">
              <a:buNone/>
            </a:pPr>
            <a:r>
              <a:rPr lang="en-US" sz="1200" b="1" dirty="0">
                <a:solidFill>
                  <a:srgbClr val="F5F6FA"/>
                </a:solidFill>
                <a:latin typeface="Arial" pitchFamily="34" charset="0"/>
                <a:ea typeface="Arial" pitchFamily="34" charset="-122"/>
                <a:cs typeface="Arial" pitchFamily="34" charset="-120"/>
              </a:rPr>
              <a:t>Bản đồ vì sao / đại dương</a:t>
            </a:r>
            <a:endParaRPr lang="en-US" sz="1200" dirty="0"/>
          </a:p>
        </p:txBody>
      </p:sp>
      <p:sp>
        <p:nvSpPr>
          <p:cNvPr id="24" name="Text 19"/>
          <p:cNvSpPr/>
          <p:nvPr/>
        </p:nvSpPr>
        <p:spPr>
          <a:xfrm>
            <a:off x="8341157" y="2779776"/>
            <a:ext cx="3027578" cy="548640"/>
          </a:xfrm>
          <a:prstGeom prst="rect">
            <a:avLst/>
          </a:prstGeom>
          <a:noFill/>
          <a:ln/>
        </p:spPr>
        <p:txBody>
          <a:bodyPr wrap="square" lIns="0" tIns="0" rIns="0" bIns="0" rtlCol="0" anchor="ctr"/>
          <a:lstStyle/>
          <a:p>
            <a:pPr indent="0" marL="0">
              <a:lnSpc>
                <a:spcPct val="120000"/>
              </a:lnSpc>
              <a:buNone/>
            </a:pPr>
            <a:r>
              <a:rPr lang="en-US" sz="950" dirty="0">
                <a:solidFill>
                  <a:srgbClr val="AAB2D4"/>
                </a:solidFill>
                <a:latin typeface="Calibri" pitchFamily="34" charset="0"/>
                <a:ea typeface="Calibri" pitchFamily="34" charset="-122"/>
                <a:cs typeface="Calibri" pitchFamily="34" charset="-120"/>
              </a:rPr>
              <a:t>Xem toàn cảnh cộng đồng — cảm giác không đơn độc.</a:t>
            </a:r>
            <a:endParaRPr lang="en-US" sz="950" dirty="0"/>
          </a:p>
        </p:txBody>
      </p:sp>
      <p:sp>
        <p:nvSpPr>
          <p:cNvPr id="25" name="Shape 20"/>
          <p:cNvSpPr/>
          <p:nvPr/>
        </p:nvSpPr>
        <p:spPr>
          <a:xfrm>
            <a:off x="594360" y="3611880"/>
            <a:ext cx="3484778" cy="1737360"/>
          </a:xfrm>
          <a:prstGeom prst="roundRect">
            <a:avLst>
              <a:gd name="adj" fmla="val 4211"/>
            </a:avLst>
          </a:prstGeom>
          <a:solidFill>
            <a:srgbClr val="161D34"/>
          </a:solidFill>
          <a:ln w="12700">
            <a:solidFill>
              <a:srgbClr val="2A3358"/>
            </a:solidFill>
            <a:prstDash val="solid"/>
          </a:ln>
        </p:spPr>
      </p:sp>
      <p:sp>
        <p:nvSpPr>
          <p:cNvPr id="26" name="Shape 21"/>
          <p:cNvSpPr/>
          <p:nvPr/>
        </p:nvSpPr>
        <p:spPr>
          <a:xfrm>
            <a:off x="611734" y="3601822"/>
            <a:ext cx="925373" cy="925373"/>
          </a:xfrm>
          <a:prstGeom prst="ellipse">
            <a:avLst/>
          </a:prstGeom>
          <a:solidFill>
            <a:srgbClr val="B389F5">
              <a:alpha val="10000"/>
            </a:srgbClr>
          </a:solidFill>
          <a:ln/>
        </p:spPr>
      </p:sp>
      <p:sp>
        <p:nvSpPr>
          <p:cNvPr id="27" name="Shape 22"/>
          <p:cNvSpPr/>
          <p:nvPr/>
        </p:nvSpPr>
        <p:spPr>
          <a:xfrm>
            <a:off x="732434" y="3722522"/>
            <a:ext cx="683971" cy="683971"/>
          </a:xfrm>
          <a:prstGeom prst="ellipse">
            <a:avLst/>
          </a:prstGeom>
          <a:solidFill>
            <a:srgbClr val="B389F5">
              <a:alpha val="20000"/>
            </a:srgbClr>
          </a:solidFill>
          <a:ln/>
        </p:spPr>
      </p:sp>
      <p:sp>
        <p:nvSpPr>
          <p:cNvPr id="28" name="Shape 23"/>
          <p:cNvSpPr/>
          <p:nvPr/>
        </p:nvSpPr>
        <p:spPr>
          <a:xfrm>
            <a:off x="822960" y="3813048"/>
            <a:ext cx="502920" cy="502920"/>
          </a:xfrm>
          <a:prstGeom prst="ellipse">
            <a:avLst/>
          </a:prstGeom>
          <a:solidFill>
            <a:srgbClr val="161D34"/>
          </a:solidFill>
          <a:ln w="15875">
            <a:solidFill>
              <a:srgbClr val="B389F5">
                <a:alpha val="75000"/>
              </a:srgbClr>
            </a:solidFill>
            <a:prstDash val="solid"/>
          </a:ln>
        </p:spPr>
      </p:sp>
      <p:pic>
        <p:nvPicPr>
          <p:cNvPr id="29" name="Image 3" descr="preencoded.png">    </p:cNvPr>
          <p:cNvPicPr>
            <a:picLocks noChangeAspect="1"/>
          </p:cNvPicPr>
          <p:nvPr/>
        </p:nvPicPr>
        <p:blipFill>
          <a:blip r:embed="rId4"/>
          <a:stretch>
            <a:fillRect/>
          </a:stretch>
        </p:blipFill>
        <p:spPr>
          <a:xfrm>
            <a:off x="958748" y="3948836"/>
            <a:ext cx="231343" cy="231343"/>
          </a:xfrm>
          <a:prstGeom prst="rect">
            <a:avLst/>
          </a:prstGeom>
        </p:spPr>
      </p:pic>
      <p:sp>
        <p:nvSpPr>
          <p:cNvPr id="30" name="Text 24"/>
          <p:cNvSpPr/>
          <p:nvPr/>
        </p:nvSpPr>
        <p:spPr>
          <a:xfrm>
            <a:off x="822960" y="4434840"/>
            <a:ext cx="3027578" cy="320040"/>
          </a:xfrm>
          <a:prstGeom prst="rect">
            <a:avLst/>
          </a:prstGeom>
          <a:noFill/>
          <a:ln/>
        </p:spPr>
        <p:txBody>
          <a:bodyPr wrap="square" lIns="0" tIns="0" rIns="0" bIns="0" rtlCol="0" anchor="ctr"/>
          <a:lstStyle/>
          <a:p>
            <a:pPr indent="0" marL="0">
              <a:buNone/>
            </a:pPr>
            <a:r>
              <a:rPr lang="en-US" sz="1200" b="1" dirty="0">
                <a:solidFill>
                  <a:srgbClr val="F5F6FA"/>
                </a:solidFill>
                <a:latin typeface="Arial" pitchFamily="34" charset="0"/>
                <a:ea typeface="Arial" pitchFamily="34" charset="-122"/>
                <a:cs typeface="Arial" pitchFamily="34" charset="-120"/>
              </a:rPr>
              <a:t>Chế độ chiêm nghiệm</a:t>
            </a:r>
            <a:endParaRPr lang="en-US" sz="1200" dirty="0"/>
          </a:p>
        </p:txBody>
      </p:sp>
      <p:sp>
        <p:nvSpPr>
          <p:cNvPr id="31" name="Text 25"/>
          <p:cNvSpPr/>
          <p:nvPr/>
        </p:nvSpPr>
        <p:spPr>
          <a:xfrm>
            <a:off x="822960" y="4745736"/>
            <a:ext cx="3027578" cy="548640"/>
          </a:xfrm>
          <a:prstGeom prst="rect">
            <a:avLst/>
          </a:prstGeom>
          <a:noFill/>
          <a:ln/>
        </p:spPr>
        <p:txBody>
          <a:bodyPr wrap="square" lIns="0" tIns="0" rIns="0" bIns="0" rtlCol="0" anchor="ctr"/>
          <a:lstStyle/>
          <a:p>
            <a:pPr indent="0" marL="0">
              <a:lnSpc>
                <a:spcPct val="120000"/>
              </a:lnSpc>
              <a:buNone/>
            </a:pPr>
            <a:r>
              <a:rPr lang="en-US" sz="950" dirty="0">
                <a:solidFill>
                  <a:srgbClr val="AAB2D4"/>
                </a:solidFill>
                <a:latin typeface="Calibri" pitchFamily="34" charset="0"/>
                <a:ea typeface="Calibri" pitchFamily="34" charset="-122"/>
                <a:cs typeface="Calibri" pitchFamily="34" charset="-120"/>
              </a:rPr>
              <a:t>Constellation View — toàn màn hình, tĩnh lặng, không xao nhãng.</a:t>
            </a:r>
            <a:endParaRPr lang="en-US" sz="950" dirty="0"/>
          </a:p>
        </p:txBody>
      </p:sp>
      <p:sp>
        <p:nvSpPr>
          <p:cNvPr id="32" name="Shape 26"/>
          <p:cNvSpPr/>
          <p:nvPr/>
        </p:nvSpPr>
        <p:spPr>
          <a:xfrm>
            <a:off x="4353458" y="3611880"/>
            <a:ext cx="3484778" cy="1737360"/>
          </a:xfrm>
          <a:prstGeom prst="roundRect">
            <a:avLst>
              <a:gd name="adj" fmla="val 4211"/>
            </a:avLst>
          </a:prstGeom>
          <a:solidFill>
            <a:srgbClr val="161D34"/>
          </a:solidFill>
          <a:ln w="12700">
            <a:solidFill>
              <a:srgbClr val="2A3358"/>
            </a:solidFill>
            <a:prstDash val="solid"/>
          </a:ln>
        </p:spPr>
      </p:sp>
      <p:sp>
        <p:nvSpPr>
          <p:cNvPr id="33" name="Shape 27"/>
          <p:cNvSpPr/>
          <p:nvPr/>
        </p:nvSpPr>
        <p:spPr>
          <a:xfrm>
            <a:off x="4370832" y="3601822"/>
            <a:ext cx="925373" cy="925373"/>
          </a:xfrm>
          <a:prstGeom prst="ellipse">
            <a:avLst/>
          </a:prstGeom>
          <a:solidFill>
            <a:srgbClr val="B389F5">
              <a:alpha val="10000"/>
            </a:srgbClr>
          </a:solidFill>
          <a:ln/>
        </p:spPr>
      </p:sp>
      <p:sp>
        <p:nvSpPr>
          <p:cNvPr id="34" name="Shape 28"/>
          <p:cNvSpPr/>
          <p:nvPr/>
        </p:nvSpPr>
        <p:spPr>
          <a:xfrm>
            <a:off x="4491533" y="3722522"/>
            <a:ext cx="683971" cy="683971"/>
          </a:xfrm>
          <a:prstGeom prst="ellipse">
            <a:avLst/>
          </a:prstGeom>
          <a:solidFill>
            <a:srgbClr val="B389F5">
              <a:alpha val="20000"/>
            </a:srgbClr>
          </a:solidFill>
          <a:ln/>
        </p:spPr>
      </p:sp>
      <p:sp>
        <p:nvSpPr>
          <p:cNvPr id="35" name="Shape 29"/>
          <p:cNvSpPr/>
          <p:nvPr/>
        </p:nvSpPr>
        <p:spPr>
          <a:xfrm>
            <a:off x="4582058" y="3813048"/>
            <a:ext cx="502920" cy="502920"/>
          </a:xfrm>
          <a:prstGeom prst="ellipse">
            <a:avLst/>
          </a:prstGeom>
          <a:solidFill>
            <a:srgbClr val="161D34"/>
          </a:solidFill>
          <a:ln w="15875">
            <a:solidFill>
              <a:srgbClr val="B389F5">
                <a:alpha val="75000"/>
              </a:srgbClr>
            </a:solidFill>
            <a:prstDash val="solid"/>
          </a:ln>
        </p:spPr>
      </p:sp>
      <p:pic>
        <p:nvPicPr>
          <p:cNvPr id="36" name="Image 4" descr="preencoded.png">    </p:cNvPr>
          <p:cNvPicPr>
            <a:picLocks noChangeAspect="1"/>
          </p:cNvPicPr>
          <p:nvPr/>
        </p:nvPicPr>
        <p:blipFill>
          <a:blip r:embed="rId5"/>
          <a:stretch>
            <a:fillRect/>
          </a:stretch>
        </p:blipFill>
        <p:spPr>
          <a:xfrm>
            <a:off x="4717847" y="3948836"/>
            <a:ext cx="231343" cy="231343"/>
          </a:xfrm>
          <a:prstGeom prst="rect">
            <a:avLst/>
          </a:prstGeom>
        </p:spPr>
      </p:pic>
      <p:sp>
        <p:nvSpPr>
          <p:cNvPr id="37" name="Text 30"/>
          <p:cNvSpPr/>
          <p:nvPr/>
        </p:nvSpPr>
        <p:spPr>
          <a:xfrm>
            <a:off x="4582058" y="4434840"/>
            <a:ext cx="3027578" cy="320040"/>
          </a:xfrm>
          <a:prstGeom prst="rect">
            <a:avLst/>
          </a:prstGeom>
          <a:noFill/>
          <a:ln/>
        </p:spPr>
        <p:txBody>
          <a:bodyPr wrap="square" lIns="0" tIns="0" rIns="0" bIns="0" rtlCol="0" anchor="ctr"/>
          <a:lstStyle/>
          <a:p>
            <a:pPr indent="0" marL="0">
              <a:buNone/>
            </a:pPr>
            <a:r>
              <a:rPr lang="en-US" sz="1200" b="1" dirty="0">
                <a:solidFill>
                  <a:srgbClr val="F5F6FA"/>
                </a:solidFill>
                <a:latin typeface="Arial" pitchFamily="34" charset="0"/>
                <a:ea typeface="Arial" pitchFamily="34" charset="-122"/>
                <a:cs typeface="Arial" pitchFamily="34" charset="-120"/>
              </a:rPr>
              <a:t>Chỉ báo hiện diện</a:t>
            </a:r>
            <a:endParaRPr lang="en-US" sz="1200" dirty="0"/>
          </a:p>
        </p:txBody>
      </p:sp>
      <p:sp>
        <p:nvSpPr>
          <p:cNvPr id="38" name="Text 31"/>
          <p:cNvSpPr/>
          <p:nvPr/>
        </p:nvSpPr>
        <p:spPr>
          <a:xfrm>
            <a:off x="4582058" y="4745736"/>
            <a:ext cx="3027578" cy="548640"/>
          </a:xfrm>
          <a:prstGeom prst="rect">
            <a:avLst/>
          </a:prstGeom>
          <a:noFill/>
          <a:ln/>
        </p:spPr>
        <p:txBody>
          <a:bodyPr wrap="square" lIns="0" tIns="0" rIns="0" bIns="0" rtlCol="0" anchor="ctr"/>
          <a:lstStyle/>
          <a:p>
            <a:pPr indent="0" marL="0">
              <a:lnSpc>
                <a:spcPct val="120000"/>
              </a:lnSpc>
              <a:buNone/>
            </a:pPr>
            <a:r>
              <a:rPr lang="en-US" sz="950" dirty="0">
                <a:solidFill>
                  <a:srgbClr val="AAB2D4"/>
                </a:solidFill>
                <a:latin typeface="Calibri" pitchFamily="34" charset="0"/>
                <a:ea typeface="Calibri" pitchFamily="34" charset="-122"/>
                <a:cs typeface="Calibri" pitchFamily="34" charset="-120"/>
              </a:rPr>
              <a:t>Gợi ý có bao nhiêu người đang “ở gần” lúc này.</a:t>
            </a:r>
            <a:endParaRPr lang="en-US" sz="950" dirty="0"/>
          </a:p>
        </p:txBody>
      </p:sp>
      <p:sp>
        <p:nvSpPr>
          <p:cNvPr id="39" name="Shape 32"/>
          <p:cNvSpPr/>
          <p:nvPr/>
        </p:nvSpPr>
        <p:spPr>
          <a:xfrm>
            <a:off x="8112557" y="3611880"/>
            <a:ext cx="3484778" cy="1737360"/>
          </a:xfrm>
          <a:prstGeom prst="roundRect">
            <a:avLst>
              <a:gd name="adj" fmla="val 4211"/>
            </a:avLst>
          </a:prstGeom>
          <a:solidFill>
            <a:srgbClr val="161D34"/>
          </a:solidFill>
          <a:ln w="12700">
            <a:solidFill>
              <a:srgbClr val="2A3358"/>
            </a:solidFill>
            <a:prstDash val="solid"/>
          </a:ln>
        </p:spPr>
      </p:sp>
      <p:sp>
        <p:nvSpPr>
          <p:cNvPr id="40" name="Shape 33"/>
          <p:cNvSpPr/>
          <p:nvPr/>
        </p:nvSpPr>
        <p:spPr>
          <a:xfrm>
            <a:off x="8129930" y="3601822"/>
            <a:ext cx="925373" cy="925373"/>
          </a:xfrm>
          <a:prstGeom prst="ellipse">
            <a:avLst/>
          </a:prstGeom>
          <a:solidFill>
            <a:srgbClr val="B389F5">
              <a:alpha val="10000"/>
            </a:srgbClr>
          </a:solidFill>
          <a:ln/>
        </p:spPr>
      </p:sp>
      <p:sp>
        <p:nvSpPr>
          <p:cNvPr id="41" name="Shape 34"/>
          <p:cNvSpPr/>
          <p:nvPr/>
        </p:nvSpPr>
        <p:spPr>
          <a:xfrm>
            <a:off x="8250631" y="3722522"/>
            <a:ext cx="683971" cy="683971"/>
          </a:xfrm>
          <a:prstGeom prst="ellipse">
            <a:avLst/>
          </a:prstGeom>
          <a:solidFill>
            <a:srgbClr val="B389F5">
              <a:alpha val="20000"/>
            </a:srgbClr>
          </a:solidFill>
          <a:ln/>
        </p:spPr>
      </p:sp>
      <p:sp>
        <p:nvSpPr>
          <p:cNvPr id="42" name="Shape 35"/>
          <p:cNvSpPr/>
          <p:nvPr/>
        </p:nvSpPr>
        <p:spPr>
          <a:xfrm>
            <a:off x="8341157" y="3813048"/>
            <a:ext cx="502920" cy="502920"/>
          </a:xfrm>
          <a:prstGeom prst="ellipse">
            <a:avLst/>
          </a:prstGeom>
          <a:solidFill>
            <a:srgbClr val="161D34"/>
          </a:solidFill>
          <a:ln w="15875">
            <a:solidFill>
              <a:srgbClr val="B389F5">
                <a:alpha val="75000"/>
              </a:srgbClr>
            </a:solidFill>
            <a:prstDash val="solid"/>
          </a:ln>
        </p:spPr>
      </p:sp>
      <p:pic>
        <p:nvPicPr>
          <p:cNvPr id="43" name="Image 5" descr="preencoded.png">    </p:cNvPr>
          <p:cNvPicPr>
            <a:picLocks noChangeAspect="1"/>
          </p:cNvPicPr>
          <p:nvPr/>
        </p:nvPicPr>
        <p:blipFill>
          <a:blip r:embed="rId6"/>
          <a:stretch>
            <a:fillRect/>
          </a:stretch>
        </p:blipFill>
        <p:spPr>
          <a:xfrm>
            <a:off x="8476945" y="3948836"/>
            <a:ext cx="231343" cy="231343"/>
          </a:xfrm>
          <a:prstGeom prst="rect">
            <a:avLst/>
          </a:prstGeom>
        </p:spPr>
      </p:pic>
      <p:sp>
        <p:nvSpPr>
          <p:cNvPr id="44" name="Text 36"/>
          <p:cNvSpPr/>
          <p:nvPr/>
        </p:nvSpPr>
        <p:spPr>
          <a:xfrm>
            <a:off x="8341157" y="4434840"/>
            <a:ext cx="3027578" cy="320040"/>
          </a:xfrm>
          <a:prstGeom prst="rect">
            <a:avLst/>
          </a:prstGeom>
          <a:noFill/>
          <a:ln/>
        </p:spPr>
        <p:txBody>
          <a:bodyPr wrap="square" lIns="0" tIns="0" rIns="0" bIns="0" rtlCol="0" anchor="ctr"/>
          <a:lstStyle/>
          <a:p>
            <a:pPr indent="0" marL="0">
              <a:buNone/>
            </a:pPr>
            <a:r>
              <a:rPr lang="en-US" sz="1200" b="1" dirty="0">
                <a:solidFill>
                  <a:srgbClr val="F5F6FA"/>
                </a:solidFill>
                <a:latin typeface="Arial" pitchFamily="34" charset="0"/>
                <a:ea typeface="Arial" pitchFamily="34" charset="-122"/>
                <a:cs typeface="Arial" pitchFamily="34" charset="-120"/>
              </a:rPr>
              <a:t>Copy theo tâm trạng</a:t>
            </a:r>
            <a:endParaRPr lang="en-US" sz="1200" dirty="0"/>
          </a:p>
        </p:txBody>
      </p:sp>
      <p:sp>
        <p:nvSpPr>
          <p:cNvPr id="45" name="Text 37"/>
          <p:cNvSpPr/>
          <p:nvPr/>
        </p:nvSpPr>
        <p:spPr>
          <a:xfrm>
            <a:off x="8341157" y="4745736"/>
            <a:ext cx="3027578" cy="548640"/>
          </a:xfrm>
          <a:prstGeom prst="rect">
            <a:avLst/>
          </a:prstGeom>
          <a:noFill/>
          <a:ln/>
        </p:spPr>
        <p:txBody>
          <a:bodyPr wrap="square" lIns="0" tIns="0" rIns="0" bIns="0" rtlCol="0" anchor="ctr"/>
          <a:lstStyle/>
          <a:p>
            <a:pPr indent="0" marL="0">
              <a:lnSpc>
                <a:spcPct val="120000"/>
              </a:lnSpc>
              <a:buNone/>
            </a:pPr>
            <a:r>
              <a:rPr lang="en-US" sz="950" dirty="0">
                <a:solidFill>
                  <a:srgbClr val="AAB2D4"/>
                </a:solidFill>
                <a:latin typeface="Calibri" pitchFamily="34" charset="0"/>
                <a:ea typeface="Calibri" pitchFamily="34" charset="-122"/>
                <a:cs typeface="Calibri" pitchFamily="34" charset="-120"/>
              </a:rPr>
              <a:t>Ngôn từ thay đổi theo thời điểm &amp; cảm xúc vừa ghi nhận.</a:t>
            </a:r>
            <a:endParaRPr lang="en-US" sz="950" dirty="0"/>
          </a:p>
        </p:txBody>
      </p:sp>
      <p:sp>
        <p:nvSpPr>
          <p:cNvPr id="46" name="Text 38"/>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03 · HIỆU QUẢ SẢN PHẨM</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Công cụ chữa lành &amp; an toàn</a:t>
            </a:r>
            <a:endParaRPr lang="en-US" sz="3000" dirty="0"/>
          </a:p>
        </p:txBody>
      </p:sp>
      <p:sp>
        <p:nvSpPr>
          <p:cNvPr id="4" name="Shape 2"/>
          <p:cNvSpPr/>
          <p:nvPr/>
        </p:nvSpPr>
        <p:spPr>
          <a:xfrm>
            <a:off x="594360" y="1691640"/>
            <a:ext cx="5341468" cy="1828800"/>
          </a:xfrm>
          <a:prstGeom prst="roundRect">
            <a:avLst>
              <a:gd name="adj" fmla="val 4000"/>
            </a:avLst>
          </a:prstGeom>
          <a:solidFill>
            <a:srgbClr val="161D34"/>
          </a:solidFill>
          <a:ln w="12700">
            <a:solidFill>
              <a:srgbClr val="2A3358"/>
            </a:solidFill>
            <a:prstDash val="solid"/>
          </a:ln>
        </p:spPr>
      </p:sp>
      <p:sp>
        <p:nvSpPr>
          <p:cNvPr id="5" name="Shape 3"/>
          <p:cNvSpPr/>
          <p:nvPr/>
        </p:nvSpPr>
        <p:spPr>
          <a:xfrm>
            <a:off x="619963" y="1717243"/>
            <a:ext cx="1009498" cy="1009498"/>
          </a:xfrm>
          <a:prstGeom prst="ellipse">
            <a:avLst/>
          </a:prstGeom>
          <a:solidFill>
            <a:srgbClr val="F2A65A">
              <a:alpha val="10000"/>
            </a:srgbClr>
          </a:solidFill>
          <a:ln/>
        </p:spPr>
      </p:sp>
      <p:sp>
        <p:nvSpPr>
          <p:cNvPr id="6" name="Shape 4"/>
          <p:cNvSpPr/>
          <p:nvPr/>
        </p:nvSpPr>
        <p:spPr>
          <a:xfrm>
            <a:off x="751637" y="1848917"/>
            <a:ext cx="746150" cy="746150"/>
          </a:xfrm>
          <a:prstGeom prst="ellipse">
            <a:avLst/>
          </a:prstGeom>
          <a:solidFill>
            <a:srgbClr val="F2A65A">
              <a:alpha val="20000"/>
            </a:srgbClr>
          </a:solidFill>
          <a:ln/>
        </p:spPr>
      </p:sp>
      <p:sp>
        <p:nvSpPr>
          <p:cNvPr id="7" name="Shape 5"/>
          <p:cNvSpPr/>
          <p:nvPr/>
        </p:nvSpPr>
        <p:spPr>
          <a:xfrm>
            <a:off x="850392" y="1947672"/>
            <a:ext cx="548640" cy="548640"/>
          </a:xfrm>
          <a:prstGeom prst="ellipse">
            <a:avLst/>
          </a:prstGeom>
          <a:solidFill>
            <a:srgbClr val="161D34"/>
          </a:solidFill>
          <a:ln w="15875">
            <a:solidFill>
              <a:srgbClr val="F2A65A">
                <a:alpha val="75000"/>
              </a:srgbClr>
            </a:solidFill>
            <a:prstDash val="solid"/>
          </a:ln>
        </p:spPr>
      </p:sp>
      <p:pic>
        <p:nvPicPr>
          <p:cNvPr id="8" name="Image 0" descr="preencoded.png">    </p:cNvPr>
          <p:cNvPicPr>
            <a:picLocks noChangeAspect="1"/>
          </p:cNvPicPr>
          <p:nvPr/>
        </p:nvPicPr>
        <p:blipFill>
          <a:blip r:embed="rId1"/>
          <a:stretch>
            <a:fillRect/>
          </a:stretch>
        </p:blipFill>
        <p:spPr>
          <a:xfrm>
            <a:off x="998525" y="2095805"/>
            <a:ext cx="252374" cy="252374"/>
          </a:xfrm>
          <a:prstGeom prst="rect">
            <a:avLst/>
          </a:prstGeom>
        </p:spPr>
      </p:pic>
      <p:sp>
        <p:nvSpPr>
          <p:cNvPr id="9" name="Text 6"/>
          <p:cNvSpPr/>
          <p:nvPr/>
        </p:nvSpPr>
        <p:spPr>
          <a:xfrm>
            <a:off x="1554480" y="1965960"/>
            <a:ext cx="4107028" cy="457200"/>
          </a:xfrm>
          <a:prstGeom prst="rect">
            <a:avLst/>
          </a:prstGeom>
          <a:noFill/>
          <a:ln/>
        </p:spPr>
        <p:txBody>
          <a:bodyPr wrap="square" lIns="0" tIns="0" rIns="0" bIns="0" rtlCol="0" anchor="ctr"/>
          <a:lstStyle/>
          <a:p>
            <a:pPr indent="0" marL="0">
              <a:lnSpc>
                <a:spcPct val="110000"/>
              </a:lnSpc>
              <a:buNone/>
            </a:pPr>
            <a:r>
              <a:rPr lang="en-US" sz="1300" b="1" dirty="0">
                <a:solidFill>
                  <a:srgbClr val="F5F6FA"/>
                </a:solidFill>
                <a:latin typeface="Arial" pitchFamily="34" charset="0"/>
                <a:ea typeface="Arial" pitchFamily="34" charset="-122"/>
                <a:cs typeface="Arial" pitchFamily="34" charset="-120"/>
              </a:rPr>
              <a:t>Nút hỗ trợ khủng hoảng</a:t>
            </a:r>
            <a:endParaRPr lang="en-US" sz="1300" dirty="0"/>
          </a:p>
        </p:txBody>
      </p:sp>
      <p:sp>
        <p:nvSpPr>
          <p:cNvPr id="10" name="Text 7"/>
          <p:cNvSpPr/>
          <p:nvPr/>
        </p:nvSpPr>
        <p:spPr>
          <a:xfrm>
            <a:off x="868680" y="2606040"/>
            <a:ext cx="4792828" cy="82296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Luôn hiển thị ở mọi trang — đường dây nóng thật, đã xác minh.</a:t>
            </a:r>
            <a:endParaRPr lang="en-US" sz="1050" dirty="0"/>
          </a:p>
        </p:txBody>
      </p:sp>
      <p:sp>
        <p:nvSpPr>
          <p:cNvPr id="11" name="Shape 8"/>
          <p:cNvSpPr/>
          <p:nvPr/>
        </p:nvSpPr>
        <p:spPr>
          <a:xfrm>
            <a:off x="868680" y="3136392"/>
            <a:ext cx="1508760" cy="274320"/>
          </a:xfrm>
          <a:prstGeom prst="roundRect">
            <a:avLst>
              <a:gd name="adj" fmla="val 50000"/>
            </a:avLst>
          </a:prstGeom>
          <a:solidFill>
            <a:srgbClr val="10162A"/>
          </a:solidFill>
          <a:ln w="9525">
            <a:solidFill>
              <a:srgbClr val="2A3358"/>
            </a:solidFill>
            <a:prstDash val="solid"/>
          </a:ln>
        </p:spPr>
      </p:sp>
      <p:sp>
        <p:nvSpPr>
          <p:cNvPr id="12" name="Text 9"/>
          <p:cNvSpPr/>
          <p:nvPr/>
        </p:nvSpPr>
        <p:spPr>
          <a:xfrm>
            <a:off x="868680" y="3136392"/>
            <a:ext cx="1508760" cy="274320"/>
          </a:xfrm>
          <a:prstGeom prst="rect">
            <a:avLst/>
          </a:prstGeom>
          <a:noFill/>
          <a:ln/>
        </p:spPr>
        <p:txBody>
          <a:bodyPr wrap="square" lIns="0" tIns="0" rIns="0" bIns="0" rtlCol="0" anchor="ctr"/>
          <a:lstStyle/>
          <a:p>
            <a:pPr algn="ctr" indent="0" marL="0">
              <a:buNone/>
            </a:pPr>
            <a:r>
              <a:rPr lang="en-US" sz="700" b="1" spc="50" kern="0" dirty="0">
                <a:solidFill>
                  <a:srgbClr val="747CA3"/>
                </a:solidFill>
                <a:latin typeface="Calibri" pitchFamily="34" charset="0"/>
                <a:ea typeface="Calibri" pitchFamily="34" charset="-122"/>
                <a:cs typeface="Calibri" pitchFamily="34" charset="-120"/>
              </a:rPr>
              <a:t>MÔ PHỎNG / RULE-BASED</a:t>
            </a:r>
            <a:endParaRPr lang="en-US" sz="700" dirty="0"/>
          </a:p>
        </p:txBody>
      </p:sp>
      <p:sp>
        <p:nvSpPr>
          <p:cNvPr id="13" name="Shape 10"/>
          <p:cNvSpPr/>
          <p:nvPr/>
        </p:nvSpPr>
        <p:spPr>
          <a:xfrm>
            <a:off x="6255868" y="1691640"/>
            <a:ext cx="5341468" cy="1828800"/>
          </a:xfrm>
          <a:prstGeom prst="roundRect">
            <a:avLst>
              <a:gd name="adj" fmla="val 4000"/>
            </a:avLst>
          </a:prstGeom>
          <a:solidFill>
            <a:srgbClr val="161D34"/>
          </a:solidFill>
          <a:ln w="12700">
            <a:solidFill>
              <a:srgbClr val="2A3358"/>
            </a:solidFill>
            <a:prstDash val="solid"/>
          </a:ln>
        </p:spPr>
      </p:sp>
      <p:sp>
        <p:nvSpPr>
          <p:cNvPr id="14" name="Shape 11"/>
          <p:cNvSpPr/>
          <p:nvPr/>
        </p:nvSpPr>
        <p:spPr>
          <a:xfrm>
            <a:off x="6281471" y="1717243"/>
            <a:ext cx="1009498" cy="1009498"/>
          </a:xfrm>
          <a:prstGeom prst="ellipse">
            <a:avLst/>
          </a:prstGeom>
          <a:solidFill>
            <a:srgbClr val="4FD1C5">
              <a:alpha val="10000"/>
            </a:srgbClr>
          </a:solidFill>
          <a:ln/>
        </p:spPr>
      </p:sp>
      <p:sp>
        <p:nvSpPr>
          <p:cNvPr id="15" name="Shape 12"/>
          <p:cNvSpPr/>
          <p:nvPr/>
        </p:nvSpPr>
        <p:spPr>
          <a:xfrm>
            <a:off x="6413144" y="1848917"/>
            <a:ext cx="746150" cy="746150"/>
          </a:xfrm>
          <a:prstGeom prst="ellipse">
            <a:avLst/>
          </a:prstGeom>
          <a:solidFill>
            <a:srgbClr val="4FD1C5">
              <a:alpha val="20000"/>
            </a:srgbClr>
          </a:solidFill>
          <a:ln/>
        </p:spPr>
      </p:sp>
      <p:sp>
        <p:nvSpPr>
          <p:cNvPr id="16" name="Shape 13"/>
          <p:cNvSpPr/>
          <p:nvPr/>
        </p:nvSpPr>
        <p:spPr>
          <a:xfrm>
            <a:off x="6511900" y="1947672"/>
            <a:ext cx="548640" cy="548640"/>
          </a:xfrm>
          <a:prstGeom prst="ellipse">
            <a:avLst/>
          </a:prstGeom>
          <a:solidFill>
            <a:srgbClr val="161D34"/>
          </a:solidFill>
          <a:ln w="15875">
            <a:solidFill>
              <a:srgbClr val="4FD1C5">
                <a:alpha val="75000"/>
              </a:srgbClr>
            </a:solidFill>
            <a:prstDash val="solid"/>
          </a:ln>
        </p:spPr>
      </p:sp>
      <p:pic>
        <p:nvPicPr>
          <p:cNvPr id="17" name="Image 1" descr="preencoded.png">    </p:cNvPr>
          <p:cNvPicPr>
            <a:picLocks noChangeAspect="1"/>
          </p:cNvPicPr>
          <p:nvPr/>
        </p:nvPicPr>
        <p:blipFill>
          <a:blip r:embed="rId2"/>
          <a:stretch>
            <a:fillRect/>
          </a:stretch>
        </p:blipFill>
        <p:spPr>
          <a:xfrm>
            <a:off x="6660032" y="2095805"/>
            <a:ext cx="252374" cy="252374"/>
          </a:xfrm>
          <a:prstGeom prst="rect">
            <a:avLst/>
          </a:prstGeom>
        </p:spPr>
      </p:pic>
      <p:sp>
        <p:nvSpPr>
          <p:cNvPr id="18" name="Text 14"/>
          <p:cNvSpPr/>
          <p:nvPr/>
        </p:nvSpPr>
        <p:spPr>
          <a:xfrm>
            <a:off x="7215988" y="1965960"/>
            <a:ext cx="4107028" cy="457200"/>
          </a:xfrm>
          <a:prstGeom prst="rect">
            <a:avLst/>
          </a:prstGeom>
          <a:noFill/>
          <a:ln/>
        </p:spPr>
        <p:txBody>
          <a:bodyPr wrap="square" lIns="0" tIns="0" rIns="0" bIns="0" rtlCol="0" anchor="ctr"/>
          <a:lstStyle/>
          <a:p>
            <a:pPr indent="0" marL="0">
              <a:lnSpc>
                <a:spcPct val="110000"/>
              </a:lnSpc>
              <a:buNone/>
            </a:pPr>
            <a:r>
              <a:rPr lang="en-US" sz="1300" b="1" dirty="0">
                <a:solidFill>
                  <a:srgbClr val="F5F6FA"/>
                </a:solidFill>
                <a:latin typeface="Arial" pitchFamily="34" charset="0"/>
                <a:ea typeface="Arial" pitchFamily="34" charset="-122"/>
                <a:cs typeface="Arial" pitchFamily="34" charset="-120"/>
              </a:rPr>
              <a:t>Bài tập grounding 5-4-3-2-1</a:t>
            </a:r>
            <a:endParaRPr lang="en-US" sz="1300" dirty="0"/>
          </a:p>
        </p:txBody>
      </p:sp>
      <p:sp>
        <p:nvSpPr>
          <p:cNvPr id="19" name="Text 15"/>
          <p:cNvSpPr/>
          <p:nvPr/>
        </p:nvSpPr>
        <p:spPr>
          <a:xfrm>
            <a:off x="6530188" y="2606040"/>
            <a:ext cx="4792828" cy="82296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Kỹ thuật neo đất tức thời khi cảm xúc quá tải.</a:t>
            </a:r>
            <a:endParaRPr lang="en-US" sz="1050" dirty="0"/>
          </a:p>
        </p:txBody>
      </p:sp>
      <p:sp>
        <p:nvSpPr>
          <p:cNvPr id="20" name="Shape 16"/>
          <p:cNvSpPr/>
          <p:nvPr/>
        </p:nvSpPr>
        <p:spPr>
          <a:xfrm>
            <a:off x="6530188" y="3136392"/>
            <a:ext cx="1508760" cy="274320"/>
          </a:xfrm>
          <a:prstGeom prst="roundRect">
            <a:avLst>
              <a:gd name="adj" fmla="val 50000"/>
            </a:avLst>
          </a:prstGeom>
          <a:solidFill>
            <a:srgbClr val="10162A"/>
          </a:solidFill>
          <a:ln w="9525">
            <a:solidFill>
              <a:srgbClr val="2A3358"/>
            </a:solidFill>
            <a:prstDash val="solid"/>
          </a:ln>
        </p:spPr>
      </p:sp>
      <p:sp>
        <p:nvSpPr>
          <p:cNvPr id="21" name="Text 17"/>
          <p:cNvSpPr/>
          <p:nvPr/>
        </p:nvSpPr>
        <p:spPr>
          <a:xfrm>
            <a:off x="6530188" y="3136392"/>
            <a:ext cx="1508760" cy="274320"/>
          </a:xfrm>
          <a:prstGeom prst="rect">
            <a:avLst/>
          </a:prstGeom>
          <a:noFill/>
          <a:ln/>
        </p:spPr>
        <p:txBody>
          <a:bodyPr wrap="square" lIns="0" tIns="0" rIns="0" bIns="0" rtlCol="0" anchor="ctr"/>
          <a:lstStyle/>
          <a:p>
            <a:pPr algn="ctr" indent="0" marL="0">
              <a:buNone/>
            </a:pPr>
            <a:r>
              <a:rPr lang="en-US" sz="700" b="1" spc="50" kern="0" dirty="0">
                <a:solidFill>
                  <a:srgbClr val="747CA3"/>
                </a:solidFill>
                <a:latin typeface="Calibri" pitchFamily="34" charset="0"/>
                <a:ea typeface="Calibri" pitchFamily="34" charset="-122"/>
                <a:cs typeface="Calibri" pitchFamily="34" charset="-120"/>
              </a:rPr>
              <a:t>MÔ PHỎNG / RULE-BASED</a:t>
            </a:r>
            <a:endParaRPr lang="en-US" sz="700" dirty="0"/>
          </a:p>
        </p:txBody>
      </p:sp>
      <p:sp>
        <p:nvSpPr>
          <p:cNvPr id="22" name="Shape 18"/>
          <p:cNvSpPr/>
          <p:nvPr/>
        </p:nvSpPr>
        <p:spPr>
          <a:xfrm>
            <a:off x="594360" y="3749040"/>
            <a:ext cx="5341468" cy="1828800"/>
          </a:xfrm>
          <a:prstGeom prst="roundRect">
            <a:avLst>
              <a:gd name="adj" fmla="val 4000"/>
            </a:avLst>
          </a:prstGeom>
          <a:solidFill>
            <a:srgbClr val="161D34"/>
          </a:solidFill>
          <a:ln w="12700">
            <a:solidFill>
              <a:srgbClr val="2A3358"/>
            </a:solidFill>
            <a:prstDash val="solid"/>
          </a:ln>
        </p:spPr>
      </p:sp>
      <p:sp>
        <p:nvSpPr>
          <p:cNvPr id="23" name="Shape 19"/>
          <p:cNvSpPr/>
          <p:nvPr/>
        </p:nvSpPr>
        <p:spPr>
          <a:xfrm>
            <a:off x="619963" y="3774643"/>
            <a:ext cx="1009498" cy="1009498"/>
          </a:xfrm>
          <a:prstGeom prst="ellipse">
            <a:avLst/>
          </a:prstGeom>
          <a:solidFill>
            <a:srgbClr val="B389F5">
              <a:alpha val="10000"/>
            </a:srgbClr>
          </a:solidFill>
          <a:ln/>
        </p:spPr>
      </p:sp>
      <p:sp>
        <p:nvSpPr>
          <p:cNvPr id="24" name="Shape 20"/>
          <p:cNvSpPr/>
          <p:nvPr/>
        </p:nvSpPr>
        <p:spPr>
          <a:xfrm>
            <a:off x="751637" y="3906317"/>
            <a:ext cx="746150" cy="746150"/>
          </a:xfrm>
          <a:prstGeom prst="ellipse">
            <a:avLst/>
          </a:prstGeom>
          <a:solidFill>
            <a:srgbClr val="B389F5">
              <a:alpha val="20000"/>
            </a:srgbClr>
          </a:solidFill>
          <a:ln/>
        </p:spPr>
      </p:sp>
      <p:sp>
        <p:nvSpPr>
          <p:cNvPr id="25" name="Shape 21"/>
          <p:cNvSpPr/>
          <p:nvPr/>
        </p:nvSpPr>
        <p:spPr>
          <a:xfrm>
            <a:off x="850392" y="4005072"/>
            <a:ext cx="548640" cy="548640"/>
          </a:xfrm>
          <a:prstGeom prst="ellipse">
            <a:avLst/>
          </a:prstGeom>
          <a:solidFill>
            <a:srgbClr val="161D34"/>
          </a:solidFill>
          <a:ln w="15875">
            <a:solidFill>
              <a:srgbClr val="B389F5">
                <a:alpha val="75000"/>
              </a:srgbClr>
            </a:solidFill>
            <a:prstDash val="solid"/>
          </a:ln>
        </p:spPr>
      </p:sp>
      <p:pic>
        <p:nvPicPr>
          <p:cNvPr id="26" name="Image 2" descr="preencoded.png">    </p:cNvPr>
          <p:cNvPicPr>
            <a:picLocks noChangeAspect="1"/>
          </p:cNvPicPr>
          <p:nvPr/>
        </p:nvPicPr>
        <p:blipFill>
          <a:blip r:embed="rId3"/>
          <a:stretch>
            <a:fillRect/>
          </a:stretch>
        </p:blipFill>
        <p:spPr>
          <a:xfrm>
            <a:off x="998525" y="4153205"/>
            <a:ext cx="252374" cy="252374"/>
          </a:xfrm>
          <a:prstGeom prst="rect">
            <a:avLst/>
          </a:prstGeom>
        </p:spPr>
      </p:pic>
      <p:sp>
        <p:nvSpPr>
          <p:cNvPr id="27" name="Text 22"/>
          <p:cNvSpPr/>
          <p:nvPr/>
        </p:nvSpPr>
        <p:spPr>
          <a:xfrm>
            <a:off x="1554480" y="4023360"/>
            <a:ext cx="4107028" cy="457200"/>
          </a:xfrm>
          <a:prstGeom prst="rect">
            <a:avLst/>
          </a:prstGeom>
          <a:noFill/>
          <a:ln/>
        </p:spPr>
        <p:txBody>
          <a:bodyPr wrap="square" lIns="0" tIns="0" rIns="0" bIns="0" rtlCol="0" anchor="ctr"/>
          <a:lstStyle/>
          <a:p>
            <a:pPr indent="0" marL="0">
              <a:lnSpc>
                <a:spcPct val="110000"/>
              </a:lnSpc>
              <a:buNone/>
            </a:pPr>
            <a:r>
              <a:rPr lang="en-US" sz="1300" b="1" dirty="0">
                <a:solidFill>
                  <a:srgbClr val="F5F6FA"/>
                </a:solidFill>
                <a:latin typeface="Arial" pitchFamily="34" charset="0"/>
                <a:ea typeface="Arial" pitchFamily="34" charset="-122"/>
                <a:cs typeface="Arial" pitchFamily="34" charset="-120"/>
              </a:rPr>
              <a:t>Phản hồi “bạn đồng hành” (mô phỏng)</a:t>
            </a:r>
            <a:endParaRPr lang="en-US" sz="1300" dirty="0"/>
          </a:p>
        </p:txBody>
      </p:sp>
      <p:sp>
        <p:nvSpPr>
          <p:cNvPr id="28" name="Text 23"/>
          <p:cNvSpPr/>
          <p:nvPr/>
        </p:nvSpPr>
        <p:spPr>
          <a:xfrm>
            <a:off x="868680" y="4663440"/>
            <a:ext cx="4792828" cy="82296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Gợi ý thấu cảm dựa trên luật — luôn ghi rõ đây là tự động.</a:t>
            </a:r>
            <a:endParaRPr lang="en-US" sz="1050" dirty="0"/>
          </a:p>
        </p:txBody>
      </p:sp>
      <p:sp>
        <p:nvSpPr>
          <p:cNvPr id="29" name="Shape 24"/>
          <p:cNvSpPr/>
          <p:nvPr/>
        </p:nvSpPr>
        <p:spPr>
          <a:xfrm>
            <a:off x="868680" y="5193792"/>
            <a:ext cx="1508760" cy="274320"/>
          </a:xfrm>
          <a:prstGeom prst="roundRect">
            <a:avLst>
              <a:gd name="adj" fmla="val 50000"/>
            </a:avLst>
          </a:prstGeom>
          <a:solidFill>
            <a:srgbClr val="10162A"/>
          </a:solidFill>
          <a:ln w="9525">
            <a:solidFill>
              <a:srgbClr val="2A3358"/>
            </a:solidFill>
            <a:prstDash val="solid"/>
          </a:ln>
        </p:spPr>
      </p:sp>
      <p:sp>
        <p:nvSpPr>
          <p:cNvPr id="30" name="Text 25"/>
          <p:cNvSpPr/>
          <p:nvPr/>
        </p:nvSpPr>
        <p:spPr>
          <a:xfrm>
            <a:off x="868680" y="5193792"/>
            <a:ext cx="1508760" cy="274320"/>
          </a:xfrm>
          <a:prstGeom prst="rect">
            <a:avLst/>
          </a:prstGeom>
          <a:noFill/>
          <a:ln/>
        </p:spPr>
        <p:txBody>
          <a:bodyPr wrap="square" lIns="0" tIns="0" rIns="0" bIns="0" rtlCol="0" anchor="ctr"/>
          <a:lstStyle/>
          <a:p>
            <a:pPr algn="ctr" indent="0" marL="0">
              <a:buNone/>
            </a:pPr>
            <a:r>
              <a:rPr lang="en-US" sz="700" b="1" spc="50" kern="0" dirty="0">
                <a:solidFill>
                  <a:srgbClr val="747CA3"/>
                </a:solidFill>
                <a:latin typeface="Calibri" pitchFamily="34" charset="0"/>
                <a:ea typeface="Calibri" pitchFamily="34" charset="-122"/>
                <a:cs typeface="Calibri" pitchFamily="34" charset="-120"/>
              </a:rPr>
              <a:t>MÔ PHỎNG / RULE-BASED</a:t>
            </a:r>
            <a:endParaRPr lang="en-US" sz="700" dirty="0"/>
          </a:p>
        </p:txBody>
      </p:sp>
      <p:sp>
        <p:nvSpPr>
          <p:cNvPr id="31" name="Shape 26"/>
          <p:cNvSpPr/>
          <p:nvPr/>
        </p:nvSpPr>
        <p:spPr>
          <a:xfrm>
            <a:off x="6255868" y="3749040"/>
            <a:ext cx="5341468" cy="1828800"/>
          </a:xfrm>
          <a:prstGeom prst="roundRect">
            <a:avLst>
              <a:gd name="adj" fmla="val 4000"/>
            </a:avLst>
          </a:prstGeom>
          <a:solidFill>
            <a:srgbClr val="161D34"/>
          </a:solidFill>
          <a:ln w="12700">
            <a:solidFill>
              <a:srgbClr val="2A3358"/>
            </a:solidFill>
            <a:prstDash val="solid"/>
          </a:ln>
        </p:spPr>
      </p:sp>
      <p:sp>
        <p:nvSpPr>
          <p:cNvPr id="32" name="Shape 27"/>
          <p:cNvSpPr/>
          <p:nvPr/>
        </p:nvSpPr>
        <p:spPr>
          <a:xfrm>
            <a:off x="6281471" y="3774643"/>
            <a:ext cx="1009498" cy="1009498"/>
          </a:xfrm>
          <a:prstGeom prst="ellipse">
            <a:avLst/>
          </a:prstGeom>
          <a:solidFill>
            <a:srgbClr val="F5D67D">
              <a:alpha val="10000"/>
            </a:srgbClr>
          </a:solidFill>
          <a:ln/>
        </p:spPr>
      </p:sp>
      <p:sp>
        <p:nvSpPr>
          <p:cNvPr id="33" name="Shape 28"/>
          <p:cNvSpPr/>
          <p:nvPr/>
        </p:nvSpPr>
        <p:spPr>
          <a:xfrm>
            <a:off x="6413144" y="3906317"/>
            <a:ext cx="746150" cy="746150"/>
          </a:xfrm>
          <a:prstGeom prst="ellipse">
            <a:avLst/>
          </a:prstGeom>
          <a:solidFill>
            <a:srgbClr val="F5D67D">
              <a:alpha val="20000"/>
            </a:srgbClr>
          </a:solidFill>
          <a:ln/>
        </p:spPr>
      </p:sp>
      <p:sp>
        <p:nvSpPr>
          <p:cNvPr id="34" name="Shape 29"/>
          <p:cNvSpPr/>
          <p:nvPr/>
        </p:nvSpPr>
        <p:spPr>
          <a:xfrm>
            <a:off x="6511900" y="4005072"/>
            <a:ext cx="548640" cy="548640"/>
          </a:xfrm>
          <a:prstGeom prst="ellipse">
            <a:avLst/>
          </a:prstGeom>
          <a:solidFill>
            <a:srgbClr val="161D34"/>
          </a:solidFill>
          <a:ln w="15875">
            <a:solidFill>
              <a:srgbClr val="F5D67D">
                <a:alpha val="75000"/>
              </a:srgbClr>
            </a:solidFill>
            <a:prstDash val="solid"/>
          </a:ln>
        </p:spPr>
      </p:sp>
      <p:pic>
        <p:nvPicPr>
          <p:cNvPr id="35" name="Image 3" descr="preencoded.png">    </p:cNvPr>
          <p:cNvPicPr>
            <a:picLocks noChangeAspect="1"/>
          </p:cNvPicPr>
          <p:nvPr/>
        </p:nvPicPr>
        <p:blipFill>
          <a:blip r:embed="rId4"/>
          <a:stretch>
            <a:fillRect/>
          </a:stretch>
        </p:blipFill>
        <p:spPr>
          <a:xfrm>
            <a:off x="6660032" y="4153205"/>
            <a:ext cx="252374" cy="252374"/>
          </a:xfrm>
          <a:prstGeom prst="rect">
            <a:avLst/>
          </a:prstGeom>
        </p:spPr>
      </p:pic>
      <p:sp>
        <p:nvSpPr>
          <p:cNvPr id="36" name="Text 30"/>
          <p:cNvSpPr/>
          <p:nvPr/>
        </p:nvSpPr>
        <p:spPr>
          <a:xfrm>
            <a:off x="7215988" y="4023360"/>
            <a:ext cx="4107028" cy="457200"/>
          </a:xfrm>
          <a:prstGeom prst="rect">
            <a:avLst/>
          </a:prstGeom>
          <a:noFill/>
          <a:ln/>
        </p:spPr>
        <p:txBody>
          <a:bodyPr wrap="square" lIns="0" tIns="0" rIns="0" bIns="0" rtlCol="0" anchor="ctr"/>
          <a:lstStyle/>
          <a:p>
            <a:pPr indent="0" marL="0">
              <a:lnSpc>
                <a:spcPct val="110000"/>
              </a:lnSpc>
              <a:buNone/>
            </a:pPr>
            <a:r>
              <a:rPr lang="en-US" sz="1300" b="1" dirty="0">
                <a:solidFill>
                  <a:srgbClr val="F5F6FA"/>
                </a:solidFill>
                <a:latin typeface="Arial" pitchFamily="34" charset="0"/>
                <a:ea typeface="Arial" pitchFamily="34" charset="-122"/>
                <a:cs typeface="Arial" pitchFamily="34" charset="-120"/>
              </a:rPr>
              <a:t>Tổng kết tuần &amp; “bạn không đơn độc”</a:t>
            </a:r>
            <a:endParaRPr lang="en-US" sz="1300" dirty="0"/>
          </a:p>
        </p:txBody>
      </p:sp>
      <p:sp>
        <p:nvSpPr>
          <p:cNvPr id="37" name="Text 31"/>
          <p:cNvSpPr/>
          <p:nvPr/>
        </p:nvSpPr>
        <p:spPr>
          <a:xfrm>
            <a:off x="6530188" y="4663440"/>
            <a:ext cx="4792828" cy="82296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Số liệu cá nhân nhẹ nhàng, không phán xét, không so sánh hơn thua.</a:t>
            </a:r>
            <a:endParaRPr lang="en-US" sz="1050" dirty="0"/>
          </a:p>
        </p:txBody>
      </p:sp>
      <p:sp>
        <p:nvSpPr>
          <p:cNvPr id="38" name="Shape 32"/>
          <p:cNvSpPr/>
          <p:nvPr/>
        </p:nvSpPr>
        <p:spPr>
          <a:xfrm>
            <a:off x="6530188" y="5193792"/>
            <a:ext cx="1508760" cy="274320"/>
          </a:xfrm>
          <a:prstGeom prst="roundRect">
            <a:avLst>
              <a:gd name="adj" fmla="val 50000"/>
            </a:avLst>
          </a:prstGeom>
          <a:solidFill>
            <a:srgbClr val="10162A"/>
          </a:solidFill>
          <a:ln w="9525">
            <a:solidFill>
              <a:srgbClr val="2A3358"/>
            </a:solidFill>
            <a:prstDash val="solid"/>
          </a:ln>
        </p:spPr>
      </p:sp>
      <p:sp>
        <p:nvSpPr>
          <p:cNvPr id="39" name="Text 33"/>
          <p:cNvSpPr/>
          <p:nvPr/>
        </p:nvSpPr>
        <p:spPr>
          <a:xfrm>
            <a:off x="6530188" y="5193792"/>
            <a:ext cx="1508760" cy="274320"/>
          </a:xfrm>
          <a:prstGeom prst="rect">
            <a:avLst/>
          </a:prstGeom>
          <a:noFill/>
          <a:ln/>
        </p:spPr>
        <p:txBody>
          <a:bodyPr wrap="square" lIns="0" tIns="0" rIns="0" bIns="0" rtlCol="0" anchor="ctr"/>
          <a:lstStyle/>
          <a:p>
            <a:pPr algn="ctr" indent="0" marL="0">
              <a:buNone/>
            </a:pPr>
            <a:r>
              <a:rPr lang="en-US" sz="700" b="1" spc="50" kern="0" dirty="0">
                <a:solidFill>
                  <a:srgbClr val="747CA3"/>
                </a:solidFill>
                <a:latin typeface="Calibri" pitchFamily="34" charset="0"/>
                <a:ea typeface="Calibri" pitchFamily="34" charset="-122"/>
                <a:cs typeface="Calibri" pitchFamily="34" charset="-120"/>
              </a:rPr>
              <a:t>MÔ PHỎNG / RULE-BASED</a:t>
            </a:r>
            <a:endParaRPr lang="en-US" sz="700" dirty="0"/>
          </a:p>
        </p:txBody>
      </p:sp>
      <p:sp>
        <p:nvSpPr>
          <p:cNvPr id="40" name="Text 34"/>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03 · HIỆU QUẢ SẢN PHẨM</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Pain point → Tính năng → Hiệu quả</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645920"/>
          <a:ext cx="11002975" cy="4206240"/>
        </p:xfrm>
        <a:graphic>
          <a:graphicData uri="http://schemas.openxmlformats.org/drawingml/2006/table">
            <a:tbl>
              <a:tblPr/>
              <a:tblGrid>
                <a:gridCol w="2834640"/>
                <a:gridCol w="3291840"/>
                <a:gridCol w="4599432"/>
              </a:tblGrid>
              <a:tr h="841248">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Pain point</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0162A"/>
                    </a:solidFill>
                  </a:tcPr>
                </a:tc>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Tính năng giải quyết</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0162A"/>
                    </a:solidFill>
                  </a:tcPr>
                </a:tc>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Hiệu quả</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0162A"/>
                    </a:solidFill>
                  </a:tcPr>
                </a:tc>
              </a:tr>
              <a:tr h="841248">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Áp lực &amp; lo âu âm thầm</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Nghi thức Thả + Bầu trời/Đại dương</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Tạo lối thoát chủ đích cho cảm xúc, giảm cảm giác “phải giữ trong lòng”</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r>
              <a:tr h="841248">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Sợ bị phán xét / gắn nhãn</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Ẩn danh mặc định + không có like/dislike</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Gỡ bỏ rào cản lớn nhất khiến người dùng ngại chia sẻ thật</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r>
              <a:tr h="841248">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Cô đơn dù luôn kết nối</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Bản đồ cộng đồng + “Vọng” + chỉ số không đơn độc</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Cảm giác được đồng cảm mà không cần lộ danh tính</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r>
              <a:tr h="841248">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Thiếu nơi an toàn để trút bỏ</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SupportButton toàn cục + kiểm duyệt nội dung</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Luôn có lối vào hỗ trợ khủng hoảng thật, mọi lúc</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r>
            </a:tbl>
          </a:graphicData>
        </a:graphic>
      </p:graphicFrame>
      <p:sp>
        <p:nvSpPr>
          <p:cNvPr id="5" name="Text 2"/>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04 · THIẾT KẾ HỆ THỐNG</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Kiến trúc hệ thống</a:t>
            </a:r>
            <a:endParaRPr lang="en-US" sz="3000" dirty="0"/>
          </a:p>
        </p:txBody>
      </p:sp>
      <p:sp>
        <p:nvSpPr>
          <p:cNvPr id="4" name="Shape 2"/>
          <p:cNvSpPr/>
          <p:nvPr/>
        </p:nvSpPr>
        <p:spPr>
          <a:xfrm>
            <a:off x="1783080" y="1691640"/>
            <a:ext cx="9814255" cy="1051560"/>
          </a:xfrm>
          <a:prstGeom prst="roundRect">
            <a:avLst>
              <a:gd name="adj" fmla="val 7826"/>
            </a:avLst>
          </a:prstGeom>
          <a:solidFill>
            <a:srgbClr val="161D34"/>
          </a:solidFill>
          <a:ln w="12700">
            <a:solidFill>
              <a:srgbClr val="B389F5">
                <a:alpha val="55000"/>
              </a:srgbClr>
            </a:solidFill>
            <a:prstDash val="solid"/>
          </a:ln>
        </p:spPr>
      </p:sp>
      <p:sp>
        <p:nvSpPr>
          <p:cNvPr id="5" name="Shape 3"/>
          <p:cNvSpPr/>
          <p:nvPr/>
        </p:nvSpPr>
        <p:spPr>
          <a:xfrm>
            <a:off x="267919" y="1484071"/>
            <a:ext cx="1430122" cy="1430122"/>
          </a:xfrm>
          <a:prstGeom prst="ellipse">
            <a:avLst/>
          </a:prstGeom>
          <a:solidFill>
            <a:srgbClr val="B389F5">
              <a:alpha val="10000"/>
            </a:srgbClr>
          </a:solidFill>
          <a:ln/>
        </p:spPr>
      </p:sp>
      <p:sp>
        <p:nvSpPr>
          <p:cNvPr id="6" name="Shape 4"/>
          <p:cNvSpPr/>
          <p:nvPr/>
        </p:nvSpPr>
        <p:spPr>
          <a:xfrm>
            <a:off x="454457" y="1670609"/>
            <a:ext cx="1057046" cy="1057046"/>
          </a:xfrm>
          <a:prstGeom prst="ellipse">
            <a:avLst/>
          </a:prstGeom>
          <a:solidFill>
            <a:srgbClr val="B389F5">
              <a:alpha val="20000"/>
            </a:srgbClr>
          </a:solidFill>
          <a:ln/>
        </p:spPr>
      </p:sp>
      <p:sp>
        <p:nvSpPr>
          <p:cNvPr id="7" name="Shape 5"/>
          <p:cNvSpPr/>
          <p:nvPr/>
        </p:nvSpPr>
        <p:spPr>
          <a:xfrm>
            <a:off x="594360" y="1810512"/>
            <a:ext cx="777240" cy="777240"/>
          </a:xfrm>
          <a:prstGeom prst="ellipse">
            <a:avLst/>
          </a:prstGeom>
          <a:solidFill>
            <a:srgbClr val="161D34"/>
          </a:solidFill>
          <a:ln w="15875">
            <a:solidFill>
              <a:srgbClr val="B389F5">
                <a:alpha val="75000"/>
              </a:srgbClr>
            </a:solidFill>
            <a:prstDash val="solid"/>
          </a:ln>
        </p:spPr>
      </p:sp>
      <p:pic>
        <p:nvPicPr>
          <p:cNvPr id="8" name="Image 0" descr="preencoded.png">    </p:cNvPr>
          <p:cNvPicPr>
            <a:picLocks noChangeAspect="1"/>
          </p:cNvPicPr>
          <p:nvPr/>
        </p:nvPicPr>
        <p:blipFill>
          <a:blip r:embed="rId1"/>
          <a:stretch>
            <a:fillRect/>
          </a:stretch>
        </p:blipFill>
        <p:spPr>
          <a:xfrm>
            <a:off x="804215" y="2020367"/>
            <a:ext cx="357530" cy="357530"/>
          </a:xfrm>
          <a:prstGeom prst="rect">
            <a:avLst/>
          </a:prstGeom>
        </p:spPr>
      </p:pic>
      <p:sp>
        <p:nvSpPr>
          <p:cNvPr id="9" name="Text 6"/>
          <p:cNvSpPr/>
          <p:nvPr/>
        </p:nvSpPr>
        <p:spPr>
          <a:xfrm>
            <a:off x="2103120" y="1819656"/>
            <a:ext cx="9265615" cy="365760"/>
          </a:xfrm>
          <a:prstGeom prst="rect">
            <a:avLst/>
          </a:prstGeom>
          <a:noFill/>
          <a:ln/>
        </p:spPr>
        <p:txBody>
          <a:bodyPr wrap="square" lIns="0" tIns="0" rIns="0" bIns="0" rtlCol="0" anchor="ctr"/>
          <a:lstStyle/>
          <a:p>
            <a:pPr indent="0" marL="0">
              <a:buNone/>
            </a:pPr>
            <a:r>
              <a:rPr lang="en-US" sz="1500" b="1" dirty="0">
                <a:solidFill>
                  <a:srgbClr val="F5F6FA"/>
                </a:solidFill>
                <a:latin typeface="Arial" pitchFamily="34" charset="0"/>
                <a:ea typeface="Arial" pitchFamily="34" charset="-122"/>
                <a:cs typeface="Arial" pitchFamily="34" charset="-120"/>
              </a:rPr>
              <a:t>Giao diện (Frontend)</a:t>
            </a:r>
            <a:endParaRPr lang="en-US" sz="1500" dirty="0"/>
          </a:p>
        </p:txBody>
      </p:sp>
      <p:sp>
        <p:nvSpPr>
          <p:cNvPr id="10" name="Text 7"/>
          <p:cNvSpPr/>
          <p:nvPr/>
        </p:nvSpPr>
        <p:spPr>
          <a:xfrm>
            <a:off x="2103120" y="2221992"/>
            <a:ext cx="9265615" cy="457200"/>
          </a:xfrm>
          <a:prstGeom prst="rect">
            <a:avLst/>
          </a:prstGeom>
          <a:noFill/>
          <a:ln/>
        </p:spPr>
        <p:txBody>
          <a:bodyPr wrap="square" lIns="0" tIns="0" rIns="0" bIns="0" rtlCol="0" anchor="ctr"/>
          <a:lstStyle/>
          <a:p>
            <a:pPr indent="0" marL="0">
              <a:buNone/>
            </a:pPr>
            <a:r>
              <a:rPr lang="en-US" sz="1100" dirty="0">
                <a:solidFill>
                  <a:srgbClr val="AAB2D4"/>
                </a:solidFill>
                <a:latin typeface="Calibri" pitchFamily="34" charset="0"/>
                <a:ea typeface="Calibri" pitchFamily="34" charset="-122"/>
                <a:cs typeface="Calibri" pitchFamily="34" charset="-120"/>
              </a:rPr>
              <a:t>Next.js 14 (App Router) · TypeScript · Tailwind CSS · Framer Motion</a:t>
            </a:r>
            <a:endParaRPr lang="en-US" sz="1100" dirty="0"/>
          </a:p>
        </p:txBody>
      </p:sp>
      <p:sp>
        <p:nvSpPr>
          <p:cNvPr id="11" name="Text 8"/>
          <p:cNvSpPr/>
          <p:nvPr/>
        </p:nvSpPr>
        <p:spPr>
          <a:xfrm>
            <a:off x="640080" y="2724912"/>
            <a:ext cx="640080" cy="320040"/>
          </a:xfrm>
          <a:prstGeom prst="rect">
            <a:avLst/>
          </a:prstGeom>
          <a:noFill/>
          <a:ln/>
        </p:spPr>
        <p:txBody>
          <a:bodyPr wrap="square" lIns="0" tIns="0" rIns="0" bIns="0" rtlCol="0" anchor="ctr"/>
          <a:lstStyle/>
          <a:p>
            <a:pPr algn="ctr" indent="0" marL="0">
              <a:buNone/>
            </a:pPr>
            <a:r>
              <a:rPr lang="en-US" sz="1500" dirty="0">
                <a:solidFill>
                  <a:srgbClr val="747CA3"/>
                </a:solidFill>
                <a:latin typeface="Arial" pitchFamily="34" charset="0"/>
                <a:ea typeface="Arial" pitchFamily="34" charset="-122"/>
                <a:cs typeface="Arial" pitchFamily="34" charset="-120"/>
              </a:rPr>
              <a:t>↓</a:t>
            </a:r>
            <a:endParaRPr lang="en-US" sz="1500" dirty="0"/>
          </a:p>
        </p:txBody>
      </p:sp>
      <p:sp>
        <p:nvSpPr>
          <p:cNvPr id="12" name="Shape 9"/>
          <p:cNvSpPr/>
          <p:nvPr/>
        </p:nvSpPr>
        <p:spPr>
          <a:xfrm>
            <a:off x="1783080" y="3017520"/>
            <a:ext cx="9814255" cy="1051560"/>
          </a:xfrm>
          <a:prstGeom prst="roundRect">
            <a:avLst>
              <a:gd name="adj" fmla="val 7826"/>
            </a:avLst>
          </a:prstGeom>
          <a:solidFill>
            <a:srgbClr val="161D34"/>
          </a:solidFill>
          <a:ln w="12700">
            <a:solidFill>
              <a:srgbClr val="F5D67D">
                <a:alpha val="55000"/>
              </a:srgbClr>
            </a:solidFill>
            <a:prstDash val="solid"/>
          </a:ln>
        </p:spPr>
      </p:sp>
      <p:sp>
        <p:nvSpPr>
          <p:cNvPr id="13" name="Shape 10"/>
          <p:cNvSpPr/>
          <p:nvPr/>
        </p:nvSpPr>
        <p:spPr>
          <a:xfrm>
            <a:off x="267919" y="2809951"/>
            <a:ext cx="1430122" cy="1430122"/>
          </a:xfrm>
          <a:prstGeom prst="ellipse">
            <a:avLst/>
          </a:prstGeom>
          <a:solidFill>
            <a:srgbClr val="F5D67D">
              <a:alpha val="10000"/>
            </a:srgbClr>
          </a:solidFill>
          <a:ln/>
        </p:spPr>
      </p:sp>
      <p:sp>
        <p:nvSpPr>
          <p:cNvPr id="14" name="Shape 11"/>
          <p:cNvSpPr/>
          <p:nvPr/>
        </p:nvSpPr>
        <p:spPr>
          <a:xfrm>
            <a:off x="454457" y="2996489"/>
            <a:ext cx="1057046" cy="1057046"/>
          </a:xfrm>
          <a:prstGeom prst="ellipse">
            <a:avLst/>
          </a:prstGeom>
          <a:solidFill>
            <a:srgbClr val="F5D67D">
              <a:alpha val="20000"/>
            </a:srgbClr>
          </a:solidFill>
          <a:ln/>
        </p:spPr>
      </p:sp>
      <p:sp>
        <p:nvSpPr>
          <p:cNvPr id="15" name="Shape 12"/>
          <p:cNvSpPr/>
          <p:nvPr/>
        </p:nvSpPr>
        <p:spPr>
          <a:xfrm>
            <a:off x="594360" y="3136392"/>
            <a:ext cx="777240" cy="777240"/>
          </a:xfrm>
          <a:prstGeom prst="ellipse">
            <a:avLst/>
          </a:prstGeom>
          <a:solidFill>
            <a:srgbClr val="161D34"/>
          </a:solidFill>
          <a:ln w="15875">
            <a:solidFill>
              <a:srgbClr val="F5D67D">
                <a:alpha val="75000"/>
              </a:srgbClr>
            </a:solidFill>
            <a:prstDash val="solid"/>
          </a:ln>
        </p:spPr>
      </p:sp>
      <p:pic>
        <p:nvPicPr>
          <p:cNvPr id="16" name="Image 1" descr="preencoded.png">    </p:cNvPr>
          <p:cNvPicPr>
            <a:picLocks noChangeAspect="1"/>
          </p:cNvPicPr>
          <p:nvPr/>
        </p:nvPicPr>
        <p:blipFill>
          <a:blip r:embed="rId2"/>
          <a:stretch>
            <a:fillRect/>
          </a:stretch>
        </p:blipFill>
        <p:spPr>
          <a:xfrm>
            <a:off x="804215" y="3346247"/>
            <a:ext cx="357530" cy="357530"/>
          </a:xfrm>
          <a:prstGeom prst="rect">
            <a:avLst/>
          </a:prstGeom>
        </p:spPr>
      </p:pic>
      <p:sp>
        <p:nvSpPr>
          <p:cNvPr id="17" name="Text 13"/>
          <p:cNvSpPr/>
          <p:nvPr/>
        </p:nvSpPr>
        <p:spPr>
          <a:xfrm>
            <a:off x="2103120" y="3145536"/>
            <a:ext cx="9265615" cy="365760"/>
          </a:xfrm>
          <a:prstGeom prst="rect">
            <a:avLst/>
          </a:prstGeom>
          <a:noFill/>
          <a:ln/>
        </p:spPr>
        <p:txBody>
          <a:bodyPr wrap="square" lIns="0" tIns="0" rIns="0" bIns="0" rtlCol="0" anchor="ctr"/>
          <a:lstStyle/>
          <a:p>
            <a:pPr indent="0" marL="0">
              <a:buNone/>
            </a:pPr>
            <a:r>
              <a:rPr lang="en-US" sz="1500" b="1" dirty="0">
                <a:solidFill>
                  <a:srgbClr val="F5F6FA"/>
                </a:solidFill>
                <a:latin typeface="Arial" pitchFamily="34" charset="0"/>
                <a:ea typeface="Arial" pitchFamily="34" charset="-122"/>
                <a:cs typeface="Arial" pitchFamily="34" charset="-120"/>
              </a:rPr>
              <a:t>Quản lý trạng thái</a:t>
            </a:r>
            <a:endParaRPr lang="en-US" sz="1500" dirty="0"/>
          </a:p>
        </p:txBody>
      </p:sp>
      <p:sp>
        <p:nvSpPr>
          <p:cNvPr id="18" name="Text 14"/>
          <p:cNvSpPr/>
          <p:nvPr/>
        </p:nvSpPr>
        <p:spPr>
          <a:xfrm>
            <a:off x="2103120" y="3547872"/>
            <a:ext cx="9265615" cy="457200"/>
          </a:xfrm>
          <a:prstGeom prst="rect">
            <a:avLst/>
          </a:prstGeom>
          <a:noFill/>
          <a:ln/>
        </p:spPr>
        <p:txBody>
          <a:bodyPr wrap="square" lIns="0" tIns="0" rIns="0" bIns="0" rtlCol="0" anchor="ctr"/>
          <a:lstStyle/>
          <a:p>
            <a:pPr indent="0" marL="0">
              <a:buNone/>
            </a:pPr>
            <a:r>
              <a:rPr lang="en-US" sz="1100" dirty="0">
                <a:solidFill>
                  <a:srgbClr val="AAB2D4"/>
                </a:solidFill>
                <a:latin typeface="Calibri" pitchFamily="34" charset="0"/>
                <a:ea typeface="Calibri" pitchFamily="34" charset="-122"/>
                <a:cs typeface="Calibri" pitchFamily="34" charset="-120"/>
              </a:rPr>
              <a:t>4 React Context lồng nhau: AppState · Auth · Language · Notification</a:t>
            </a:r>
            <a:endParaRPr lang="en-US" sz="1100" dirty="0"/>
          </a:p>
        </p:txBody>
      </p:sp>
      <p:sp>
        <p:nvSpPr>
          <p:cNvPr id="19" name="Text 15"/>
          <p:cNvSpPr/>
          <p:nvPr/>
        </p:nvSpPr>
        <p:spPr>
          <a:xfrm>
            <a:off x="640080" y="4050792"/>
            <a:ext cx="640080" cy="320040"/>
          </a:xfrm>
          <a:prstGeom prst="rect">
            <a:avLst/>
          </a:prstGeom>
          <a:noFill/>
          <a:ln/>
        </p:spPr>
        <p:txBody>
          <a:bodyPr wrap="square" lIns="0" tIns="0" rIns="0" bIns="0" rtlCol="0" anchor="ctr"/>
          <a:lstStyle/>
          <a:p>
            <a:pPr algn="ctr" indent="0" marL="0">
              <a:buNone/>
            </a:pPr>
            <a:r>
              <a:rPr lang="en-US" sz="1500" dirty="0">
                <a:solidFill>
                  <a:srgbClr val="747CA3"/>
                </a:solidFill>
                <a:latin typeface="Arial" pitchFamily="34" charset="0"/>
                <a:ea typeface="Arial" pitchFamily="34" charset="-122"/>
                <a:cs typeface="Arial" pitchFamily="34" charset="-120"/>
              </a:rPr>
              <a:t>↓</a:t>
            </a:r>
            <a:endParaRPr lang="en-US" sz="1500" dirty="0"/>
          </a:p>
        </p:txBody>
      </p:sp>
      <p:sp>
        <p:nvSpPr>
          <p:cNvPr id="20" name="Shape 16"/>
          <p:cNvSpPr/>
          <p:nvPr/>
        </p:nvSpPr>
        <p:spPr>
          <a:xfrm>
            <a:off x="1783080" y="4343400"/>
            <a:ext cx="9814255" cy="1051560"/>
          </a:xfrm>
          <a:prstGeom prst="roundRect">
            <a:avLst>
              <a:gd name="adj" fmla="val 7826"/>
            </a:avLst>
          </a:prstGeom>
          <a:solidFill>
            <a:srgbClr val="161D34"/>
          </a:solidFill>
          <a:ln w="12700">
            <a:solidFill>
              <a:srgbClr val="4FD1C5">
                <a:alpha val="55000"/>
              </a:srgbClr>
            </a:solidFill>
            <a:prstDash val="solid"/>
          </a:ln>
        </p:spPr>
      </p:sp>
      <p:sp>
        <p:nvSpPr>
          <p:cNvPr id="21" name="Shape 17"/>
          <p:cNvSpPr/>
          <p:nvPr/>
        </p:nvSpPr>
        <p:spPr>
          <a:xfrm>
            <a:off x="267919" y="4135831"/>
            <a:ext cx="1430122" cy="1430122"/>
          </a:xfrm>
          <a:prstGeom prst="ellipse">
            <a:avLst/>
          </a:prstGeom>
          <a:solidFill>
            <a:srgbClr val="4FD1C5">
              <a:alpha val="10000"/>
            </a:srgbClr>
          </a:solidFill>
          <a:ln/>
        </p:spPr>
      </p:sp>
      <p:sp>
        <p:nvSpPr>
          <p:cNvPr id="22" name="Shape 18"/>
          <p:cNvSpPr/>
          <p:nvPr/>
        </p:nvSpPr>
        <p:spPr>
          <a:xfrm>
            <a:off x="454457" y="4322369"/>
            <a:ext cx="1057046" cy="1057046"/>
          </a:xfrm>
          <a:prstGeom prst="ellipse">
            <a:avLst/>
          </a:prstGeom>
          <a:solidFill>
            <a:srgbClr val="4FD1C5">
              <a:alpha val="20000"/>
            </a:srgbClr>
          </a:solidFill>
          <a:ln/>
        </p:spPr>
      </p:sp>
      <p:sp>
        <p:nvSpPr>
          <p:cNvPr id="23" name="Shape 19"/>
          <p:cNvSpPr/>
          <p:nvPr/>
        </p:nvSpPr>
        <p:spPr>
          <a:xfrm>
            <a:off x="594360" y="4462272"/>
            <a:ext cx="777240" cy="777240"/>
          </a:xfrm>
          <a:prstGeom prst="ellipse">
            <a:avLst/>
          </a:prstGeom>
          <a:solidFill>
            <a:srgbClr val="161D34"/>
          </a:solidFill>
          <a:ln w="15875">
            <a:solidFill>
              <a:srgbClr val="4FD1C5">
                <a:alpha val="75000"/>
              </a:srgbClr>
            </a:solidFill>
            <a:prstDash val="solid"/>
          </a:ln>
        </p:spPr>
      </p:sp>
      <p:pic>
        <p:nvPicPr>
          <p:cNvPr id="24" name="Image 2" descr="preencoded.png">    </p:cNvPr>
          <p:cNvPicPr>
            <a:picLocks noChangeAspect="1"/>
          </p:cNvPicPr>
          <p:nvPr/>
        </p:nvPicPr>
        <p:blipFill>
          <a:blip r:embed="rId3"/>
          <a:stretch>
            <a:fillRect/>
          </a:stretch>
        </p:blipFill>
        <p:spPr>
          <a:xfrm>
            <a:off x="804215" y="4672127"/>
            <a:ext cx="357530" cy="357530"/>
          </a:xfrm>
          <a:prstGeom prst="rect">
            <a:avLst/>
          </a:prstGeom>
        </p:spPr>
      </p:pic>
      <p:sp>
        <p:nvSpPr>
          <p:cNvPr id="25" name="Text 20"/>
          <p:cNvSpPr/>
          <p:nvPr/>
        </p:nvSpPr>
        <p:spPr>
          <a:xfrm>
            <a:off x="2103120" y="4471416"/>
            <a:ext cx="9265615" cy="365760"/>
          </a:xfrm>
          <a:prstGeom prst="rect">
            <a:avLst/>
          </a:prstGeom>
          <a:noFill/>
          <a:ln/>
        </p:spPr>
        <p:txBody>
          <a:bodyPr wrap="square" lIns="0" tIns="0" rIns="0" bIns="0" rtlCol="0" anchor="ctr"/>
          <a:lstStyle/>
          <a:p>
            <a:pPr indent="0" marL="0">
              <a:buNone/>
            </a:pPr>
            <a:r>
              <a:rPr lang="en-US" sz="1500" b="1" dirty="0">
                <a:solidFill>
                  <a:srgbClr val="F5F6FA"/>
                </a:solidFill>
                <a:latin typeface="Arial" pitchFamily="34" charset="0"/>
                <a:ea typeface="Arial" pitchFamily="34" charset="-122"/>
                <a:cs typeface="Arial" pitchFamily="34" charset="-120"/>
              </a:rPr>
              <a:t>Backend (Supabase)</a:t>
            </a:r>
            <a:endParaRPr lang="en-US" sz="1500" dirty="0"/>
          </a:p>
        </p:txBody>
      </p:sp>
      <p:sp>
        <p:nvSpPr>
          <p:cNvPr id="26" name="Text 21"/>
          <p:cNvSpPr/>
          <p:nvPr/>
        </p:nvSpPr>
        <p:spPr>
          <a:xfrm>
            <a:off x="2103120" y="4873752"/>
            <a:ext cx="9265615" cy="457200"/>
          </a:xfrm>
          <a:prstGeom prst="rect">
            <a:avLst/>
          </a:prstGeom>
          <a:noFill/>
          <a:ln/>
        </p:spPr>
        <p:txBody>
          <a:bodyPr wrap="square" lIns="0" tIns="0" rIns="0" bIns="0" rtlCol="0" anchor="ctr"/>
          <a:lstStyle/>
          <a:p>
            <a:pPr indent="0" marL="0">
              <a:buNone/>
            </a:pPr>
            <a:r>
              <a:rPr lang="en-US" sz="1100" dirty="0">
                <a:solidFill>
                  <a:srgbClr val="AAB2D4"/>
                </a:solidFill>
                <a:latin typeface="Calibri" pitchFamily="34" charset="0"/>
                <a:ea typeface="Calibri" pitchFamily="34" charset="-122"/>
                <a:cs typeface="Calibri" pitchFamily="34" charset="-120"/>
              </a:rPr>
              <a:t>Postgres + Row-Level Security · Auth · Realtime · Edge Functions</a:t>
            </a:r>
            <a:endParaRPr lang="en-US" sz="1100" dirty="0"/>
          </a:p>
        </p:txBody>
      </p:sp>
      <p:sp>
        <p:nvSpPr>
          <p:cNvPr id="27" name="Text 22"/>
          <p:cNvSpPr/>
          <p:nvPr/>
        </p:nvSpPr>
        <p:spPr>
          <a:xfrm>
            <a:off x="594360" y="5715000"/>
            <a:ext cx="11002975" cy="640080"/>
          </a:xfrm>
          <a:prstGeom prst="rect">
            <a:avLst/>
          </a:prstGeom>
          <a:noFill/>
          <a:ln/>
        </p:spPr>
        <p:txBody>
          <a:bodyPr wrap="square" lIns="0" tIns="0" rIns="0" bIns="0" rtlCol="0" anchor="ctr"/>
          <a:lstStyle/>
          <a:p>
            <a:pPr indent="0" marL="0">
              <a:lnSpc>
                <a:spcPct val="125000"/>
              </a:lnSpc>
              <a:buNone/>
            </a:pPr>
            <a:r>
              <a:rPr lang="en-US" sz="1150" i="1" dirty="0">
                <a:solidFill>
                  <a:srgbClr val="747CA3"/>
                </a:solidFill>
                <a:latin typeface="Calibri" pitchFamily="34" charset="0"/>
                <a:ea typeface="Calibri" pitchFamily="34" charset="-122"/>
                <a:cs typeface="Calibri" pitchFamily="34" charset="-120"/>
              </a:rPr>
              <a:t>Nguyên tắc: mọi tính năng “thông minh” đều xuống cấp an toàn (graceful degradation) — nếu backend chưa sẵn sàng, trải nghiệm vẫn hoạt động ở chế độ mô phỏng cục bộ, không bao giờ chặn người dùng.</a:t>
            </a:r>
            <a:endParaRPr lang="en-US" sz="1150" dirty="0"/>
          </a:p>
        </p:txBody>
      </p:sp>
      <p:sp>
        <p:nvSpPr>
          <p:cNvPr id="28" name="Text 23"/>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04 · THIẾT KẾ HỆ THỐNG</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Trạng thái các module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645920"/>
          <a:ext cx="11002975" cy="4480560"/>
        </p:xfrm>
        <a:graphic>
          <a:graphicData uri="http://schemas.openxmlformats.org/drawingml/2006/table">
            <a:tbl>
              <a:tblPr/>
              <a:tblGrid>
                <a:gridCol w="1280160"/>
                <a:gridCol w="6217920"/>
                <a:gridCol w="3227832"/>
              </a:tblGrid>
              <a:tr h="560070">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Module</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0162A"/>
                    </a:solidFill>
                  </a:tcPr>
                </a:tc>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Nội dung</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0162A"/>
                    </a:solidFill>
                  </a:tcPr>
                </a:tc>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Trạng thái</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0162A"/>
                    </a:solidFill>
                  </a:tcPr>
                </a:tc>
              </a:tr>
              <a:tr h="560070">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Danh tính &amp; Câu chuyện (Story)</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b="1" dirty="0">
                          <a:solidFill>
                            <a:srgbClr val="4FD1C5"/>
                          </a:solidFill>
                          <a:latin typeface="Calibri" pitchFamily="34" charset="0"/>
                          <a:ea typeface="Calibri" pitchFamily="34" charset="-122"/>
                          <a:cs typeface="Calibri" pitchFamily="34" charset="-120"/>
                        </a:rPr>
                        <a:t>Hoàn thiện</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r>
              <a:tr h="560070">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Phản hồi &amp; Dashboard cảm xúc</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b="1" dirty="0">
                          <a:solidFill>
                            <a:srgbClr val="4FD1C5"/>
                          </a:solidFill>
                          <a:latin typeface="Calibri" pitchFamily="34" charset="0"/>
                          <a:ea typeface="Calibri" pitchFamily="34" charset="-122"/>
                          <a:cs typeface="Calibri" pitchFamily="34" charset="-120"/>
                        </a:rPr>
                        <a:t>Hoàn thiện</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r>
              <a:tr h="560070">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Thư viện nội dung chữa lành</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Hoàn thiện (nội dung mock)</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r>
              <a:tr h="560070">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Thông báo (Notification)</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b="1" dirty="0">
                          <a:solidFill>
                            <a:srgbClr val="F5D67D"/>
                          </a:solidFill>
                          <a:latin typeface="Calibri" pitchFamily="34" charset="0"/>
                          <a:ea typeface="Calibri" pitchFamily="34" charset="-122"/>
                          <a:cs typeface="Calibri" pitchFamily="34" charset="-120"/>
                        </a:rPr>
                        <a:t>Hoàn thiện (mock), email thật đang scaffold</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r>
              <a:tr h="560070">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7–9</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Feedback · Cài đặt · Đa ngôn ngữ</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b="1" dirty="0">
                          <a:solidFill>
                            <a:srgbClr val="4FD1C5"/>
                          </a:solidFill>
                          <a:latin typeface="Calibri" pitchFamily="34" charset="0"/>
                          <a:ea typeface="Calibri" pitchFamily="34" charset="-122"/>
                          <a:cs typeface="Calibri" pitchFamily="34" charset="-120"/>
                        </a:rPr>
                        <a:t>Hoàn thiện</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r>
              <a:tr h="560070">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Xác thực &amp; Backend Supabase</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c>
                  <a:txBody>
                    <a:bodyPr/>
                    <a:lstStyle/>
                    <a:p>
                      <a:pPr indent="0" marL="0">
                        <a:buNone/>
                      </a:pPr>
                      <a:r>
                        <a:rPr lang="en-US" sz="1100" b="1" dirty="0">
                          <a:solidFill>
                            <a:srgbClr val="F2A65A"/>
                          </a:solidFill>
                          <a:latin typeface="Calibri" pitchFamily="34" charset="0"/>
                          <a:ea typeface="Calibri" pitchFamily="34" charset="-122"/>
                          <a:cs typeface="Calibri" pitchFamily="34" charset="-120"/>
                        </a:rPr>
                        <a:t>Đã nối dây, chưa triển khai email thật</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C2440"/>
                    </a:solidFill>
                  </a:tcPr>
                </a:tc>
              </a:tr>
              <a:tr h="560070">
                <a:tc>
                  <a:txBody>
                    <a:bodyPr/>
                    <a:lstStyle/>
                    <a:p>
                      <a:pPr indent="0" marL="0">
                        <a:buNone/>
                      </a:pPr>
                      <a:r>
                        <a:rPr lang="en-US" sz="1100" b="1" dirty="0">
                          <a:solidFill>
                            <a:srgbClr val="F5F6F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dirty="0">
                          <a:solidFill>
                            <a:srgbClr val="F5F6FA"/>
                          </a:solidFill>
                          <a:latin typeface="Calibri" pitchFamily="34" charset="0"/>
                          <a:ea typeface="Calibri" pitchFamily="34" charset="-122"/>
                          <a:cs typeface="Calibri" pitchFamily="34" charset="-120"/>
                        </a:rPr>
                        <a:t>Kiểm duyệt nội dung</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c>
                  <a:txBody>
                    <a:bodyPr/>
                    <a:lstStyle/>
                    <a:p>
                      <a:pPr indent="0" marL="0">
                        <a:buNone/>
                      </a:pPr>
                      <a:r>
                        <a:rPr lang="en-US" sz="1100" b="1" dirty="0">
                          <a:solidFill>
                            <a:srgbClr val="F2A65A"/>
                          </a:solidFill>
                          <a:latin typeface="Calibri" pitchFamily="34" charset="0"/>
                          <a:ea typeface="Calibri" pitchFamily="34" charset="-122"/>
                          <a:cs typeface="Calibri" pitchFamily="34" charset="-120"/>
                        </a:rPr>
                        <a:t>Theo từ khoá — chưa có AI kiểm duyệt</a:t>
                      </a:r>
                      <a:endParaRPr lang="en-US" sz="1100" dirty="0">
                        <a:latin typeface="Calibri" charset="0"/>
                        <a:ea typeface="Calibri" charset="0"/>
                        <a:cs typeface="Calibri" charset="0"/>
                      </a:endParaRPr>
                    </a:p>
                  </a:txBody>
                  <a:tcPr marL="109728" marR="109728" marT="73152" marB="73152"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61D34"/>
                    </a:solidFill>
                  </a:tcPr>
                </a:tc>
              </a:tr>
            </a:tbl>
          </a:graphicData>
        </a:graphic>
      </p:graphicFrame>
      <p:sp>
        <p:nvSpPr>
          <p:cNvPr id="5" name="Text 2"/>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04 · THIẾT KẾ HỆ THỐNG</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Đánh giá thẳng thắn: còn thiếu gì?</a:t>
            </a:r>
            <a:endParaRPr lang="en-US" sz="3000" dirty="0"/>
          </a:p>
        </p:txBody>
      </p:sp>
      <p:sp>
        <p:nvSpPr>
          <p:cNvPr id="4" name="Shape 2"/>
          <p:cNvSpPr/>
          <p:nvPr/>
        </p:nvSpPr>
        <p:spPr>
          <a:xfrm>
            <a:off x="594360" y="1691640"/>
            <a:ext cx="5341468" cy="1874520"/>
          </a:xfrm>
          <a:prstGeom prst="roundRect">
            <a:avLst>
              <a:gd name="adj" fmla="val 3902"/>
            </a:avLst>
          </a:prstGeom>
          <a:solidFill>
            <a:srgbClr val="161D34"/>
          </a:solidFill>
          <a:ln w="12700">
            <a:solidFill>
              <a:srgbClr val="F2A65A">
                <a:alpha val="45000"/>
              </a:srgbClr>
            </a:solidFill>
            <a:prstDash val="solid"/>
          </a:ln>
        </p:spPr>
      </p:sp>
      <p:sp>
        <p:nvSpPr>
          <p:cNvPr id="5" name="Shape 3"/>
          <p:cNvSpPr/>
          <p:nvPr/>
        </p:nvSpPr>
        <p:spPr>
          <a:xfrm>
            <a:off x="627644" y="1724924"/>
            <a:ext cx="975848" cy="975848"/>
          </a:xfrm>
          <a:prstGeom prst="ellipse">
            <a:avLst/>
          </a:prstGeom>
          <a:solidFill>
            <a:srgbClr val="F2A65A">
              <a:alpha val="10000"/>
            </a:srgbClr>
          </a:solidFill>
          <a:ln/>
        </p:spPr>
      </p:sp>
      <p:sp>
        <p:nvSpPr>
          <p:cNvPr id="6" name="Shape 4"/>
          <p:cNvSpPr/>
          <p:nvPr/>
        </p:nvSpPr>
        <p:spPr>
          <a:xfrm>
            <a:off x="754929" y="1852209"/>
            <a:ext cx="721279" cy="721279"/>
          </a:xfrm>
          <a:prstGeom prst="ellipse">
            <a:avLst/>
          </a:prstGeom>
          <a:solidFill>
            <a:srgbClr val="F2A65A">
              <a:alpha val="20000"/>
            </a:srgbClr>
          </a:solidFill>
          <a:ln/>
        </p:spPr>
      </p:sp>
      <p:sp>
        <p:nvSpPr>
          <p:cNvPr id="7" name="Shape 5"/>
          <p:cNvSpPr/>
          <p:nvPr/>
        </p:nvSpPr>
        <p:spPr>
          <a:xfrm>
            <a:off x="850392" y="1947672"/>
            <a:ext cx="530352" cy="530352"/>
          </a:xfrm>
          <a:prstGeom prst="ellipse">
            <a:avLst/>
          </a:prstGeom>
          <a:solidFill>
            <a:srgbClr val="161D34"/>
          </a:solidFill>
          <a:ln w="15875">
            <a:solidFill>
              <a:srgbClr val="F2A65A">
                <a:alpha val="75000"/>
              </a:srgbClr>
            </a:solidFill>
            <a:prstDash val="solid"/>
          </a:ln>
        </p:spPr>
      </p:sp>
      <p:pic>
        <p:nvPicPr>
          <p:cNvPr id="8" name="Image 0" descr="preencoded.png">    </p:cNvPr>
          <p:cNvPicPr>
            <a:picLocks noChangeAspect="1"/>
          </p:cNvPicPr>
          <p:nvPr/>
        </p:nvPicPr>
        <p:blipFill>
          <a:blip r:embed="rId1"/>
          <a:stretch>
            <a:fillRect/>
          </a:stretch>
        </p:blipFill>
        <p:spPr>
          <a:xfrm>
            <a:off x="993587" y="2090867"/>
            <a:ext cx="243962" cy="243962"/>
          </a:xfrm>
          <a:prstGeom prst="rect">
            <a:avLst/>
          </a:prstGeom>
        </p:spPr>
      </p:pic>
      <p:sp>
        <p:nvSpPr>
          <p:cNvPr id="9" name="Text 6"/>
          <p:cNvSpPr/>
          <p:nvPr/>
        </p:nvSpPr>
        <p:spPr>
          <a:xfrm>
            <a:off x="1508760" y="1965960"/>
            <a:ext cx="4152748" cy="502920"/>
          </a:xfrm>
          <a:prstGeom prst="rect">
            <a:avLst/>
          </a:prstGeom>
          <a:noFill/>
          <a:ln/>
        </p:spPr>
        <p:txBody>
          <a:bodyPr wrap="square" lIns="0" tIns="0" rIns="0" bIns="0" rtlCol="0" anchor="ctr"/>
          <a:lstStyle/>
          <a:p>
            <a:pPr indent="0" marL="0">
              <a:lnSpc>
                <a:spcPct val="110000"/>
              </a:lnSpc>
              <a:buNone/>
            </a:pPr>
            <a:r>
              <a:rPr lang="en-US" sz="1250" b="1" dirty="0">
                <a:solidFill>
                  <a:srgbClr val="F5F6FA"/>
                </a:solidFill>
                <a:latin typeface="Arial" pitchFamily="34" charset="0"/>
                <a:ea typeface="Arial" pitchFamily="34" charset="-122"/>
                <a:cs typeface="Arial" pitchFamily="34" charset="-120"/>
              </a:rPr>
              <a:t>Kiểm duyệt mới dừng ở từ khoá</a:t>
            </a:r>
            <a:endParaRPr lang="en-US" sz="1250" dirty="0"/>
          </a:p>
        </p:txBody>
      </p:sp>
      <p:sp>
        <p:nvSpPr>
          <p:cNvPr id="10" name="Text 7"/>
          <p:cNvSpPr/>
          <p:nvPr/>
        </p:nvSpPr>
        <p:spPr>
          <a:xfrm>
            <a:off x="868680" y="2624328"/>
            <a:ext cx="4792828" cy="86868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Chưa có AI/kiểm duyệt ngữ nghĩa — rủi ro cao nhất hiện tại với sản phẩm liên quan sức khoẻ tinh thần.</a:t>
            </a:r>
            <a:endParaRPr lang="en-US" sz="1050" dirty="0"/>
          </a:p>
        </p:txBody>
      </p:sp>
      <p:sp>
        <p:nvSpPr>
          <p:cNvPr id="11" name="Shape 8"/>
          <p:cNvSpPr/>
          <p:nvPr/>
        </p:nvSpPr>
        <p:spPr>
          <a:xfrm>
            <a:off x="6255868" y="1691640"/>
            <a:ext cx="5341468" cy="1874520"/>
          </a:xfrm>
          <a:prstGeom prst="roundRect">
            <a:avLst>
              <a:gd name="adj" fmla="val 3902"/>
            </a:avLst>
          </a:prstGeom>
          <a:solidFill>
            <a:srgbClr val="161D34"/>
          </a:solidFill>
          <a:ln w="12700">
            <a:solidFill>
              <a:srgbClr val="F2A65A">
                <a:alpha val="45000"/>
              </a:srgbClr>
            </a:solidFill>
            <a:prstDash val="solid"/>
          </a:ln>
        </p:spPr>
      </p:sp>
      <p:sp>
        <p:nvSpPr>
          <p:cNvPr id="12" name="Shape 9"/>
          <p:cNvSpPr/>
          <p:nvPr/>
        </p:nvSpPr>
        <p:spPr>
          <a:xfrm>
            <a:off x="6289152" y="1724924"/>
            <a:ext cx="975848" cy="975848"/>
          </a:xfrm>
          <a:prstGeom prst="ellipse">
            <a:avLst/>
          </a:prstGeom>
          <a:solidFill>
            <a:srgbClr val="F2A65A">
              <a:alpha val="10000"/>
            </a:srgbClr>
          </a:solidFill>
          <a:ln/>
        </p:spPr>
      </p:sp>
      <p:sp>
        <p:nvSpPr>
          <p:cNvPr id="13" name="Shape 10"/>
          <p:cNvSpPr/>
          <p:nvPr/>
        </p:nvSpPr>
        <p:spPr>
          <a:xfrm>
            <a:off x="6416436" y="1852209"/>
            <a:ext cx="721279" cy="721279"/>
          </a:xfrm>
          <a:prstGeom prst="ellipse">
            <a:avLst/>
          </a:prstGeom>
          <a:solidFill>
            <a:srgbClr val="F2A65A">
              <a:alpha val="20000"/>
            </a:srgbClr>
          </a:solidFill>
          <a:ln/>
        </p:spPr>
      </p:sp>
      <p:sp>
        <p:nvSpPr>
          <p:cNvPr id="14" name="Shape 11"/>
          <p:cNvSpPr/>
          <p:nvPr/>
        </p:nvSpPr>
        <p:spPr>
          <a:xfrm>
            <a:off x="6511900" y="1947672"/>
            <a:ext cx="530352" cy="530352"/>
          </a:xfrm>
          <a:prstGeom prst="ellipse">
            <a:avLst/>
          </a:prstGeom>
          <a:solidFill>
            <a:srgbClr val="161D34"/>
          </a:solidFill>
          <a:ln w="15875">
            <a:solidFill>
              <a:srgbClr val="F2A65A">
                <a:alpha val="75000"/>
              </a:srgbClr>
            </a:solidFill>
            <a:prstDash val="solid"/>
          </a:ln>
        </p:spPr>
      </p:sp>
      <p:pic>
        <p:nvPicPr>
          <p:cNvPr id="15" name="Image 1" descr="preencoded.png">    </p:cNvPr>
          <p:cNvPicPr>
            <a:picLocks noChangeAspect="1"/>
          </p:cNvPicPr>
          <p:nvPr/>
        </p:nvPicPr>
        <p:blipFill>
          <a:blip r:embed="rId2"/>
          <a:stretch>
            <a:fillRect/>
          </a:stretch>
        </p:blipFill>
        <p:spPr>
          <a:xfrm>
            <a:off x="6655095" y="2090867"/>
            <a:ext cx="243962" cy="243962"/>
          </a:xfrm>
          <a:prstGeom prst="rect">
            <a:avLst/>
          </a:prstGeom>
        </p:spPr>
      </p:pic>
      <p:sp>
        <p:nvSpPr>
          <p:cNvPr id="16" name="Text 12"/>
          <p:cNvSpPr/>
          <p:nvPr/>
        </p:nvSpPr>
        <p:spPr>
          <a:xfrm>
            <a:off x="7170268" y="1965960"/>
            <a:ext cx="4152748" cy="502920"/>
          </a:xfrm>
          <a:prstGeom prst="rect">
            <a:avLst/>
          </a:prstGeom>
          <a:noFill/>
          <a:ln/>
        </p:spPr>
        <p:txBody>
          <a:bodyPr wrap="square" lIns="0" tIns="0" rIns="0" bIns="0" rtlCol="0" anchor="ctr"/>
          <a:lstStyle/>
          <a:p>
            <a:pPr indent="0" marL="0">
              <a:lnSpc>
                <a:spcPct val="110000"/>
              </a:lnSpc>
              <a:buNone/>
            </a:pPr>
            <a:r>
              <a:rPr lang="en-US" sz="1250" b="1" dirty="0">
                <a:solidFill>
                  <a:srgbClr val="F5F6FA"/>
                </a:solidFill>
                <a:latin typeface="Arial" pitchFamily="34" charset="0"/>
                <a:ea typeface="Arial" pitchFamily="34" charset="-122"/>
                <a:cs typeface="Arial" pitchFamily="34" charset="-120"/>
              </a:rPr>
              <a:t>Xác thực &amp; email chỉ là scaffolding</a:t>
            </a:r>
            <a:endParaRPr lang="en-US" sz="1250" dirty="0"/>
          </a:p>
        </p:txBody>
      </p:sp>
      <p:sp>
        <p:nvSpPr>
          <p:cNvPr id="17" name="Text 13"/>
          <p:cNvSpPr/>
          <p:nvPr/>
        </p:nvSpPr>
        <p:spPr>
          <a:xfrm>
            <a:off x="6530188" y="2624328"/>
            <a:ext cx="4792828" cy="86868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Đăng nhập/thông báo qua email đã có khung kỹ thuật (Supabase + Resend) nhưng chưa triển khai thật.</a:t>
            </a:r>
            <a:endParaRPr lang="en-US" sz="1050" dirty="0"/>
          </a:p>
        </p:txBody>
      </p:sp>
      <p:sp>
        <p:nvSpPr>
          <p:cNvPr id="18" name="Shape 14"/>
          <p:cNvSpPr/>
          <p:nvPr/>
        </p:nvSpPr>
        <p:spPr>
          <a:xfrm>
            <a:off x="594360" y="3794760"/>
            <a:ext cx="5341468" cy="1874520"/>
          </a:xfrm>
          <a:prstGeom prst="roundRect">
            <a:avLst>
              <a:gd name="adj" fmla="val 3902"/>
            </a:avLst>
          </a:prstGeom>
          <a:solidFill>
            <a:srgbClr val="161D34"/>
          </a:solidFill>
          <a:ln w="12700">
            <a:solidFill>
              <a:srgbClr val="F2A65A">
                <a:alpha val="45000"/>
              </a:srgbClr>
            </a:solidFill>
            <a:prstDash val="solid"/>
          </a:ln>
        </p:spPr>
      </p:sp>
      <p:sp>
        <p:nvSpPr>
          <p:cNvPr id="19" name="Shape 15"/>
          <p:cNvSpPr/>
          <p:nvPr/>
        </p:nvSpPr>
        <p:spPr>
          <a:xfrm>
            <a:off x="627644" y="3828044"/>
            <a:ext cx="975848" cy="975848"/>
          </a:xfrm>
          <a:prstGeom prst="ellipse">
            <a:avLst/>
          </a:prstGeom>
          <a:solidFill>
            <a:srgbClr val="F2A65A">
              <a:alpha val="10000"/>
            </a:srgbClr>
          </a:solidFill>
          <a:ln/>
        </p:spPr>
      </p:sp>
      <p:sp>
        <p:nvSpPr>
          <p:cNvPr id="20" name="Shape 16"/>
          <p:cNvSpPr/>
          <p:nvPr/>
        </p:nvSpPr>
        <p:spPr>
          <a:xfrm>
            <a:off x="754929" y="3955329"/>
            <a:ext cx="721279" cy="721279"/>
          </a:xfrm>
          <a:prstGeom prst="ellipse">
            <a:avLst/>
          </a:prstGeom>
          <a:solidFill>
            <a:srgbClr val="F2A65A">
              <a:alpha val="20000"/>
            </a:srgbClr>
          </a:solidFill>
          <a:ln/>
        </p:spPr>
      </p:sp>
      <p:sp>
        <p:nvSpPr>
          <p:cNvPr id="21" name="Shape 17"/>
          <p:cNvSpPr/>
          <p:nvPr/>
        </p:nvSpPr>
        <p:spPr>
          <a:xfrm>
            <a:off x="850392" y="4050792"/>
            <a:ext cx="530352" cy="530352"/>
          </a:xfrm>
          <a:prstGeom prst="ellipse">
            <a:avLst/>
          </a:prstGeom>
          <a:solidFill>
            <a:srgbClr val="161D34"/>
          </a:solidFill>
          <a:ln w="15875">
            <a:solidFill>
              <a:srgbClr val="F2A65A">
                <a:alpha val="75000"/>
              </a:srgbClr>
            </a:solidFill>
            <a:prstDash val="solid"/>
          </a:ln>
        </p:spPr>
      </p:sp>
      <p:pic>
        <p:nvPicPr>
          <p:cNvPr id="22" name="Image 2" descr="preencoded.png">    </p:cNvPr>
          <p:cNvPicPr>
            <a:picLocks noChangeAspect="1"/>
          </p:cNvPicPr>
          <p:nvPr/>
        </p:nvPicPr>
        <p:blipFill>
          <a:blip r:embed="rId3"/>
          <a:stretch>
            <a:fillRect/>
          </a:stretch>
        </p:blipFill>
        <p:spPr>
          <a:xfrm>
            <a:off x="993587" y="4193987"/>
            <a:ext cx="243962" cy="243962"/>
          </a:xfrm>
          <a:prstGeom prst="rect">
            <a:avLst/>
          </a:prstGeom>
        </p:spPr>
      </p:pic>
      <p:sp>
        <p:nvSpPr>
          <p:cNvPr id="23" name="Text 18"/>
          <p:cNvSpPr/>
          <p:nvPr/>
        </p:nvSpPr>
        <p:spPr>
          <a:xfrm>
            <a:off x="1508760" y="4069080"/>
            <a:ext cx="4152748" cy="502920"/>
          </a:xfrm>
          <a:prstGeom prst="rect">
            <a:avLst/>
          </a:prstGeom>
          <a:noFill/>
          <a:ln/>
        </p:spPr>
        <p:txBody>
          <a:bodyPr wrap="square" lIns="0" tIns="0" rIns="0" bIns="0" rtlCol="0" anchor="ctr"/>
          <a:lstStyle/>
          <a:p>
            <a:pPr indent="0" marL="0">
              <a:lnSpc>
                <a:spcPct val="110000"/>
              </a:lnSpc>
              <a:buNone/>
            </a:pPr>
            <a:r>
              <a:rPr lang="en-US" sz="1250" b="1" dirty="0">
                <a:solidFill>
                  <a:srgbClr val="F5F6FA"/>
                </a:solidFill>
                <a:latin typeface="Arial" pitchFamily="34" charset="0"/>
                <a:ea typeface="Arial" pitchFamily="34" charset="-122"/>
                <a:cs typeface="Arial" pitchFamily="34" charset="-120"/>
              </a:rPr>
              <a:t>Chưa có chuyên gia tâm lý duyệt nội dung</a:t>
            </a:r>
            <a:endParaRPr lang="en-US" sz="1250" dirty="0"/>
          </a:p>
        </p:txBody>
      </p:sp>
      <p:sp>
        <p:nvSpPr>
          <p:cNvPr id="24" name="Text 19"/>
          <p:cNvSpPr/>
          <p:nvPr/>
        </p:nvSpPr>
        <p:spPr>
          <a:xfrm>
            <a:off x="868680" y="4727448"/>
            <a:ext cx="4792828" cy="86868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Toàn bộ câu chữ nhạy cảm (thư viện, phản hồi mô phỏng) cần người có chuyên môn rà soát.</a:t>
            </a:r>
            <a:endParaRPr lang="en-US" sz="1050" dirty="0"/>
          </a:p>
        </p:txBody>
      </p:sp>
      <p:sp>
        <p:nvSpPr>
          <p:cNvPr id="25" name="Shape 20"/>
          <p:cNvSpPr/>
          <p:nvPr/>
        </p:nvSpPr>
        <p:spPr>
          <a:xfrm>
            <a:off x="6255868" y="3794760"/>
            <a:ext cx="5341468" cy="1874520"/>
          </a:xfrm>
          <a:prstGeom prst="roundRect">
            <a:avLst>
              <a:gd name="adj" fmla="val 3902"/>
            </a:avLst>
          </a:prstGeom>
          <a:solidFill>
            <a:srgbClr val="161D34"/>
          </a:solidFill>
          <a:ln w="12700">
            <a:solidFill>
              <a:srgbClr val="F2A65A">
                <a:alpha val="45000"/>
              </a:srgbClr>
            </a:solidFill>
            <a:prstDash val="solid"/>
          </a:ln>
        </p:spPr>
      </p:sp>
      <p:sp>
        <p:nvSpPr>
          <p:cNvPr id="26" name="Shape 21"/>
          <p:cNvSpPr/>
          <p:nvPr/>
        </p:nvSpPr>
        <p:spPr>
          <a:xfrm>
            <a:off x="6289152" y="3828044"/>
            <a:ext cx="975848" cy="975848"/>
          </a:xfrm>
          <a:prstGeom prst="ellipse">
            <a:avLst/>
          </a:prstGeom>
          <a:solidFill>
            <a:srgbClr val="F2A65A">
              <a:alpha val="10000"/>
            </a:srgbClr>
          </a:solidFill>
          <a:ln/>
        </p:spPr>
      </p:sp>
      <p:sp>
        <p:nvSpPr>
          <p:cNvPr id="27" name="Shape 22"/>
          <p:cNvSpPr/>
          <p:nvPr/>
        </p:nvSpPr>
        <p:spPr>
          <a:xfrm>
            <a:off x="6416436" y="3955329"/>
            <a:ext cx="721279" cy="721279"/>
          </a:xfrm>
          <a:prstGeom prst="ellipse">
            <a:avLst/>
          </a:prstGeom>
          <a:solidFill>
            <a:srgbClr val="F2A65A">
              <a:alpha val="20000"/>
            </a:srgbClr>
          </a:solidFill>
          <a:ln/>
        </p:spPr>
      </p:sp>
      <p:sp>
        <p:nvSpPr>
          <p:cNvPr id="28" name="Shape 23"/>
          <p:cNvSpPr/>
          <p:nvPr/>
        </p:nvSpPr>
        <p:spPr>
          <a:xfrm>
            <a:off x="6511900" y="4050792"/>
            <a:ext cx="530352" cy="530352"/>
          </a:xfrm>
          <a:prstGeom prst="ellipse">
            <a:avLst/>
          </a:prstGeom>
          <a:solidFill>
            <a:srgbClr val="161D34"/>
          </a:solidFill>
          <a:ln w="15875">
            <a:solidFill>
              <a:srgbClr val="F2A65A">
                <a:alpha val="75000"/>
              </a:srgbClr>
            </a:solidFill>
            <a:prstDash val="solid"/>
          </a:ln>
        </p:spPr>
      </p:sp>
      <p:pic>
        <p:nvPicPr>
          <p:cNvPr id="29" name="Image 3" descr="preencoded.png">    </p:cNvPr>
          <p:cNvPicPr>
            <a:picLocks noChangeAspect="1"/>
          </p:cNvPicPr>
          <p:nvPr/>
        </p:nvPicPr>
        <p:blipFill>
          <a:blip r:embed="rId4"/>
          <a:stretch>
            <a:fillRect/>
          </a:stretch>
        </p:blipFill>
        <p:spPr>
          <a:xfrm>
            <a:off x="6655095" y="4193987"/>
            <a:ext cx="243962" cy="243962"/>
          </a:xfrm>
          <a:prstGeom prst="rect">
            <a:avLst/>
          </a:prstGeom>
        </p:spPr>
      </p:pic>
      <p:sp>
        <p:nvSpPr>
          <p:cNvPr id="30" name="Text 24"/>
          <p:cNvSpPr/>
          <p:nvPr/>
        </p:nvSpPr>
        <p:spPr>
          <a:xfrm>
            <a:off x="7170268" y="4069080"/>
            <a:ext cx="4152748" cy="502920"/>
          </a:xfrm>
          <a:prstGeom prst="rect">
            <a:avLst/>
          </a:prstGeom>
          <a:noFill/>
          <a:ln/>
        </p:spPr>
        <p:txBody>
          <a:bodyPr wrap="square" lIns="0" tIns="0" rIns="0" bIns="0" rtlCol="0" anchor="ctr"/>
          <a:lstStyle/>
          <a:p>
            <a:pPr indent="0" marL="0">
              <a:lnSpc>
                <a:spcPct val="110000"/>
              </a:lnSpc>
              <a:buNone/>
            </a:pPr>
            <a:r>
              <a:rPr lang="en-US" sz="1250" b="1" dirty="0">
                <a:solidFill>
                  <a:srgbClr val="F5F6FA"/>
                </a:solidFill>
                <a:latin typeface="Arial" pitchFamily="34" charset="0"/>
                <a:ea typeface="Arial" pitchFamily="34" charset="-122"/>
                <a:cs typeface="Arial" pitchFamily="34" charset="-120"/>
              </a:rPr>
              <a:t>Chưa kiểm thử với người dùng thật</a:t>
            </a:r>
            <a:endParaRPr lang="en-US" sz="1250" dirty="0"/>
          </a:p>
        </p:txBody>
      </p:sp>
      <p:sp>
        <p:nvSpPr>
          <p:cNvPr id="31" name="Text 25"/>
          <p:cNvSpPr/>
          <p:nvPr/>
        </p:nvSpPr>
        <p:spPr>
          <a:xfrm>
            <a:off x="6530188" y="4727448"/>
            <a:ext cx="4792828" cy="868680"/>
          </a:xfrm>
          <a:prstGeom prst="rect">
            <a:avLst/>
          </a:prstGeom>
          <a:noFill/>
          <a:ln/>
        </p:spPr>
        <p:txBody>
          <a:bodyPr wrap="square" lIns="0" tIns="0" rIns="0" bIns="0" rtlCol="0" anchor="ctr"/>
          <a:lstStyle/>
          <a:p>
            <a:pPr indent="0" marL="0">
              <a:lnSpc>
                <a:spcPct val="125000"/>
              </a:lnSpc>
              <a:buNone/>
            </a:pPr>
            <a:r>
              <a:rPr lang="en-US" sz="1050" dirty="0">
                <a:solidFill>
                  <a:srgbClr val="AAB2D4"/>
                </a:solidFill>
                <a:latin typeface="Calibri" pitchFamily="34" charset="0"/>
                <a:ea typeface="Calibri" pitchFamily="34" charset="-122"/>
                <a:cs typeface="Calibri" pitchFamily="34" charset="-120"/>
              </a:rPr>
              <a:t>Mọi đánh giá hiện tại đến từ việc rà soát code và thiết kế, chưa có phản hồi thực tế từ Gen Z mục tiêu.</a:t>
            </a:r>
            <a:endParaRPr lang="en-US" sz="1050" dirty="0"/>
          </a:p>
        </p:txBody>
      </p:sp>
      <p:sp>
        <p:nvSpPr>
          <p:cNvPr id="32" name="Text 26"/>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E1A"/>
        </a:solidFill>
      </p:bgPr>
    </p:bg>
    <p:spTree>
      <p:nvGrpSpPr>
        <p:cNvPr id="1" name=""/>
        <p:cNvGrpSpPr/>
        <p:nvPr/>
      </p:nvGrpSpPr>
      <p:grpSpPr>
        <a:xfrm>
          <a:off x="0" y="0"/>
          <a:ext cx="0" cy="0"/>
          <a:chOff x="0" y="0"/>
          <a:chExt cx="0" cy="0"/>
        </a:xfrm>
      </p:grpSpPr>
      <p:sp>
        <p:nvSpPr>
          <p:cNvPr id="2" name="Text 0"/>
          <p:cNvSpPr/>
          <p:nvPr/>
        </p:nvSpPr>
        <p:spPr>
          <a:xfrm>
            <a:off x="594360" y="457200"/>
            <a:ext cx="11002975" cy="320040"/>
          </a:xfrm>
          <a:prstGeom prst="rect">
            <a:avLst/>
          </a:prstGeom>
          <a:noFill/>
          <a:ln/>
        </p:spPr>
        <p:txBody>
          <a:bodyPr wrap="square" lIns="0" tIns="0" rIns="0" bIns="0" rtlCol="0" anchor="ctr"/>
          <a:lstStyle/>
          <a:p>
            <a:pPr indent="0" marL="0">
              <a:buNone/>
            </a:pPr>
            <a:r>
              <a:rPr lang="en-US" sz="1200" b="1" spc="300" kern="0" dirty="0">
                <a:solidFill>
                  <a:srgbClr val="F5D67D"/>
                </a:solidFill>
                <a:latin typeface="Calibri" pitchFamily="34" charset="0"/>
                <a:ea typeface="Calibri" pitchFamily="34" charset="-122"/>
                <a:cs typeface="Calibri" pitchFamily="34" charset="-120"/>
              </a:rPr>
              <a:t>05 · ĐỊNH HƯỚNG SẢN PHẨM</a:t>
            </a:r>
            <a:endParaRPr lang="en-US" sz="1200" dirty="0"/>
          </a:p>
        </p:txBody>
      </p:sp>
      <p:sp>
        <p:nvSpPr>
          <p:cNvPr id="3" name="Text 1"/>
          <p:cNvSpPr/>
          <p:nvPr/>
        </p:nvSpPr>
        <p:spPr>
          <a:xfrm>
            <a:off x="594360" y="768096"/>
            <a:ext cx="11002975" cy="822960"/>
          </a:xfrm>
          <a:prstGeom prst="rect">
            <a:avLst/>
          </a:prstGeom>
          <a:noFill/>
          <a:ln/>
        </p:spPr>
        <p:txBody>
          <a:bodyPr wrap="square" lIns="0" tIns="0" rIns="0" bIns="0" rtlCol="0" anchor="ctr"/>
          <a:lstStyle/>
          <a:p>
            <a:pPr indent="0" marL="0">
              <a:buNone/>
            </a:pPr>
            <a:r>
              <a:rPr lang="en-US" sz="3000" b="1" dirty="0">
                <a:solidFill>
                  <a:srgbClr val="F5F6FA"/>
                </a:solidFill>
                <a:latin typeface="Arial" pitchFamily="34" charset="0"/>
                <a:ea typeface="Arial" pitchFamily="34" charset="-122"/>
                <a:cs typeface="Arial" pitchFamily="34" charset="-120"/>
              </a:rPr>
              <a:t>Lộ trình phát triển tiếp theo</a:t>
            </a:r>
            <a:endParaRPr lang="en-US" sz="3000" dirty="0"/>
          </a:p>
        </p:txBody>
      </p:sp>
      <p:sp>
        <p:nvSpPr>
          <p:cNvPr id="4" name="Shape 2"/>
          <p:cNvSpPr/>
          <p:nvPr/>
        </p:nvSpPr>
        <p:spPr>
          <a:xfrm>
            <a:off x="594360" y="1737360"/>
            <a:ext cx="3454298" cy="3566160"/>
          </a:xfrm>
          <a:prstGeom prst="roundRect">
            <a:avLst>
              <a:gd name="adj" fmla="val 2118"/>
            </a:avLst>
          </a:prstGeom>
          <a:solidFill>
            <a:srgbClr val="161D34"/>
          </a:solidFill>
          <a:ln w="12700">
            <a:solidFill>
              <a:srgbClr val="4FD1C5">
                <a:alpha val="50000"/>
              </a:srgbClr>
            </a:solidFill>
            <a:prstDash val="solid"/>
          </a:ln>
        </p:spPr>
      </p:sp>
      <p:sp>
        <p:nvSpPr>
          <p:cNvPr id="5" name="Shape 3"/>
          <p:cNvSpPr/>
          <p:nvPr/>
        </p:nvSpPr>
        <p:spPr>
          <a:xfrm>
            <a:off x="1732636" y="1742846"/>
            <a:ext cx="1177747" cy="1177747"/>
          </a:xfrm>
          <a:prstGeom prst="ellipse">
            <a:avLst/>
          </a:prstGeom>
          <a:solidFill>
            <a:srgbClr val="4FD1C5">
              <a:alpha val="10000"/>
            </a:srgbClr>
          </a:solidFill>
          <a:ln/>
        </p:spPr>
      </p:sp>
      <p:sp>
        <p:nvSpPr>
          <p:cNvPr id="6" name="Shape 4"/>
          <p:cNvSpPr/>
          <p:nvPr/>
        </p:nvSpPr>
        <p:spPr>
          <a:xfrm>
            <a:off x="1886255" y="1896466"/>
            <a:ext cx="870509" cy="870509"/>
          </a:xfrm>
          <a:prstGeom prst="ellipse">
            <a:avLst/>
          </a:prstGeom>
          <a:solidFill>
            <a:srgbClr val="4FD1C5">
              <a:alpha val="20000"/>
            </a:srgbClr>
          </a:solidFill>
          <a:ln/>
        </p:spPr>
      </p:sp>
      <p:sp>
        <p:nvSpPr>
          <p:cNvPr id="7" name="Shape 5"/>
          <p:cNvSpPr/>
          <p:nvPr/>
        </p:nvSpPr>
        <p:spPr>
          <a:xfrm>
            <a:off x="2001469" y="2011680"/>
            <a:ext cx="640080" cy="640080"/>
          </a:xfrm>
          <a:prstGeom prst="ellipse">
            <a:avLst/>
          </a:prstGeom>
          <a:solidFill>
            <a:srgbClr val="161D34"/>
          </a:solidFill>
          <a:ln w="15875">
            <a:solidFill>
              <a:srgbClr val="4FD1C5">
                <a:alpha val="75000"/>
              </a:srgbClr>
            </a:solidFill>
            <a:prstDash val="solid"/>
          </a:ln>
        </p:spPr>
      </p:sp>
      <p:pic>
        <p:nvPicPr>
          <p:cNvPr id="8" name="Image 0" descr="preencoded.png">    </p:cNvPr>
          <p:cNvPicPr>
            <a:picLocks noChangeAspect="1"/>
          </p:cNvPicPr>
          <p:nvPr/>
        </p:nvPicPr>
        <p:blipFill>
          <a:blip r:embed="rId1"/>
          <a:stretch>
            <a:fillRect/>
          </a:stretch>
        </p:blipFill>
        <p:spPr>
          <a:xfrm>
            <a:off x="2174291" y="2184502"/>
            <a:ext cx="294437" cy="294437"/>
          </a:xfrm>
          <a:prstGeom prst="rect">
            <a:avLst/>
          </a:prstGeom>
        </p:spPr>
      </p:pic>
      <p:sp>
        <p:nvSpPr>
          <p:cNvPr id="9" name="Text 6"/>
          <p:cNvSpPr/>
          <p:nvPr/>
        </p:nvSpPr>
        <p:spPr>
          <a:xfrm>
            <a:off x="777240" y="2834640"/>
            <a:ext cx="3088538" cy="365760"/>
          </a:xfrm>
          <a:prstGeom prst="rect">
            <a:avLst/>
          </a:prstGeom>
          <a:noFill/>
          <a:ln/>
        </p:spPr>
        <p:txBody>
          <a:bodyPr wrap="square" lIns="0" tIns="0" rIns="0" bIns="0" rtlCol="0" anchor="ctr"/>
          <a:lstStyle/>
          <a:p>
            <a:pPr algn="ctr" indent="0" marL="0">
              <a:buNone/>
            </a:pPr>
            <a:r>
              <a:rPr lang="en-US" sz="1500" b="1" dirty="0">
                <a:solidFill>
                  <a:srgbClr val="F5F6FA"/>
                </a:solidFill>
                <a:latin typeface="Arial" pitchFamily="34" charset="0"/>
                <a:ea typeface="Arial" pitchFamily="34" charset="-122"/>
                <a:cs typeface="Arial" pitchFamily="34" charset="-120"/>
              </a:rPr>
              <a:t>Ngắn hạn</a:t>
            </a:r>
            <a:endParaRPr lang="en-US" sz="1500" dirty="0"/>
          </a:p>
        </p:txBody>
      </p:sp>
      <p:sp>
        <p:nvSpPr>
          <p:cNvPr id="10" name="Text 7"/>
          <p:cNvSpPr/>
          <p:nvPr/>
        </p:nvSpPr>
        <p:spPr>
          <a:xfrm>
            <a:off x="850392" y="3291840"/>
            <a:ext cx="2942234" cy="1920240"/>
          </a:xfrm>
          <a:prstGeom prst="rect">
            <a:avLst/>
          </a:prstGeom>
          <a:noFill/>
          <a:ln/>
        </p:spPr>
        <p:txBody>
          <a:bodyPr wrap="square" lIns="0" tIns="0" rIns="0" bIns="0" rtlCol="0" anchor="ctr"/>
          <a:lstStyle/>
          <a:p>
            <a:pPr algn="ctr" indent="0" marL="0">
              <a:lnSpc>
                <a:spcPct val="130000"/>
              </a:lnSpc>
              <a:buNone/>
            </a:pPr>
            <a:r>
              <a:rPr lang="en-US" sz="1100" dirty="0">
                <a:solidFill>
                  <a:srgbClr val="AAB2D4"/>
                </a:solidFill>
                <a:latin typeface="Calibri" pitchFamily="34" charset="0"/>
                <a:ea typeface="Calibri" pitchFamily="34" charset="-122"/>
                <a:cs typeface="Calibri" pitchFamily="34" charset="-120"/>
              </a:rPr>
              <a:t>Kiểm duyệt AI thật, kích hoạt email/Auth thật, rà soát nội dung cùng chuyên gia tâm lý.</a:t>
            </a:r>
            <a:endParaRPr lang="en-US" sz="1100" dirty="0"/>
          </a:p>
        </p:txBody>
      </p:sp>
      <p:sp>
        <p:nvSpPr>
          <p:cNvPr id="11" name="Shape 8"/>
          <p:cNvSpPr/>
          <p:nvPr/>
        </p:nvSpPr>
        <p:spPr>
          <a:xfrm>
            <a:off x="4368698" y="1737360"/>
            <a:ext cx="3454298" cy="3566160"/>
          </a:xfrm>
          <a:prstGeom prst="roundRect">
            <a:avLst>
              <a:gd name="adj" fmla="val 2118"/>
            </a:avLst>
          </a:prstGeom>
          <a:solidFill>
            <a:srgbClr val="161D34"/>
          </a:solidFill>
          <a:ln w="12700">
            <a:solidFill>
              <a:srgbClr val="B389F5">
                <a:alpha val="50000"/>
              </a:srgbClr>
            </a:solidFill>
            <a:prstDash val="solid"/>
          </a:ln>
        </p:spPr>
      </p:sp>
      <p:sp>
        <p:nvSpPr>
          <p:cNvPr id="12" name="Shape 9"/>
          <p:cNvSpPr/>
          <p:nvPr/>
        </p:nvSpPr>
        <p:spPr>
          <a:xfrm>
            <a:off x="5506974" y="1742846"/>
            <a:ext cx="1177747" cy="1177747"/>
          </a:xfrm>
          <a:prstGeom prst="ellipse">
            <a:avLst/>
          </a:prstGeom>
          <a:solidFill>
            <a:srgbClr val="B389F5">
              <a:alpha val="10000"/>
            </a:srgbClr>
          </a:solidFill>
          <a:ln/>
        </p:spPr>
      </p:sp>
      <p:sp>
        <p:nvSpPr>
          <p:cNvPr id="13" name="Shape 10"/>
          <p:cNvSpPr/>
          <p:nvPr/>
        </p:nvSpPr>
        <p:spPr>
          <a:xfrm>
            <a:off x="5660593" y="1896466"/>
            <a:ext cx="870509" cy="870509"/>
          </a:xfrm>
          <a:prstGeom prst="ellipse">
            <a:avLst/>
          </a:prstGeom>
          <a:solidFill>
            <a:srgbClr val="B389F5">
              <a:alpha val="20000"/>
            </a:srgbClr>
          </a:solidFill>
          <a:ln/>
        </p:spPr>
      </p:sp>
      <p:sp>
        <p:nvSpPr>
          <p:cNvPr id="14" name="Shape 11"/>
          <p:cNvSpPr/>
          <p:nvPr/>
        </p:nvSpPr>
        <p:spPr>
          <a:xfrm>
            <a:off x="5775808" y="2011680"/>
            <a:ext cx="640080" cy="640080"/>
          </a:xfrm>
          <a:prstGeom prst="ellipse">
            <a:avLst/>
          </a:prstGeom>
          <a:solidFill>
            <a:srgbClr val="161D34"/>
          </a:solidFill>
          <a:ln w="15875">
            <a:solidFill>
              <a:srgbClr val="B389F5">
                <a:alpha val="75000"/>
              </a:srgbClr>
            </a:solidFill>
            <a:prstDash val="solid"/>
          </a:ln>
        </p:spPr>
      </p:sp>
      <p:pic>
        <p:nvPicPr>
          <p:cNvPr id="15" name="Image 1" descr="preencoded.png">    </p:cNvPr>
          <p:cNvPicPr>
            <a:picLocks noChangeAspect="1"/>
          </p:cNvPicPr>
          <p:nvPr/>
        </p:nvPicPr>
        <p:blipFill>
          <a:blip r:embed="rId2"/>
          <a:stretch>
            <a:fillRect/>
          </a:stretch>
        </p:blipFill>
        <p:spPr>
          <a:xfrm>
            <a:off x="5948629" y="2184502"/>
            <a:ext cx="294437" cy="294437"/>
          </a:xfrm>
          <a:prstGeom prst="rect">
            <a:avLst/>
          </a:prstGeom>
        </p:spPr>
      </p:pic>
      <p:sp>
        <p:nvSpPr>
          <p:cNvPr id="16" name="Text 12"/>
          <p:cNvSpPr/>
          <p:nvPr/>
        </p:nvSpPr>
        <p:spPr>
          <a:xfrm>
            <a:off x="4551578" y="2834640"/>
            <a:ext cx="3088538" cy="365760"/>
          </a:xfrm>
          <a:prstGeom prst="rect">
            <a:avLst/>
          </a:prstGeom>
          <a:noFill/>
          <a:ln/>
        </p:spPr>
        <p:txBody>
          <a:bodyPr wrap="square" lIns="0" tIns="0" rIns="0" bIns="0" rtlCol="0" anchor="ctr"/>
          <a:lstStyle/>
          <a:p>
            <a:pPr algn="ctr" indent="0" marL="0">
              <a:buNone/>
            </a:pPr>
            <a:r>
              <a:rPr lang="en-US" sz="1500" b="1" dirty="0">
                <a:solidFill>
                  <a:srgbClr val="F5F6FA"/>
                </a:solidFill>
                <a:latin typeface="Arial" pitchFamily="34" charset="0"/>
                <a:ea typeface="Arial" pitchFamily="34" charset="-122"/>
                <a:cs typeface="Arial" pitchFamily="34" charset="-120"/>
              </a:rPr>
              <a:t>Trung hạn</a:t>
            </a:r>
            <a:endParaRPr lang="en-US" sz="1500" dirty="0"/>
          </a:p>
        </p:txBody>
      </p:sp>
      <p:sp>
        <p:nvSpPr>
          <p:cNvPr id="17" name="Text 13"/>
          <p:cNvSpPr/>
          <p:nvPr/>
        </p:nvSpPr>
        <p:spPr>
          <a:xfrm>
            <a:off x="4624730" y="3291840"/>
            <a:ext cx="2942234" cy="1920240"/>
          </a:xfrm>
          <a:prstGeom prst="rect">
            <a:avLst/>
          </a:prstGeom>
          <a:noFill/>
          <a:ln/>
        </p:spPr>
        <p:txBody>
          <a:bodyPr wrap="square" lIns="0" tIns="0" rIns="0" bIns="0" rtlCol="0" anchor="ctr"/>
          <a:lstStyle/>
          <a:p>
            <a:pPr algn="ctr" indent="0" marL="0">
              <a:lnSpc>
                <a:spcPct val="130000"/>
              </a:lnSpc>
              <a:buNone/>
            </a:pPr>
            <a:r>
              <a:rPr lang="en-US" sz="1100" dirty="0">
                <a:solidFill>
                  <a:srgbClr val="AAB2D4"/>
                </a:solidFill>
                <a:latin typeface="Calibri" pitchFamily="34" charset="0"/>
                <a:ea typeface="Calibri" pitchFamily="34" charset="-122"/>
                <a:cs typeface="Calibri" pitchFamily="34" charset="-120"/>
              </a:rPr>
              <a:t>Kiểm thử với nhóm người dùng thật (Gen Z), thu thập phản hồi định tính, audit UI toàn diện.</a:t>
            </a:r>
            <a:endParaRPr lang="en-US" sz="1100" dirty="0"/>
          </a:p>
        </p:txBody>
      </p:sp>
      <p:sp>
        <p:nvSpPr>
          <p:cNvPr id="18" name="Shape 14"/>
          <p:cNvSpPr/>
          <p:nvPr/>
        </p:nvSpPr>
        <p:spPr>
          <a:xfrm>
            <a:off x="8143037" y="1737360"/>
            <a:ext cx="3454298" cy="3566160"/>
          </a:xfrm>
          <a:prstGeom prst="roundRect">
            <a:avLst>
              <a:gd name="adj" fmla="val 2118"/>
            </a:avLst>
          </a:prstGeom>
          <a:solidFill>
            <a:srgbClr val="161D34"/>
          </a:solidFill>
          <a:ln w="12700">
            <a:solidFill>
              <a:srgbClr val="F5D67D">
                <a:alpha val="50000"/>
              </a:srgbClr>
            </a:solidFill>
            <a:prstDash val="solid"/>
          </a:ln>
        </p:spPr>
      </p:sp>
      <p:sp>
        <p:nvSpPr>
          <p:cNvPr id="19" name="Shape 15"/>
          <p:cNvSpPr/>
          <p:nvPr/>
        </p:nvSpPr>
        <p:spPr>
          <a:xfrm>
            <a:off x="9281312" y="1742846"/>
            <a:ext cx="1177747" cy="1177747"/>
          </a:xfrm>
          <a:prstGeom prst="ellipse">
            <a:avLst/>
          </a:prstGeom>
          <a:solidFill>
            <a:srgbClr val="F5D67D">
              <a:alpha val="10000"/>
            </a:srgbClr>
          </a:solidFill>
          <a:ln/>
        </p:spPr>
      </p:sp>
      <p:sp>
        <p:nvSpPr>
          <p:cNvPr id="20" name="Shape 16"/>
          <p:cNvSpPr/>
          <p:nvPr/>
        </p:nvSpPr>
        <p:spPr>
          <a:xfrm>
            <a:off x="9434932" y="1896466"/>
            <a:ext cx="870509" cy="870509"/>
          </a:xfrm>
          <a:prstGeom prst="ellipse">
            <a:avLst/>
          </a:prstGeom>
          <a:solidFill>
            <a:srgbClr val="F5D67D">
              <a:alpha val="20000"/>
            </a:srgbClr>
          </a:solidFill>
          <a:ln/>
        </p:spPr>
      </p:sp>
      <p:sp>
        <p:nvSpPr>
          <p:cNvPr id="21" name="Shape 17"/>
          <p:cNvSpPr/>
          <p:nvPr/>
        </p:nvSpPr>
        <p:spPr>
          <a:xfrm>
            <a:off x="9550146" y="2011680"/>
            <a:ext cx="640080" cy="640080"/>
          </a:xfrm>
          <a:prstGeom prst="ellipse">
            <a:avLst/>
          </a:prstGeom>
          <a:solidFill>
            <a:srgbClr val="161D34"/>
          </a:solidFill>
          <a:ln w="15875">
            <a:solidFill>
              <a:srgbClr val="F5D67D">
                <a:alpha val="75000"/>
              </a:srgbClr>
            </a:solidFill>
            <a:prstDash val="solid"/>
          </a:ln>
        </p:spPr>
      </p:sp>
      <p:pic>
        <p:nvPicPr>
          <p:cNvPr id="22" name="Image 2" descr="preencoded.png">    </p:cNvPr>
          <p:cNvPicPr>
            <a:picLocks noChangeAspect="1"/>
          </p:cNvPicPr>
          <p:nvPr/>
        </p:nvPicPr>
        <p:blipFill>
          <a:blip r:embed="rId3"/>
          <a:stretch>
            <a:fillRect/>
          </a:stretch>
        </p:blipFill>
        <p:spPr>
          <a:xfrm>
            <a:off x="9722968" y="2184502"/>
            <a:ext cx="294437" cy="294437"/>
          </a:xfrm>
          <a:prstGeom prst="rect">
            <a:avLst/>
          </a:prstGeom>
        </p:spPr>
      </p:pic>
      <p:sp>
        <p:nvSpPr>
          <p:cNvPr id="23" name="Text 18"/>
          <p:cNvSpPr/>
          <p:nvPr/>
        </p:nvSpPr>
        <p:spPr>
          <a:xfrm>
            <a:off x="8325917" y="2834640"/>
            <a:ext cx="3088538" cy="365760"/>
          </a:xfrm>
          <a:prstGeom prst="rect">
            <a:avLst/>
          </a:prstGeom>
          <a:noFill/>
          <a:ln/>
        </p:spPr>
        <p:txBody>
          <a:bodyPr wrap="square" lIns="0" tIns="0" rIns="0" bIns="0" rtlCol="0" anchor="ctr"/>
          <a:lstStyle/>
          <a:p>
            <a:pPr algn="ctr" indent="0" marL="0">
              <a:buNone/>
            </a:pPr>
            <a:r>
              <a:rPr lang="en-US" sz="1500" b="1" dirty="0">
                <a:solidFill>
                  <a:srgbClr val="F5F6FA"/>
                </a:solidFill>
                <a:latin typeface="Arial" pitchFamily="34" charset="0"/>
                <a:ea typeface="Arial" pitchFamily="34" charset="-122"/>
                <a:cs typeface="Arial" pitchFamily="34" charset="-120"/>
              </a:rPr>
              <a:t>Dài hạn</a:t>
            </a:r>
            <a:endParaRPr lang="en-US" sz="1500" dirty="0"/>
          </a:p>
        </p:txBody>
      </p:sp>
      <p:sp>
        <p:nvSpPr>
          <p:cNvPr id="24" name="Text 19"/>
          <p:cNvSpPr/>
          <p:nvPr/>
        </p:nvSpPr>
        <p:spPr>
          <a:xfrm>
            <a:off x="8399069" y="3291840"/>
            <a:ext cx="2942234" cy="1920240"/>
          </a:xfrm>
          <a:prstGeom prst="rect">
            <a:avLst/>
          </a:prstGeom>
          <a:noFill/>
          <a:ln/>
        </p:spPr>
        <p:txBody>
          <a:bodyPr wrap="square" lIns="0" tIns="0" rIns="0" bIns="0" rtlCol="0" anchor="ctr"/>
          <a:lstStyle/>
          <a:p>
            <a:pPr algn="ctr" indent="0" marL="0">
              <a:lnSpc>
                <a:spcPct val="130000"/>
              </a:lnSpc>
              <a:buNone/>
            </a:pPr>
            <a:r>
              <a:rPr lang="en-US" sz="1100" dirty="0">
                <a:solidFill>
                  <a:srgbClr val="AAB2D4"/>
                </a:solidFill>
                <a:latin typeface="Calibri" pitchFamily="34" charset="0"/>
                <a:ea typeface="Calibri" pitchFamily="34" charset="-122"/>
                <a:cs typeface="Calibri" pitchFamily="34" charset="-120"/>
              </a:rPr>
              <a:t>Ghép đôi tâm trạng tương đồng (có đạo đức rõ ràng), mở rộng thư viện chữa lành cùng chuyên gia.</a:t>
            </a:r>
            <a:endParaRPr lang="en-US" sz="1100" dirty="0"/>
          </a:p>
        </p:txBody>
      </p:sp>
      <p:sp>
        <p:nvSpPr>
          <p:cNvPr id="25" name="Text 20"/>
          <p:cNvSpPr/>
          <p:nvPr/>
        </p:nvSpPr>
        <p:spPr>
          <a:xfrm>
            <a:off x="594360" y="5486400"/>
            <a:ext cx="11002975" cy="640080"/>
          </a:xfrm>
          <a:prstGeom prst="rect">
            <a:avLst/>
          </a:prstGeom>
          <a:noFill/>
          <a:ln/>
        </p:spPr>
        <p:txBody>
          <a:bodyPr wrap="square" lIns="0" tIns="0" rIns="0" bIns="0" rtlCol="0" anchor="ctr"/>
          <a:lstStyle/>
          <a:p>
            <a:pPr indent="0" marL="0">
              <a:lnSpc>
                <a:spcPct val="125000"/>
              </a:lnSpc>
              <a:buNone/>
            </a:pPr>
            <a:r>
              <a:rPr lang="en-US" sz="1150" i="1" dirty="0">
                <a:solidFill>
                  <a:srgbClr val="747CA3"/>
                </a:solidFill>
                <a:latin typeface="Calibri" pitchFamily="34" charset="0"/>
                <a:ea typeface="Calibri" pitchFamily="34" charset="-122"/>
                <a:cs typeface="Calibri" pitchFamily="34" charset="-120"/>
              </a:rPr>
              <a:t>Nguyên tắc xuyên suốt: mọi tính năng mới — kể cả AI hay ghép đôi người dùng — đều phải được đánh giá đạo đức trước khi triển khai thật, không chỉ đánh giá kỹ thuật.</a:t>
            </a:r>
            <a:endParaRPr lang="en-US" sz="1150" dirty="0"/>
          </a:p>
        </p:txBody>
      </p:sp>
      <p:sp>
        <p:nvSpPr>
          <p:cNvPr id="26" name="Text 21"/>
          <p:cNvSpPr/>
          <p:nvPr/>
        </p:nvSpPr>
        <p:spPr>
          <a:xfrm>
            <a:off x="594360" y="6473952"/>
            <a:ext cx="3657600" cy="274320"/>
          </a:xfrm>
          <a:prstGeom prst="rect">
            <a:avLst/>
          </a:prstGeom>
          <a:noFill/>
          <a:ln/>
        </p:spPr>
        <p:txBody>
          <a:bodyPr wrap="square" rtlCol="0" anchor="ctr"/>
          <a:lstStyle/>
          <a:p>
            <a:pPr indent="0" marL="0">
              <a:buNone/>
            </a:pPr>
            <a:r>
              <a:rPr lang="en-US" sz="900" spc="100" kern="0" dirty="0">
                <a:solidFill>
                  <a:srgbClr val="747CA3"/>
                </a:solidFill>
                <a:latin typeface="Calibri" pitchFamily="34" charset="0"/>
                <a:ea typeface="Calibri" pitchFamily="34" charset="-122"/>
                <a:cs typeface="Calibri" pitchFamily="34" charset="-120"/>
              </a:rPr>
              <a:t>SOLACE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1407836" y="1673196"/>
            <a:ext cx="36236" cy="36236"/>
          </a:xfrm>
          <a:prstGeom prst="ellipse">
            <a:avLst/>
          </a:prstGeom>
          <a:solidFill>
            <a:srgbClr val="AAB2D4">
              <a:alpha val="63000"/>
            </a:srgbClr>
          </a:solidFill>
          <a:ln/>
        </p:spPr>
      </p:sp>
      <p:sp>
        <p:nvSpPr>
          <p:cNvPr id="3" name="Shape 1"/>
          <p:cNvSpPr/>
          <p:nvPr/>
        </p:nvSpPr>
        <p:spPr>
          <a:xfrm>
            <a:off x="10714926" y="4042245"/>
            <a:ext cx="20802" cy="20802"/>
          </a:xfrm>
          <a:prstGeom prst="ellipse">
            <a:avLst/>
          </a:prstGeom>
          <a:solidFill>
            <a:srgbClr val="AAB2D4">
              <a:alpha val="64000"/>
            </a:srgbClr>
          </a:solidFill>
          <a:ln/>
        </p:spPr>
      </p:sp>
      <p:sp>
        <p:nvSpPr>
          <p:cNvPr id="4" name="Shape 2"/>
          <p:cNvSpPr/>
          <p:nvPr/>
        </p:nvSpPr>
        <p:spPr>
          <a:xfrm>
            <a:off x="8015329" y="525198"/>
            <a:ext cx="43291" cy="43291"/>
          </a:xfrm>
          <a:prstGeom prst="ellipse">
            <a:avLst/>
          </a:prstGeom>
          <a:solidFill>
            <a:srgbClr val="4FD1C5">
              <a:alpha val="61000"/>
            </a:srgbClr>
          </a:solidFill>
          <a:ln/>
        </p:spPr>
      </p:sp>
      <p:sp>
        <p:nvSpPr>
          <p:cNvPr id="5" name="Shape 3"/>
          <p:cNvSpPr/>
          <p:nvPr/>
        </p:nvSpPr>
        <p:spPr>
          <a:xfrm>
            <a:off x="1926014" y="3843220"/>
            <a:ext cx="39794" cy="39794"/>
          </a:xfrm>
          <a:prstGeom prst="ellipse">
            <a:avLst/>
          </a:prstGeom>
          <a:solidFill>
            <a:srgbClr val="4FD1C5">
              <a:alpha val="61000"/>
            </a:srgbClr>
          </a:solidFill>
          <a:ln/>
        </p:spPr>
      </p:sp>
      <p:sp>
        <p:nvSpPr>
          <p:cNvPr id="6" name="Shape 4"/>
          <p:cNvSpPr/>
          <p:nvPr/>
        </p:nvSpPr>
        <p:spPr>
          <a:xfrm>
            <a:off x="11449469" y="6651478"/>
            <a:ext cx="19891" cy="19891"/>
          </a:xfrm>
          <a:prstGeom prst="ellipse">
            <a:avLst/>
          </a:prstGeom>
          <a:solidFill>
            <a:srgbClr val="4FD1C5">
              <a:alpha val="76000"/>
            </a:srgbClr>
          </a:solidFill>
          <a:ln/>
        </p:spPr>
      </p:sp>
      <p:sp>
        <p:nvSpPr>
          <p:cNvPr id="7" name="Shape 5"/>
          <p:cNvSpPr/>
          <p:nvPr/>
        </p:nvSpPr>
        <p:spPr>
          <a:xfrm>
            <a:off x="2305959" y="2875139"/>
            <a:ext cx="48874" cy="48874"/>
          </a:xfrm>
          <a:prstGeom prst="ellipse">
            <a:avLst/>
          </a:prstGeom>
          <a:solidFill>
            <a:srgbClr val="AAB2D4">
              <a:alpha val="58000"/>
            </a:srgbClr>
          </a:solidFill>
          <a:ln/>
        </p:spPr>
      </p:sp>
      <p:sp>
        <p:nvSpPr>
          <p:cNvPr id="8" name="Shape 6"/>
          <p:cNvSpPr/>
          <p:nvPr/>
        </p:nvSpPr>
        <p:spPr>
          <a:xfrm>
            <a:off x="2077313" y="6759369"/>
            <a:ext cx="27276" cy="27276"/>
          </a:xfrm>
          <a:prstGeom prst="ellipse">
            <a:avLst/>
          </a:prstGeom>
          <a:solidFill>
            <a:srgbClr val="AAB2D4">
              <a:alpha val="63000"/>
            </a:srgbClr>
          </a:solidFill>
          <a:ln/>
        </p:spPr>
      </p:sp>
      <p:sp>
        <p:nvSpPr>
          <p:cNvPr id="9" name="Shape 7"/>
          <p:cNvSpPr/>
          <p:nvPr/>
        </p:nvSpPr>
        <p:spPr>
          <a:xfrm>
            <a:off x="4027994" y="1053336"/>
            <a:ext cx="35796" cy="35796"/>
          </a:xfrm>
          <a:prstGeom prst="ellipse">
            <a:avLst/>
          </a:prstGeom>
          <a:solidFill>
            <a:srgbClr val="4FD1C5">
              <a:alpha val="50000"/>
            </a:srgbClr>
          </a:solidFill>
          <a:ln/>
        </p:spPr>
      </p:sp>
      <p:sp>
        <p:nvSpPr>
          <p:cNvPr id="10" name="Shape 8"/>
          <p:cNvSpPr/>
          <p:nvPr/>
        </p:nvSpPr>
        <p:spPr>
          <a:xfrm>
            <a:off x="970925" y="6352205"/>
            <a:ext cx="29491" cy="29491"/>
          </a:xfrm>
          <a:prstGeom prst="ellipse">
            <a:avLst/>
          </a:prstGeom>
          <a:solidFill>
            <a:srgbClr val="AAB2D4">
              <a:alpha val="71000"/>
            </a:srgbClr>
          </a:solidFill>
          <a:ln/>
        </p:spPr>
      </p:sp>
      <p:sp>
        <p:nvSpPr>
          <p:cNvPr id="11" name="Shape 9"/>
          <p:cNvSpPr/>
          <p:nvPr/>
        </p:nvSpPr>
        <p:spPr>
          <a:xfrm>
            <a:off x="2877706" y="4135144"/>
            <a:ext cx="33352" cy="33352"/>
          </a:xfrm>
          <a:prstGeom prst="ellipse">
            <a:avLst/>
          </a:prstGeom>
          <a:solidFill>
            <a:srgbClr val="AAB2D4">
              <a:alpha val="64000"/>
            </a:srgbClr>
          </a:solidFill>
          <a:ln/>
        </p:spPr>
      </p:sp>
      <p:sp>
        <p:nvSpPr>
          <p:cNvPr id="12" name="Shape 10"/>
          <p:cNvSpPr/>
          <p:nvPr/>
        </p:nvSpPr>
        <p:spPr>
          <a:xfrm>
            <a:off x="1658171" y="1535318"/>
            <a:ext cx="39181" cy="39181"/>
          </a:xfrm>
          <a:prstGeom prst="ellipse">
            <a:avLst/>
          </a:prstGeom>
          <a:solidFill>
            <a:srgbClr val="AAB2D4">
              <a:alpha val="62000"/>
            </a:srgbClr>
          </a:solidFill>
          <a:ln/>
        </p:spPr>
      </p:sp>
      <p:sp>
        <p:nvSpPr>
          <p:cNvPr id="13" name="Shape 11"/>
          <p:cNvSpPr/>
          <p:nvPr/>
        </p:nvSpPr>
        <p:spPr>
          <a:xfrm>
            <a:off x="5026200" y="4669896"/>
            <a:ext cx="19813" cy="19813"/>
          </a:xfrm>
          <a:prstGeom prst="ellipse">
            <a:avLst/>
          </a:prstGeom>
          <a:solidFill>
            <a:srgbClr val="F5D67D">
              <a:alpha val="55000"/>
            </a:srgbClr>
          </a:solidFill>
          <a:ln/>
        </p:spPr>
      </p:sp>
      <p:sp>
        <p:nvSpPr>
          <p:cNvPr id="14" name="Shape 12"/>
          <p:cNvSpPr/>
          <p:nvPr/>
        </p:nvSpPr>
        <p:spPr>
          <a:xfrm>
            <a:off x="5343169" y="3400043"/>
            <a:ext cx="28687" cy="28687"/>
          </a:xfrm>
          <a:prstGeom prst="ellipse">
            <a:avLst/>
          </a:prstGeom>
          <a:solidFill>
            <a:srgbClr val="AAB2D4">
              <a:alpha val="63000"/>
            </a:srgbClr>
          </a:solidFill>
          <a:ln/>
        </p:spPr>
      </p:sp>
      <p:sp>
        <p:nvSpPr>
          <p:cNvPr id="15" name="Shape 13"/>
          <p:cNvSpPr/>
          <p:nvPr/>
        </p:nvSpPr>
        <p:spPr>
          <a:xfrm>
            <a:off x="5355974" y="1810926"/>
            <a:ext cx="32713" cy="32713"/>
          </a:xfrm>
          <a:prstGeom prst="ellipse">
            <a:avLst/>
          </a:prstGeom>
          <a:solidFill>
            <a:srgbClr val="AAB2D4">
              <a:alpha val="71000"/>
            </a:srgbClr>
          </a:solidFill>
          <a:ln/>
        </p:spPr>
      </p:sp>
      <p:sp>
        <p:nvSpPr>
          <p:cNvPr id="16" name="Shape 14"/>
          <p:cNvSpPr/>
          <p:nvPr/>
        </p:nvSpPr>
        <p:spPr>
          <a:xfrm>
            <a:off x="3296064" y="5257712"/>
            <a:ext cx="22507" cy="22507"/>
          </a:xfrm>
          <a:prstGeom prst="ellipse">
            <a:avLst/>
          </a:prstGeom>
          <a:solidFill>
            <a:srgbClr val="AAB2D4">
              <a:alpha val="46000"/>
            </a:srgbClr>
          </a:solidFill>
          <a:ln/>
        </p:spPr>
      </p:sp>
      <p:sp>
        <p:nvSpPr>
          <p:cNvPr id="17" name="Shape 15"/>
          <p:cNvSpPr/>
          <p:nvPr/>
        </p:nvSpPr>
        <p:spPr>
          <a:xfrm>
            <a:off x="10489676" y="5125567"/>
            <a:ext cx="47951" cy="47951"/>
          </a:xfrm>
          <a:prstGeom prst="ellipse">
            <a:avLst/>
          </a:prstGeom>
          <a:solidFill>
            <a:srgbClr val="AAB2D4">
              <a:alpha val="55000"/>
            </a:srgbClr>
          </a:solidFill>
          <a:ln/>
        </p:spPr>
      </p:sp>
      <p:sp>
        <p:nvSpPr>
          <p:cNvPr id="18" name="Shape 16"/>
          <p:cNvSpPr/>
          <p:nvPr/>
        </p:nvSpPr>
        <p:spPr>
          <a:xfrm>
            <a:off x="3945682" y="2451659"/>
            <a:ext cx="19059" cy="19059"/>
          </a:xfrm>
          <a:prstGeom prst="ellipse">
            <a:avLst/>
          </a:prstGeom>
          <a:solidFill>
            <a:srgbClr val="AAB2D4">
              <a:alpha val="72000"/>
            </a:srgbClr>
          </a:solidFill>
          <a:ln/>
        </p:spPr>
      </p:sp>
      <p:sp>
        <p:nvSpPr>
          <p:cNvPr id="19" name="Shape 17"/>
          <p:cNvSpPr/>
          <p:nvPr/>
        </p:nvSpPr>
        <p:spPr>
          <a:xfrm>
            <a:off x="8988187" y="1829153"/>
            <a:ext cx="40239" cy="40239"/>
          </a:xfrm>
          <a:prstGeom prst="ellipse">
            <a:avLst/>
          </a:prstGeom>
          <a:solidFill>
            <a:srgbClr val="AAB2D4">
              <a:alpha val="42000"/>
            </a:srgbClr>
          </a:solidFill>
          <a:ln/>
        </p:spPr>
      </p:sp>
      <p:sp>
        <p:nvSpPr>
          <p:cNvPr id="20" name="Shape 18"/>
          <p:cNvSpPr/>
          <p:nvPr/>
        </p:nvSpPr>
        <p:spPr>
          <a:xfrm>
            <a:off x="7141507" y="3025216"/>
            <a:ext cx="29803" cy="29803"/>
          </a:xfrm>
          <a:prstGeom prst="ellipse">
            <a:avLst/>
          </a:prstGeom>
          <a:solidFill>
            <a:srgbClr val="F5D67D">
              <a:alpha val="77000"/>
            </a:srgbClr>
          </a:solidFill>
          <a:ln/>
        </p:spPr>
      </p:sp>
      <p:sp>
        <p:nvSpPr>
          <p:cNvPr id="21" name="Shape 19"/>
          <p:cNvSpPr/>
          <p:nvPr/>
        </p:nvSpPr>
        <p:spPr>
          <a:xfrm>
            <a:off x="10634965" y="4029016"/>
            <a:ext cx="32890" cy="32890"/>
          </a:xfrm>
          <a:prstGeom prst="ellipse">
            <a:avLst/>
          </a:prstGeom>
          <a:solidFill>
            <a:srgbClr val="AAB2D4">
              <a:alpha val="62000"/>
            </a:srgbClr>
          </a:solidFill>
          <a:ln/>
        </p:spPr>
      </p:sp>
      <p:sp>
        <p:nvSpPr>
          <p:cNvPr id="22" name="Shape 20"/>
          <p:cNvSpPr/>
          <p:nvPr/>
        </p:nvSpPr>
        <p:spPr>
          <a:xfrm>
            <a:off x="10926849" y="1813719"/>
            <a:ext cx="43674" cy="43674"/>
          </a:xfrm>
          <a:prstGeom prst="ellipse">
            <a:avLst/>
          </a:prstGeom>
          <a:solidFill>
            <a:srgbClr val="F5D67D">
              <a:alpha val="80000"/>
            </a:srgbClr>
          </a:solidFill>
          <a:ln/>
        </p:spPr>
      </p:sp>
      <p:sp>
        <p:nvSpPr>
          <p:cNvPr id="23" name="Shape 21"/>
          <p:cNvSpPr/>
          <p:nvPr/>
        </p:nvSpPr>
        <p:spPr>
          <a:xfrm>
            <a:off x="8506331" y="4528491"/>
            <a:ext cx="40917" cy="40917"/>
          </a:xfrm>
          <a:prstGeom prst="ellipse">
            <a:avLst/>
          </a:prstGeom>
          <a:solidFill>
            <a:srgbClr val="4FD1C5">
              <a:alpha val="46000"/>
            </a:srgbClr>
          </a:solidFill>
          <a:ln/>
        </p:spPr>
      </p:sp>
      <p:sp>
        <p:nvSpPr>
          <p:cNvPr id="24" name="Shape 22"/>
          <p:cNvSpPr/>
          <p:nvPr/>
        </p:nvSpPr>
        <p:spPr>
          <a:xfrm>
            <a:off x="2056408" y="256499"/>
            <a:ext cx="44869" cy="44869"/>
          </a:xfrm>
          <a:prstGeom prst="ellipse">
            <a:avLst/>
          </a:prstGeom>
          <a:solidFill>
            <a:srgbClr val="4FD1C5">
              <a:alpha val="77000"/>
            </a:srgbClr>
          </a:solidFill>
          <a:ln/>
        </p:spPr>
      </p:sp>
      <p:sp>
        <p:nvSpPr>
          <p:cNvPr id="25" name="Shape 23"/>
          <p:cNvSpPr/>
          <p:nvPr/>
        </p:nvSpPr>
        <p:spPr>
          <a:xfrm>
            <a:off x="10128023" y="5782910"/>
            <a:ext cx="35478" cy="35478"/>
          </a:xfrm>
          <a:prstGeom prst="ellipse">
            <a:avLst/>
          </a:prstGeom>
          <a:solidFill>
            <a:srgbClr val="F5D67D">
              <a:alpha val="75000"/>
            </a:srgbClr>
          </a:solidFill>
          <a:ln/>
        </p:spPr>
      </p:sp>
      <p:sp>
        <p:nvSpPr>
          <p:cNvPr id="26" name="Shape 24"/>
          <p:cNvSpPr/>
          <p:nvPr/>
        </p:nvSpPr>
        <p:spPr>
          <a:xfrm>
            <a:off x="3408428" y="3348890"/>
            <a:ext cx="19954" cy="19954"/>
          </a:xfrm>
          <a:prstGeom prst="ellipse">
            <a:avLst/>
          </a:prstGeom>
          <a:solidFill>
            <a:srgbClr val="AAB2D4">
              <a:alpha val="78000"/>
            </a:srgbClr>
          </a:solidFill>
          <a:ln/>
        </p:spPr>
      </p:sp>
      <p:sp>
        <p:nvSpPr>
          <p:cNvPr id="27" name="Shape 25"/>
          <p:cNvSpPr/>
          <p:nvPr/>
        </p:nvSpPr>
        <p:spPr>
          <a:xfrm>
            <a:off x="3609375" y="5421606"/>
            <a:ext cx="25659" cy="25659"/>
          </a:xfrm>
          <a:prstGeom prst="ellipse">
            <a:avLst/>
          </a:prstGeom>
          <a:solidFill>
            <a:srgbClr val="AAB2D4">
              <a:alpha val="75000"/>
            </a:srgbClr>
          </a:solidFill>
          <a:ln/>
        </p:spPr>
      </p:sp>
      <p:sp>
        <p:nvSpPr>
          <p:cNvPr id="28" name="Shape 26"/>
          <p:cNvSpPr/>
          <p:nvPr/>
        </p:nvSpPr>
        <p:spPr>
          <a:xfrm>
            <a:off x="7607685" y="592226"/>
            <a:ext cx="18317" cy="18317"/>
          </a:xfrm>
          <a:prstGeom prst="ellipse">
            <a:avLst/>
          </a:prstGeom>
          <a:solidFill>
            <a:srgbClr val="4FD1C5">
              <a:alpha val="64000"/>
            </a:srgbClr>
          </a:solidFill>
          <a:ln/>
        </p:spPr>
      </p:sp>
      <p:sp>
        <p:nvSpPr>
          <p:cNvPr id="29" name="Shape 27"/>
          <p:cNvSpPr/>
          <p:nvPr/>
        </p:nvSpPr>
        <p:spPr>
          <a:xfrm>
            <a:off x="5055467" y="57914"/>
            <a:ext cx="33587" cy="33587"/>
          </a:xfrm>
          <a:prstGeom prst="ellipse">
            <a:avLst/>
          </a:prstGeom>
          <a:solidFill>
            <a:srgbClr val="F5D67D">
              <a:alpha val="50000"/>
            </a:srgbClr>
          </a:solidFill>
          <a:ln/>
        </p:spPr>
      </p:sp>
      <p:sp>
        <p:nvSpPr>
          <p:cNvPr id="30" name="Shape 28"/>
          <p:cNvSpPr/>
          <p:nvPr/>
        </p:nvSpPr>
        <p:spPr>
          <a:xfrm>
            <a:off x="4118146" y="6379839"/>
            <a:ext cx="41934" cy="41934"/>
          </a:xfrm>
          <a:prstGeom prst="ellipse">
            <a:avLst/>
          </a:prstGeom>
          <a:solidFill>
            <a:srgbClr val="AAB2D4">
              <a:alpha val="52000"/>
            </a:srgbClr>
          </a:solidFill>
          <a:ln/>
        </p:spPr>
      </p:sp>
      <p:sp>
        <p:nvSpPr>
          <p:cNvPr id="31" name="Shape 29"/>
          <p:cNvSpPr/>
          <p:nvPr/>
        </p:nvSpPr>
        <p:spPr>
          <a:xfrm>
            <a:off x="4381809" y="529167"/>
            <a:ext cx="26863" cy="26863"/>
          </a:xfrm>
          <a:prstGeom prst="ellipse">
            <a:avLst/>
          </a:prstGeom>
          <a:solidFill>
            <a:srgbClr val="AAB2D4">
              <a:alpha val="45000"/>
            </a:srgbClr>
          </a:solidFill>
          <a:ln/>
        </p:spPr>
      </p:sp>
      <p:sp>
        <p:nvSpPr>
          <p:cNvPr id="32" name="Shape 30"/>
          <p:cNvSpPr/>
          <p:nvPr/>
        </p:nvSpPr>
        <p:spPr>
          <a:xfrm>
            <a:off x="2271728" y="2085064"/>
            <a:ext cx="20476" cy="20476"/>
          </a:xfrm>
          <a:prstGeom prst="ellipse">
            <a:avLst/>
          </a:prstGeom>
          <a:solidFill>
            <a:srgbClr val="F5D67D">
              <a:alpha val="79000"/>
            </a:srgbClr>
          </a:solidFill>
          <a:ln/>
        </p:spPr>
      </p:sp>
      <p:sp>
        <p:nvSpPr>
          <p:cNvPr id="33" name="Shape 31"/>
          <p:cNvSpPr/>
          <p:nvPr/>
        </p:nvSpPr>
        <p:spPr>
          <a:xfrm>
            <a:off x="4598696" y="3702697"/>
            <a:ext cx="32355" cy="32355"/>
          </a:xfrm>
          <a:prstGeom prst="ellipse">
            <a:avLst/>
          </a:prstGeom>
          <a:solidFill>
            <a:srgbClr val="AAB2D4">
              <a:alpha val="44000"/>
            </a:srgbClr>
          </a:solidFill>
          <a:ln/>
        </p:spPr>
      </p:sp>
      <p:sp>
        <p:nvSpPr>
          <p:cNvPr id="34" name="Shape 32"/>
          <p:cNvSpPr/>
          <p:nvPr/>
        </p:nvSpPr>
        <p:spPr>
          <a:xfrm>
            <a:off x="1466369" y="6165233"/>
            <a:ext cx="31780" cy="31780"/>
          </a:xfrm>
          <a:prstGeom prst="ellipse">
            <a:avLst/>
          </a:prstGeom>
          <a:solidFill>
            <a:srgbClr val="AAB2D4">
              <a:alpha val="54000"/>
            </a:srgbClr>
          </a:solidFill>
          <a:ln/>
        </p:spPr>
      </p:sp>
      <p:sp>
        <p:nvSpPr>
          <p:cNvPr id="35" name="Shape 33"/>
          <p:cNvSpPr/>
          <p:nvPr/>
        </p:nvSpPr>
        <p:spPr>
          <a:xfrm>
            <a:off x="8264880" y="3143838"/>
            <a:ext cx="47297" cy="47297"/>
          </a:xfrm>
          <a:prstGeom prst="ellipse">
            <a:avLst/>
          </a:prstGeom>
          <a:solidFill>
            <a:srgbClr val="AAB2D4">
              <a:alpha val="42000"/>
            </a:srgbClr>
          </a:solidFill>
          <a:ln/>
        </p:spPr>
      </p:sp>
      <p:sp>
        <p:nvSpPr>
          <p:cNvPr id="36" name="Shape 34"/>
          <p:cNvSpPr/>
          <p:nvPr/>
        </p:nvSpPr>
        <p:spPr>
          <a:xfrm>
            <a:off x="3840480" y="1097280"/>
            <a:ext cx="4572000" cy="4572000"/>
          </a:xfrm>
          <a:prstGeom prst="ellipse">
            <a:avLst/>
          </a:prstGeom>
          <a:solidFill>
            <a:srgbClr val="F5D67D">
              <a:alpha val="8000"/>
            </a:srgbClr>
          </a:solidFill>
          <a:ln/>
        </p:spPr>
      </p:sp>
      <p:sp>
        <p:nvSpPr>
          <p:cNvPr id="37" name="Text 35"/>
          <p:cNvSpPr/>
          <p:nvPr/>
        </p:nvSpPr>
        <p:spPr>
          <a:xfrm>
            <a:off x="0" y="2103120"/>
            <a:ext cx="12191695" cy="548640"/>
          </a:xfrm>
          <a:prstGeom prst="rect">
            <a:avLst/>
          </a:prstGeom>
          <a:noFill/>
          <a:ln/>
        </p:spPr>
        <p:txBody>
          <a:bodyPr wrap="square" lIns="0" tIns="0" rIns="0" bIns="0" rtlCol="0" anchor="ctr"/>
          <a:lstStyle/>
          <a:p>
            <a:pPr algn="ctr" indent="0" marL="0">
              <a:buNone/>
            </a:pPr>
            <a:r>
              <a:rPr lang="en-US" sz="2600" b="1" dirty="0">
                <a:solidFill>
                  <a:srgbClr val="F5F6FA"/>
                </a:solidFill>
                <a:latin typeface="Arial" pitchFamily="34" charset="0"/>
                <a:ea typeface="Arial" pitchFamily="34" charset="-122"/>
                <a:cs typeface="Arial" pitchFamily="34" charset="-120"/>
              </a:rPr>
              <a:t>Solace không hứa chữa lành —</a:t>
            </a:r>
            <a:endParaRPr lang="en-US" sz="2600" dirty="0"/>
          </a:p>
        </p:txBody>
      </p:sp>
      <p:sp>
        <p:nvSpPr>
          <p:cNvPr id="38" name="Text 36"/>
          <p:cNvSpPr/>
          <p:nvPr/>
        </p:nvSpPr>
        <p:spPr>
          <a:xfrm>
            <a:off x="0" y="2651760"/>
            <a:ext cx="12191695" cy="548640"/>
          </a:xfrm>
          <a:prstGeom prst="rect">
            <a:avLst/>
          </a:prstGeom>
          <a:noFill/>
          <a:ln/>
        </p:spPr>
        <p:txBody>
          <a:bodyPr wrap="square" lIns="0" tIns="0" rIns="0" bIns="0" rtlCol="0" anchor="ctr"/>
          <a:lstStyle/>
          <a:p>
            <a:pPr algn="ctr" indent="0" marL="0">
              <a:buNone/>
            </a:pPr>
            <a:r>
              <a:rPr lang="en-US" sz="2200" b="1" i="1" dirty="0">
                <a:solidFill>
                  <a:srgbClr val="F5D67D"/>
                </a:solidFill>
                <a:latin typeface="Arial" pitchFamily="34" charset="0"/>
                <a:ea typeface="Arial" pitchFamily="34" charset="-122"/>
                <a:cs typeface="Arial" pitchFamily="34" charset="-120"/>
              </a:rPr>
              <a:t>chỉ hứa một nơi để không phải mang một mình.</a:t>
            </a:r>
            <a:endParaRPr lang="en-US" sz="2200" dirty="0"/>
          </a:p>
        </p:txBody>
      </p:sp>
      <p:sp>
        <p:nvSpPr>
          <p:cNvPr id="39" name="Shape 37"/>
          <p:cNvSpPr/>
          <p:nvPr/>
        </p:nvSpPr>
        <p:spPr>
          <a:xfrm>
            <a:off x="2743200" y="3739896"/>
            <a:ext cx="82296" cy="82296"/>
          </a:xfrm>
          <a:prstGeom prst="ellipse">
            <a:avLst/>
          </a:prstGeom>
          <a:solidFill>
            <a:srgbClr val="4FD1C5"/>
          </a:solidFill>
          <a:ln/>
        </p:spPr>
      </p:sp>
      <p:sp>
        <p:nvSpPr>
          <p:cNvPr id="40" name="Text 38"/>
          <p:cNvSpPr/>
          <p:nvPr/>
        </p:nvSpPr>
        <p:spPr>
          <a:xfrm>
            <a:off x="3017520" y="3584448"/>
            <a:ext cx="6400800" cy="411480"/>
          </a:xfrm>
          <a:prstGeom prst="rect">
            <a:avLst/>
          </a:prstGeom>
          <a:noFill/>
          <a:ln/>
        </p:spPr>
        <p:txBody>
          <a:bodyPr wrap="square" lIns="0" tIns="0" rIns="0" bIns="0" rtlCol="0" anchor="ctr"/>
          <a:lstStyle/>
          <a:p>
            <a:pPr indent="0" marL="0">
              <a:buNone/>
            </a:pPr>
            <a:r>
              <a:rPr lang="en-US" sz="1300" dirty="0">
                <a:solidFill>
                  <a:srgbClr val="AAB2D4"/>
                </a:solidFill>
                <a:latin typeface="Calibri" pitchFamily="34" charset="0"/>
                <a:ea typeface="Calibri" pitchFamily="34" charset="-122"/>
                <a:cs typeface="Calibri" pitchFamily="34" charset="-120"/>
              </a:rPr>
              <a:t>Ưu tiên kiểm duyệt &amp; an toàn nội dung trước khi mở rộng người dùng thật</a:t>
            </a:r>
            <a:endParaRPr lang="en-US" sz="1300" dirty="0"/>
          </a:p>
        </p:txBody>
      </p:sp>
      <p:sp>
        <p:nvSpPr>
          <p:cNvPr id="41" name="Shape 39"/>
          <p:cNvSpPr/>
          <p:nvPr/>
        </p:nvSpPr>
        <p:spPr>
          <a:xfrm>
            <a:off x="2743200" y="4242816"/>
            <a:ext cx="82296" cy="82296"/>
          </a:xfrm>
          <a:prstGeom prst="ellipse">
            <a:avLst/>
          </a:prstGeom>
          <a:solidFill>
            <a:srgbClr val="4FD1C5"/>
          </a:solidFill>
          <a:ln/>
        </p:spPr>
      </p:sp>
      <p:sp>
        <p:nvSpPr>
          <p:cNvPr id="42" name="Text 40"/>
          <p:cNvSpPr/>
          <p:nvPr/>
        </p:nvSpPr>
        <p:spPr>
          <a:xfrm>
            <a:off x="3017520" y="4087368"/>
            <a:ext cx="6400800" cy="411480"/>
          </a:xfrm>
          <a:prstGeom prst="rect">
            <a:avLst/>
          </a:prstGeom>
          <a:noFill/>
          <a:ln/>
        </p:spPr>
        <p:txBody>
          <a:bodyPr wrap="square" lIns="0" tIns="0" rIns="0" bIns="0" rtlCol="0" anchor="ctr"/>
          <a:lstStyle/>
          <a:p>
            <a:pPr indent="0" marL="0">
              <a:buNone/>
            </a:pPr>
            <a:r>
              <a:rPr lang="en-US" sz="1300" dirty="0">
                <a:solidFill>
                  <a:srgbClr val="AAB2D4"/>
                </a:solidFill>
                <a:latin typeface="Calibri" pitchFamily="34" charset="0"/>
                <a:ea typeface="Calibri" pitchFamily="34" charset="-122"/>
                <a:cs typeface="Calibri" pitchFamily="34" charset="-120"/>
              </a:rPr>
              <a:t>Kích hoạt xác thực &amp; email thật (khung kỹ thuật đã sẵn sàng)</a:t>
            </a:r>
            <a:endParaRPr lang="en-US" sz="1300" dirty="0"/>
          </a:p>
        </p:txBody>
      </p:sp>
      <p:sp>
        <p:nvSpPr>
          <p:cNvPr id="43" name="Shape 41"/>
          <p:cNvSpPr/>
          <p:nvPr/>
        </p:nvSpPr>
        <p:spPr>
          <a:xfrm>
            <a:off x="2743200" y="4745736"/>
            <a:ext cx="82296" cy="82296"/>
          </a:xfrm>
          <a:prstGeom prst="ellipse">
            <a:avLst/>
          </a:prstGeom>
          <a:solidFill>
            <a:srgbClr val="4FD1C5"/>
          </a:solidFill>
          <a:ln/>
        </p:spPr>
      </p:sp>
      <p:sp>
        <p:nvSpPr>
          <p:cNvPr id="44" name="Text 42"/>
          <p:cNvSpPr/>
          <p:nvPr/>
        </p:nvSpPr>
        <p:spPr>
          <a:xfrm>
            <a:off x="3017520" y="4590288"/>
            <a:ext cx="6400800" cy="411480"/>
          </a:xfrm>
          <a:prstGeom prst="rect">
            <a:avLst/>
          </a:prstGeom>
          <a:noFill/>
          <a:ln/>
        </p:spPr>
        <p:txBody>
          <a:bodyPr wrap="square" lIns="0" tIns="0" rIns="0" bIns="0" rtlCol="0" anchor="ctr"/>
          <a:lstStyle/>
          <a:p>
            <a:pPr indent="0" marL="0">
              <a:buNone/>
            </a:pPr>
            <a:r>
              <a:rPr lang="en-US" sz="1300" dirty="0">
                <a:solidFill>
                  <a:srgbClr val="AAB2D4"/>
                </a:solidFill>
                <a:latin typeface="Calibri" pitchFamily="34" charset="0"/>
                <a:ea typeface="Calibri" pitchFamily="34" charset="-122"/>
                <a:cs typeface="Calibri" pitchFamily="34" charset="-120"/>
              </a:rPr>
              <a:t>Mời chuyên gia tâm lý cùng rà soát toàn bộ nội dung nhạy cảm</a:t>
            </a:r>
            <a:endParaRPr lang="en-US" sz="1300" dirty="0"/>
          </a:p>
        </p:txBody>
      </p:sp>
      <p:sp>
        <p:nvSpPr>
          <p:cNvPr id="45" name="Text 43"/>
          <p:cNvSpPr/>
          <p:nvPr/>
        </p:nvSpPr>
        <p:spPr>
          <a:xfrm>
            <a:off x="0" y="6080760"/>
            <a:ext cx="12191695" cy="365760"/>
          </a:xfrm>
          <a:prstGeom prst="rect">
            <a:avLst/>
          </a:prstGeom>
          <a:noFill/>
          <a:ln/>
        </p:spPr>
        <p:txBody>
          <a:bodyPr wrap="square" lIns="0" tIns="0" rIns="0" bIns="0" rtlCol="0" anchor="ctr"/>
          <a:lstStyle/>
          <a:p>
            <a:pPr algn="ctr" indent="0" marL="0">
              <a:buNone/>
            </a:pPr>
            <a:r>
              <a:rPr lang="en-US" sz="1150" dirty="0">
                <a:solidFill>
                  <a:srgbClr val="747CA3"/>
                </a:solidFill>
                <a:latin typeface="Calibri" pitchFamily="34" charset="0"/>
                <a:ea typeface="Calibri" pitchFamily="34" charset="-122"/>
                <a:cs typeface="Calibri" pitchFamily="34" charset="-120"/>
              </a:rPr>
              <a:t>Cảm ơn team đã đồng hành xây dựng Solace.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Solace — Tổng quan dự án</dc:title>
  <dc:subject>PptxGenJS Presentation</dc:subject>
  <dc:creator>Solace</dc:creator>
  <cp:lastModifiedBy>Solace</cp:lastModifiedBy>
  <cp:revision>1</cp:revision>
  <dcterms:created xsi:type="dcterms:W3CDTF">2026-07-20T09:46:06Z</dcterms:created>
  <dcterms:modified xsi:type="dcterms:W3CDTF">2026-07-20T09:46:06Z</dcterms:modified>
</cp:coreProperties>
</file>